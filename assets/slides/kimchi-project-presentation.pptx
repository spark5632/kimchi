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Noto Sans Thai"/>
              </a:defRPr>
            </a:pPr>
            <a:r>
              <a:rPr sz="1300" b="0" i="0" u="none" strike="noStrike">
                <a:solidFill>
                  <a:srgbClr val="000000"/>
                </a:solidFill>
                <a:latin typeface="Noto Sans Thai"/>
              </a:rPr>
              <a:t>pH ลดลงตามระยะเวลาการหมัก</a:t>
            </a:r>
          </a:p>
        </c:rich>
      </c:tx>
      <c:layout/>
      <c:overlay val="0"/>
    </c:title>
    <c:autoTitleDeleted val="0"/>
    <c:plotArea>
      <c:layout/>
      <c:lineChart>
        <c:varyColors val="0"/>
        <c:ser>
          <c:idx val="0"/>
          <c:order val="0"/>
          <c:tx>
            <c:strRef>
              <c:f>Sheet1!$B$1</c:f>
              <c:strCache>
                <c:ptCount val="1"/>
                <c:pt idx="0">
                  <c:v>pH</c:v>
                </c:pt>
              </c:strCache>
            </c:strRef>
          </c:tx>
          <c:spPr>
            <a:solidFill>
              <a:srgbClr val="C0504D"/>
            </a:solidFill>
            <a:ln w="38100" cap="flat">
              <a:solidFill>
                <a:srgbClr val="C050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504D"/>
              </a:solidFill>
              <a:ln w="9525" cap="flat">
                <a:solidFill>
                  <a:srgbClr val="C0504D"/>
                </a:solidFill>
                <a:prstDash val="solid"/>
                <a:round/>
              </a:ln>
              <a:effectLst/>
            </c:spPr>
          </c:marker>
          <c:cat>
            <c:multiLvlStrRef>
              <c:f>Sheet1!$A$2:$A$9</c:f>
              <c:multiLvlStrCache>
                <c:ptCount val="8"/>
                <c:lvl>
                  <c:pt idx="0">
                    <c:v>0</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6</c:v>
                </c:pt>
                <c:pt idx="1">
                  <c:v>4.93</c:v>
                </c:pt>
                <c:pt idx="2">
                  <c:v>4.5</c:v>
                </c:pt>
                <c:pt idx="3">
                  <c:v>4.32</c:v>
                </c:pt>
                <c:pt idx="4">
                  <c:v>4.25</c:v>
                </c:pt>
                <c:pt idx="5">
                  <c:v>4.22</c:v>
                </c:pt>
                <c:pt idx="6">
                  <c:v>4.21</c:v>
                </c:pt>
                <c:pt idx="7">
                  <c:v>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Noto Sans Thai"/>
              </a:defRPr>
            </a:pPr>
            <a:endParaRPr lang="en-US"/>
          </a:p>
        </c:txPr>
        <c:crossAx val="2094734552"/>
        <c:crosses val="autoZero"/>
        <c:auto val="1"/>
        <c:lblAlgn val="ctr"/>
        <c:noMultiLvlLbl val="1"/>
      </c:catAx>
      <c:valAx>
        <c:axId val="2094734552"/>
        <c:scaling>
          <c:orientation val="minMax"/>
          <c:max val="6.1"/>
          <c:min val="4"/>
        </c:scaling>
        <c:delete val="0"/>
        <c:axPos val="l"/>
        <c:majorGridlines>
          <c:spPr>
            <a:ln w="12700" cap="flat">
              <a:solidFill>
                <a:srgbClr val="DED8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Noto Sans Thai"/>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Noto Sans Thai"/>
              </a:defRPr>
            </a:pPr>
            <a:r>
              <a:rPr sz="1300" b="0" i="0" u="none" strike="noStrike">
                <a:solidFill>
                  <a:srgbClr val="000000"/>
                </a:solidFill>
                <a:latin typeface="Noto Sans Thai"/>
              </a:rPr>
              <a:t>pH ลดลงตามระยะเวลาการหมัก</a:t>
            </a:r>
          </a:p>
        </c:rich>
      </c:tx>
      <c:layout/>
      <c:overlay val="0"/>
    </c:title>
    <c:autoTitleDeleted val="0"/>
    <c:plotArea>
      <c:layout/>
      <c:lineChart>
        <c:varyColors val="0"/>
        <c:ser>
          <c:idx val="0"/>
          <c:order val="0"/>
          <c:tx>
            <c:strRef>
              <c:f>Sheet1!$B$1</c:f>
              <c:strCache>
                <c:ptCount val="1"/>
                <c:pt idx="0">
                  <c:v>pH</c:v>
                </c:pt>
              </c:strCache>
            </c:strRef>
          </c:tx>
          <c:spPr>
            <a:solidFill>
              <a:srgbClr val="C0504D"/>
            </a:solidFill>
            <a:ln w="38100" cap="flat">
              <a:solidFill>
                <a:srgbClr val="C050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504D"/>
              </a:solidFill>
              <a:ln w="9525" cap="flat">
                <a:solidFill>
                  <a:srgbClr val="C0504D"/>
                </a:solidFill>
                <a:prstDash val="solid"/>
                <a:round/>
              </a:ln>
              <a:effectLst/>
            </c:spPr>
          </c:marker>
          <c:cat>
            <c:multiLvlStrRef>
              <c:f>Sheet1!$A$2:$A$9</c:f>
              <c:multiLvlStrCache>
                <c:ptCount val="8"/>
                <c:lvl>
                  <c:pt idx="0">
                    <c:v>0</c:v>
                  </c:pt>
                  <c:pt idx="1">
                    <c:v>2</c:v>
                  </c:pt>
                  <c:pt idx="2">
                    <c:v>4</c:v>
                  </c:pt>
                  <c:pt idx="3">
                    <c:v>6</c:v>
                  </c:pt>
                  <c:pt idx="4">
                    <c:v>8</c:v>
                  </c:pt>
                  <c:pt idx="5">
                    <c:v>10</c:v>
                  </c:pt>
                  <c:pt idx="6">
                    <c:v>12</c:v>
                  </c:pt>
                  <c:pt idx="7">
                    <c:v>14</c:v>
                  </c:pt>
                </c:lvl>
              </c:multiLvlStrCache>
            </c:multiLvlStrRef>
          </c:cat>
          <c:val>
            <c:numRef>
              <c:f>Sheet1!$B$2:$B$9</c:f>
              <c:numCache>
                <c:formatCode>General</c:formatCode>
                <c:ptCount val="8"/>
                <c:pt idx="0">
                  <c:v>5.8</c:v>
                </c:pt>
                <c:pt idx="1">
                  <c:v>5.04</c:v>
                </c:pt>
                <c:pt idx="2">
                  <c:v>4.64</c:v>
                </c:pt>
                <c:pt idx="3">
                  <c:v>4.43</c:v>
                </c:pt>
                <c:pt idx="4">
                  <c:v>4.32</c:v>
                </c:pt>
                <c:pt idx="5">
                  <c:v>4.27</c:v>
                </c:pt>
                <c:pt idx="6">
                  <c:v>4.23</c:v>
                </c:pt>
                <c:pt idx="7">
                  <c:v>4.22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Noto Sans Thai"/>
              </a:defRPr>
            </a:pPr>
            <a:endParaRPr lang="en-US"/>
          </a:p>
        </c:txPr>
        <c:crossAx val="2094734552"/>
        <c:crosses val="autoZero"/>
        <c:auto val="1"/>
        <c:lblAlgn val="ctr"/>
        <c:noMultiLvlLbl val="1"/>
      </c:catAx>
      <c:valAx>
        <c:axId val="2094734552"/>
        <c:scaling>
          <c:orientation val="minMax"/>
          <c:max val="6.1"/>
          <c:min val="4"/>
        </c:scaling>
        <c:delete val="0"/>
        <c:axPos val="l"/>
        <c:majorGridlines>
          <c:spPr>
            <a:ln w="12700" cap="flat">
              <a:solidFill>
                <a:srgbClr val="DED8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Noto Sans Thai"/>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94360" y="502920"/>
            <a:ext cx="4114800" cy="228600"/>
          </a:xfrm>
          <a:prstGeom prst="rect">
            <a:avLst/>
          </a:prstGeom>
          <a:noFill/>
          <a:ln/>
        </p:spPr>
        <p:txBody>
          <a:bodyPr wrap="square" lIns="0" tIns="0" rIns="0" bIns="0" rtlCol="0" anchor="ctr"/>
          <a:lstStyle/>
          <a:p>
            <a:pPr indent="0" marL="0">
              <a:buNone/>
            </a:pPr>
            <a:r>
              <a:rPr lang="en-US" sz="1200" b="1" dirty="0">
                <a:solidFill>
                  <a:srgbClr val="B7332F"/>
                </a:solidFill>
                <a:latin typeface="Noto Sans Thai" pitchFamily="34" charset="0"/>
                <a:ea typeface="Noto Sans Thai" pitchFamily="34" charset="-122"/>
                <a:cs typeface="Noto Sans Thai" pitchFamily="34" charset="-120"/>
              </a:rPr>
              <a:t>Kimchi AI Learning Project</a:t>
            </a:r>
            <a:endParaRPr lang="en-US" sz="1200" dirty="0"/>
          </a:p>
        </p:txBody>
      </p:sp>
      <p:sp>
        <p:nvSpPr>
          <p:cNvPr id="5" name="Text 3"/>
          <p:cNvSpPr/>
          <p:nvPr/>
        </p:nvSpPr>
        <p:spPr>
          <a:xfrm>
            <a:off x="594360" y="987552"/>
            <a:ext cx="6858000" cy="1097280"/>
          </a:xfrm>
          <a:prstGeom prst="rect">
            <a:avLst/>
          </a:prstGeom>
          <a:noFill/>
          <a:ln/>
        </p:spPr>
        <p:txBody>
          <a:bodyPr wrap="square" lIns="0" tIns="0" rIns="0" bIns="0" rtlCol="0" anchor="ctr">
            <a:normAutofit/>
          </a:bodyPr>
          <a:lstStyle/>
          <a:p>
            <a:pPr indent="0" marL="0">
              <a:buNone/>
            </a:pPr>
            <a:r>
              <a:rPr lang="en-US" sz="3300" b="1" dirty="0">
                <a:solidFill>
                  <a:srgbClr val="25231F"/>
                </a:solidFill>
                <a:latin typeface="Noto Sans Thai" pitchFamily="34" charset="0"/>
                <a:ea typeface="Noto Sans Thai" pitchFamily="34" charset="-122"/>
                <a:cs typeface="Noto Sans Thai" pitchFamily="34" charset="-120"/>
              </a:rPr>
              <a:t>AI Image Generation</a:t>
            </a:r>
            <a:endParaRPr lang="en-US" sz="3300" dirty="0"/>
          </a:p>
        </p:txBody>
      </p:sp>
      <p:sp>
        <p:nvSpPr>
          <p:cNvPr id="6" name="Text 4"/>
          <p:cNvSpPr/>
          <p:nvPr/>
        </p:nvSpPr>
        <p:spPr>
          <a:xfrm>
            <a:off x="640080" y="2130552"/>
            <a:ext cx="2468880" cy="256032"/>
          </a:xfrm>
          <a:prstGeom prst="rect">
            <a:avLst/>
          </a:prstGeom>
          <a:noFill/>
          <a:ln/>
        </p:spPr>
        <p:txBody>
          <a:bodyPr wrap="square" lIns="0" tIns="0" rIns="0" bIns="0" rtlCol="0" anchor="ct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หัวข้อการเรียนรู้ที่ 1</a:t>
            </a:r>
            <a:endParaRPr lang="en-US" sz="1050" dirty="0"/>
          </a:p>
        </p:txBody>
      </p:sp>
      <p:sp>
        <p:nvSpPr>
          <p:cNvPr id="7" name="Shape 5"/>
          <p:cNvSpPr/>
          <p:nvPr/>
        </p:nvSpPr>
        <p:spPr>
          <a:xfrm>
            <a:off x="621792" y="2514600"/>
            <a:ext cx="2926080" cy="320040"/>
          </a:xfrm>
          <a:prstGeom prst="roundRect">
            <a:avLst>
              <a:gd name="adj" fmla="val 22857"/>
            </a:avLst>
          </a:prstGeom>
          <a:solidFill>
            <a:srgbClr val="426C43"/>
          </a:solidFill>
          <a:ln w="12700">
            <a:solidFill>
              <a:srgbClr val="426C43"/>
            </a:solidFill>
            <a:prstDash val="solid"/>
          </a:ln>
        </p:spPr>
      </p:sp>
      <p:sp>
        <p:nvSpPr>
          <p:cNvPr id="8" name="Text 6"/>
          <p:cNvSpPr/>
          <p:nvPr/>
        </p:nvSpPr>
        <p:spPr>
          <a:xfrm>
            <a:off x="713232" y="2578608"/>
            <a:ext cx="2743200" cy="137160"/>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Thai" pitchFamily="34" charset="0"/>
                <a:ea typeface="Noto Sans Thai" pitchFamily="34" charset="-122"/>
                <a:cs typeface="Noto Sans Thai" pitchFamily="34" charset="-120"/>
              </a:rPr>
              <a:t>สร้างภาพด้วย AI</a:t>
            </a:r>
            <a:endParaRPr lang="en-US" sz="850" dirty="0"/>
          </a:p>
        </p:txBody>
      </p:sp>
      <p:sp>
        <p:nvSpPr>
          <p:cNvPr id="9" name="Text 7"/>
          <p:cNvSpPr/>
          <p:nvPr/>
        </p:nvSpPr>
        <p:spPr>
          <a:xfrm>
            <a:off x="685800" y="3154680"/>
            <a:ext cx="4389120" cy="274320"/>
          </a:xfrm>
          <a:prstGeom prst="rect">
            <a:avLst/>
          </a:prstGeom>
          <a:noFill/>
          <a:ln/>
        </p:spPr>
        <p:txBody>
          <a:bodyPr wrap="square" lIns="0" tIns="0" rIns="0" bIns="0" rtlCol="0" anchor="ctr"/>
          <a:lstStyle/>
          <a:p>
            <a:pPr indent="0" marL="0">
              <a:buNone/>
            </a:pPr>
            <a:r>
              <a:rPr lang="en-US" sz="1500" b="1" dirty="0">
                <a:solidFill>
                  <a:srgbClr val="7F211F"/>
                </a:solidFill>
                <a:latin typeface="Noto Sans Thai" pitchFamily="34" charset="0"/>
                <a:ea typeface="Noto Sans Thai" pitchFamily="34" charset="-122"/>
                <a:cs typeface="Noto Sans Thai" pitchFamily="34" charset="-120"/>
              </a:rPr>
              <a:t>สิ่งที่จะใส่ในสไลด์ 6 หน้า</a:t>
            </a:r>
            <a:endParaRPr lang="en-US" sz="1500" dirty="0"/>
          </a:p>
        </p:txBody>
      </p:sp>
      <p:sp>
        <p:nvSpPr>
          <p:cNvPr id="10" name="Text 8"/>
          <p:cNvSpPr/>
          <p:nvPr/>
        </p:nvSpPr>
        <p:spPr>
          <a:xfrm>
            <a:off x="731520" y="3566160"/>
            <a:ext cx="5486400" cy="2011680"/>
          </a:xfrm>
          <a:prstGeom prst="rect">
            <a:avLst/>
          </a:prstGeom>
          <a:noFill/>
          <a:ln/>
        </p:spPr>
        <p:txBody>
          <a:bodyPr wrap="square" lIns="254" tIns="254" rIns="254" bIns="254" rtlCol="0" anchor="ctr">
            <a:normAutofit/>
          </a:bodyPr>
          <a:lstStyle/>
          <a:p>
            <a:pPr indent="0" marL="0">
              <a:buNone/>
            </a:pPr>
            <a:r>
              <a:rPr lang="en-US" sz="1400" dirty="0">
                <a:solidFill>
                  <a:srgbClr val="25231F"/>
                </a:solidFill>
                <a:latin typeface="Noto Sans Thai" pitchFamily="34" charset="0"/>
                <a:ea typeface="Noto Sans Thai" pitchFamily="34" charset="-122"/>
                <a:cs typeface="Noto Sans Thai" pitchFamily="34" charset="-120"/>
              </a:rPr>
              <a:t>1. บันทึก prompt แรกแบบ Zero-shot</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2. แสดงผลลัพธ์ภาพแรก</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3. ปรับ prompt ให้ละเอียดเป็น Few-shot</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4. แสดง Infographic แบบพร้อมใช้</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5. สรุปความแตกต่างของผลลัพธ์</a:t>
            </a:r>
            <a:endParaRPr lang="en-US" sz="1400" dirty="0"/>
          </a:p>
        </p:txBody>
      </p:sp>
      <p:sp>
        <p:nvSpPr>
          <p:cNvPr id="11" name="Shape 9"/>
          <p:cNvSpPr/>
          <p:nvPr/>
        </p:nvSpPr>
        <p:spPr>
          <a:xfrm>
            <a:off x="7452360" y="1051560"/>
            <a:ext cx="3886200" cy="4526280"/>
          </a:xfrm>
          <a:prstGeom prst="roundRect">
            <a:avLst>
              <a:gd name="adj" fmla="val 2353"/>
            </a:avLst>
          </a:prstGeom>
          <a:solidFill>
            <a:srgbClr val="FFF7EC"/>
          </a:solidFill>
          <a:ln w="12700">
            <a:solidFill>
              <a:srgbClr val="E8DFD1"/>
            </a:solidFill>
            <a:prstDash val="solid"/>
          </a:ln>
          <a:effectLst>
            <a:outerShdw sx="100000" sy="100000" kx="0" ky="0" algn="bl" rotWithShape="0" blurRad="38100" dist="12700" dir="2700000">
              <a:srgbClr val="000000">
                <a:alpha val="12000"/>
              </a:srgbClr>
            </a:outerShdw>
          </a:effectLst>
        </p:spPr>
      </p:sp>
      <p:sp>
        <p:nvSpPr>
          <p:cNvPr id="12" name="Text 10"/>
          <p:cNvSpPr/>
          <p:nvPr/>
        </p:nvSpPr>
        <p:spPr>
          <a:xfrm>
            <a:off x="7818120" y="1325880"/>
            <a:ext cx="3200400" cy="1234440"/>
          </a:xfrm>
          <a:prstGeom prst="rect">
            <a:avLst/>
          </a:prstGeom>
          <a:noFill/>
          <a:ln/>
        </p:spPr>
        <p:txBody>
          <a:bodyPr wrap="square" lIns="0" tIns="0" rIns="0" bIns="0" rtlCol="0" anchor="ctr"/>
          <a:lstStyle/>
          <a:p>
            <a:pPr algn="ctr" indent="0" marL="0">
              <a:buNone/>
            </a:pPr>
            <a:r>
              <a:rPr lang="en-US" sz="7000" b="1" dirty="0">
                <a:solidFill>
                  <a:srgbClr val="B7332F"/>
                </a:solidFill>
                <a:latin typeface="Noto Sans Thai" pitchFamily="34" charset="0"/>
                <a:ea typeface="Noto Sans Thai" pitchFamily="34" charset="-122"/>
                <a:cs typeface="Noto Sans Thai" pitchFamily="34" charset="-120"/>
              </a:rPr>
              <a:t>01</a:t>
            </a:r>
            <a:endParaRPr lang="en-US" sz="7000" dirty="0"/>
          </a:p>
        </p:txBody>
      </p:sp>
      <p:sp>
        <p:nvSpPr>
          <p:cNvPr id="13" name="Text 11"/>
          <p:cNvSpPr/>
          <p:nvPr/>
        </p:nvSpPr>
        <p:spPr>
          <a:xfrm>
            <a:off x="8183880" y="2971800"/>
            <a:ext cx="2468880" cy="1463040"/>
          </a:xfrm>
          <a:prstGeom prst="rect">
            <a:avLst/>
          </a:prstGeom>
          <a:noFill/>
          <a:ln/>
        </p:spPr>
        <p:txBody>
          <a:bodyPr wrap="square" lIns="254" tIns="254" rIns="254" bIns="254" rtlCol="0" anchor="ctr"/>
          <a:lstStyle/>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Prompt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Result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Reflection</a:t>
            </a:r>
            <a:endParaRPr lang="en-US" sz="2200" dirty="0"/>
          </a:p>
        </p:txBody>
      </p:sp>
      <p:sp>
        <p:nvSpPr>
          <p:cNvPr id="14" name="Text 12"/>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5" name="Text 13"/>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AI Image Generation</a:t>
            </a:r>
            <a:endParaRPr lang="en-US" sz="850" dirty="0"/>
          </a:p>
        </p:txBody>
      </p:sp>
      <p:sp>
        <p:nvSpPr>
          <p:cNvPr id="16" name="Text 14"/>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Prompt แรก: AI Image Generation</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คำสั่งแรกยังค่อนข้างกว้าง จึงใช้ดูทิศทางเริ่มต้นของผลงาน</a:t>
            </a:r>
            <a:endParaRPr lang="en-US" sz="980" dirty="0"/>
          </a:p>
        </p:txBody>
      </p:sp>
      <p:sp>
        <p:nvSpPr>
          <p:cNvPr id="7" name="Shape 5"/>
          <p:cNvSpPr/>
          <p:nvPr/>
        </p:nvSpPr>
        <p:spPr>
          <a:xfrm>
            <a:off x="685800" y="1508760"/>
            <a:ext cx="10835640" cy="4526280"/>
          </a:xfrm>
          <a:prstGeom prst="roundRect">
            <a:avLst>
              <a:gd name="adj" fmla="val 1212"/>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508760"/>
            <a:ext cx="10835640" cy="402336"/>
          </a:xfrm>
          <a:prstGeom prst="rect">
            <a:avLst/>
          </a:prstGeom>
          <a:solidFill>
            <a:srgbClr val="F4F1E9"/>
          </a:solidFill>
          <a:ln w="12700">
            <a:solidFill>
              <a:srgbClr val="F4F1E9"/>
            </a:solidFill>
            <a:prstDash val="solid"/>
          </a:ln>
        </p:spPr>
      </p:sp>
      <p:sp>
        <p:nvSpPr>
          <p:cNvPr id="9" name="Text 7"/>
          <p:cNvSpPr/>
          <p:nvPr/>
        </p:nvSpPr>
        <p:spPr>
          <a:xfrm>
            <a:off x="850392" y="163677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60934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64592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prompt</a:t>
            </a:r>
            <a:endParaRPr lang="en-US" sz="680" dirty="0"/>
          </a:p>
        </p:txBody>
      </p:sp>
      <p:sp>
        <p:nvSpPr>
          <p:cNvPr id="12" name="Shape 10"/>
          <p:cNvSpPr/>
          <p:nvPr/>
        </p:nvSpPr>
        <p:spPr>
          <a:xfrm>
            <a:off x="960120" y="1993392"/>
            <a:ext cx="10287000" cy="3063240"/>
          </a:xfrm>
          <a:prstGeom prst="roundRect">
            <a:avLst>
              <a:gd name="adj" fmla="val 1791"/>
            </a:avLst>
          </a:prstGeom>
          <a:solidFill>
            <a:srgbClr val="FFF9F1"/>
          </a:solidFill>
          <a:ln w="12700">
            <a:solidFill>
              <a:srgbClr val="E7D8C5"/>
            </a:solidFill>
            <a:prstDash val="solid"/>
          </a:ln>
        </p:spPr>
      </p:sp>
      <p:sp>
        <p:nvSpPr>
          <p:cNvPr id="13" name="Text 11"/>
          <p:cNvSpPr/>
          <p:nvPr/>
        </p:nvSpPr>
        <p:spPr>
          <a:xfrm>
            <a:off x="1170432" y="2176272"/>
            <a:ext cx="9875520" cy="2606040"/>
          </a:xfrm>
          <a:prstGeom prst="rect">
            <a:avLst/>
          </a:prstGeom>
          <a:noFill/>
          <a:ln/>
        </p:spPr>
        <p:txBody>
          <a:bodyPr wrap="square" lIns="508" tIns="508" rIns="508" bIns="508" rtlCol="0" anchor="t">
            <a:normAutofit/>
          </a:bodyPr>
          <a:lstStyle/>
          <a:p>
            <a:pPr indent="0" marL="0">
              <a:buNone/>
            </a:pPr>
            <a:r>
              <a:rPr lang="en-US" sz="1597" dirty="0">
                <a:solidFill>
                  <a:srgbClr val="25231F"/>
                </a:solidFill>
                <a:latin typeface="Noto Sans Thai" pitchFamily="34" charset="0"/>
                <a:ea typeface="Noto Sans Thai" pitchFamily="34" charset="-122"/>
                <a:cs typeface="Noto Sans Thai" pitchFamily="34" charset="-120"/>
              </a:rPr>
              <a:t>สร้างภาพเกี่ยวกับการทำกิมจิผักกาดขาวแบบเกาหลี แสดงวัตถุดิบและขั้นตอนการทำกิมจิ ให้ภาพดูสวยงามและสมจริง</a:t>
            </a:r>
            <a:endParaRPr lang="en-US" sz="1597" dirty="0"/>
          </a:p>
        </p:txBody>
      </p:sp>
      <p:sp>
        <p:nvSpPr>
          <p:cNvPr id="14" name="Text 12"/>
          <p:cNvSpPr/>
          <p:nvPr/>
        </p:nvSpPr>
        <p:spPr>
          <a:xfrm>
            <a:off x="960120" y="5248656"/>
            <a:ext cx="10241280" cy="301752"/>
          </a:xfrm>
          <a:prstGeom prst="rect">
            <a:avLst/>
          </a:prstGeom>
          <a:noFill/>
          <a:ln/>
        </p:spPr>
        <p:txBody>
          <a:bodyPr wrap="square" lIns="0" tIns="0" rIns="0" bIns="0" rtlCol="0" anchor="ctr">
            <a:normAutofit/>
          </a:bodyP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แคปจอส่วนนี้แทนหน้าจอการใส่ prompt แรก</a:t>
            </a:r>
            <a:endParaRPr lang="en-US" sz="1050" dirty="0"/>
          </a:p>
        </p:txBody>
      </p:sp>
      <p:sp>
        <p:nvSpPr>
          <p:cNvPr id="15" name="Text 13"/>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6" name="Text 14"/>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AI Image Generation</a:t>
            </a:r>
            <a:endParaRPr lang="en-US" sz="850" dirty="0"/>
          </a:p>
        </p:txBody>
      </p:sp>
      <p:sp>
        <p:nvSpPr>
          <p:cNvPr id="17" name="Text 15"/>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แรก: AI Image Generation</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ผลลัพธ์เริ่มต้นยังพอใช้งานได้ แต่ยังมีจุดที่ต้องปรับให้ตรงโจทย์</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result / screenshot</a:t>
            </a:r>
            <a:endParaRPr lang="en-US" sz="680" dirty="0"/>
          </a:p>
        </p:txBody>
      </p:sp>
      <p:pic>
        <p:nvPicPr>
          <p:cNvPr id="12" name="Image 0" descr="/mnt/data/a_detailed_infographic_style_photo_collage_on_a_ru.png">    </p:cNvPr>
          <p:cNvPicPr>
            <a:picLocks noChangeAspect="1"/>
          </p:cNvPicPr>
          <p:nvPr/>
        </p:nvPicPr>
        <p:blipFill>
          <a:blip r:embed="rId1"/>
          <a:srcRect l="0" r="0" t="30959" b="30959"/>
          <a:stretch/>
        </p:blipFill>
        <p:spPr>
          <a:xfrm>
            <a:off x="914400" y="1874520"/>
            <a:ext cx="10378440" cy="3611880"/>
          </a:xfrm>
          <a:prstGeom prst="rect">
            <a:avLst/>
          </a:prstGeom>
        </p:spPr>
      </p:pic>
      <p:sp>
        <p:nvSpPr>
          <p:cNvPr id="13" name="Text 10"/>
          <p:cNvSpPr/>
          <p:nvPr/>
        </p:nvSpPr>
        <p:spPr>
          <a:xfrm>
            <a:off x="914400" y="5559552"/>
            <a:ext cx="10378440" cy="292608"/>
          </a:xfrm>
          <a:prstGeom prst="rect">
            <a:avLst/>
          </a:prstGeom>
          <a:noFill/>
          <a:ln/>
        </p:spPr>
        <p:txBody>
          <a:bodyPr wrap="square" lIns="0" tIns="0" rIns="0" bIns="0" rtlCol="0" anchor="ctr">
            <a:normAutofit/>
          </a:bodyPr>
          <a:lstStyle/>
          <a:p>
            <a:pPr algn="ctr" indent="0" marL="0">
              <a:buNone/>
            </a:pPr>
            <a:r>
              <a:rPr lang="en-US" sz="1050" dirty="0">
                <a:solidFill>
                  <a:srgbClr val="716B61"/>
                </a:solidFill>
                <a:latin typeface="Noto Sans Thai" pitchFamily="34" charset="0"/>
                <a:ea typeface="Noto Sans Thai" pitchFamily="34" charset="-122"/>
                <a:cs typeface="Noto Sans Thai" pitchFamily="34" charset="-120"/>
              </a:rPr>
              <a:t>ภาพแรกมีข้อมูลเยอะและสวยงาม แต่ยังไม่ล็อกจำนวน 5 ขั้นตอนและอัตราส่วน 16:9 ชัดเจน</a:t>
            </a:r>
            <a:endParaRPr lang="en-US" sz="1050" dirty="0"/>
          </a:p>
        </p:txBody>
      </p:sp>
      <p:sp>
        <p:nvSpPr>
          <p:cNvPr id="14" name="Text 11"/>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5" name="Text 12"/>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AI Image Generation</a:t>
            </a:r>
            <a:endParaRPr lang="en-US" sz="850" dirty="0"/>
          </a:p>
        </p:txBody>
      </p:sp>
      <p:sp>
        <p:nvSpPr>
          <p:cNvPr id="16" name="Text 13"/>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FEEDBACK + FEW-SHOT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การปรับรายละเอียด: AI Image Generation</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เพิ่มเงื่อนไขให้ชัดเจน เพื่อให้ AI สร้างผลลัพธ์ตรงงานมากขึ้น</a:t>
            </a:r>
            <a:endParaRPr lang="en-US" sz="980" dirty="0"/>
          </a:p>
        </p:txBody>
      </p:sp>
      <p:sp>
        <p:nvSpPr>
          <p:cNvPr id="7" name="Shape 5"/>
          <p:cNvSpPr/>
          <p:nvPr/>
        </p:nvSpPr>
        <p:spPr>
          <a:xfrm>
            <a:off x="777240" y="1783080"/>
            <a:ext cx="3246120" cy="3749040"/>
          </a:xfrm>
          <a:prstGeom prst="roundRect">
            <a:avLst>
              <a:gd name="adj" fmla="val 2254"/>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78408" y="1947672"/>
            <a:ext cx="284378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สิ่งที่ปรับเพิ่ม</a:t>
            </a:r>
            <a:endParaRPr lang="en-US" sz="1300" dirty="0"/>
          </a:p>
        </p:txBody>
      </p:sp>
      <p:sp>
        <p:nvSpPr>
          <p:cNvPr id="9" name="Text 7"/>
          <p:cNvSpPr/>
          <p:nvPr/>
        </p:nvSpPr>
        <p:spPr>
          <a:xfrm>
            <a:off x="978408" y="2286000"/>
            <a:ext cx="2843784" cy="309067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ระบุ 5 ขั้นตอน</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กำหนดซ้ายไปขวา</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กำหนดสีแดง-ขาว-เขียว</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 16:9</a:t>
            </a:r>
            <a:endParaRPr lang="en-US" sz="1080" dirty="0"/>
          </a:p>
        </p:txBody>
      </p:sp>
      <p:sp>
        <p:nvSpPr>
          <p:cNvPr id="10" name="Shape 8"/>
          <p:cNvSpPr/>
          <p:nvPr/>
        </p:nvSpPr>
        <p:spPr>
          <a:xfrm>
            <a:off x="4251960" y="1783080"/>
            <a:ext cx="7086600" cy="3749040"/>
          </a:xfrm>
          <a:prstGeom prst="roundRect">
            <a:avLst>
              <a:gd name="adj" fmla="val 1463"/>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11" name="Shape 9"/>
          <p:cNvSpPr/>
          <p:nvPr/>
        </p:nvSpPr>
        <p:spPr>
          <a:xfrm>
            <a:off x="4251960" y="1783080"/>
            <a:ext cx="7086600" cy="402336"/>
          </a:xfrm>
          <a:prstGeom prst="rect">
            <a:avLst/>
          </a:prstGeom>
          <a:solidFill>
            <a:srgbClr val="F4F1E9"/>
          </a:solidFill>
          <a:ln w="12700">
            <a:solidFill>
              <a:srgbClr val="F4F1E9"/>
            </a:solidFill>
            <a:prstDash val="solid"/>
          </a:ln>
        </p:spPr>
      </p:sp>
      <p:sp>
        <p:nvSpPr>
          <p:cNvPr id="12" name="Text 10"/>
          <p:cNvSpPr/>
          <p:nvPr/>
        </p:nvSpPr>
        <p:spPr>
          <a:xfrm>
            <a:off x="4416552" y="191109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3" name="Shape 11"/>
          <p:cNvSpPr/>
          <p:nvPr/>
        </p:nvSpPr>
        <p:spPr>
          <a:xfrm>
            <a:off x="5212080" y="1883664"/>
            <a:ext cx="5852160" cy="201168"/>
          </a:xfrm>
          <a:prstGeom prst="roundRect">
            <a:avLst>
              <a:gd name="adj" fmla="val 22727"/>
            </a:avLst>
          </a:prstGeom>
          <a:solidFill>
            <a:srgbClr val="FFFFFF"/>
          </a:solidFill>
          <a:ln w="12700">
            <a:solidFill>
              <a:srgbClr val="E5E0D5"/>
            </a:solidFill>
            <a:prstDash val="solid"/>
          </a:ln>
        </p:spPr>
      </p:sp>
      <p:sp>
        <p:nvSpPr>
          <p:cNvPr id="14" name="Text 12"/>
          <p:cNvSpPr/>
          <p:nvPr/>
        </p:nvSpPr>
        <p:spPr>
          <a:xfrm>
            <a:off x="5330952" y="1920240"/>
            <a:ext cx="562356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refined prompt</a:t>
            </a:r>
            <a:endParaRPr lang="en-US" sz="680" dirty="0"/>
          </a:p>
        </p:txBody>
      </p:sp>
      <p:sp>
        <p:nvSpPr>
          <p:cNvPr id="15" name="Shape 13"/>
          <p:cNvSpPr/>
          <p:nvPr/>
        </p:nvSpPr>
        <p:spPr>
          <a:xfrm>
            <a:off x="4480560" y="2267712"/>
            <a:ext cx="6629400" cy="2606040"/>
          </a:xfrm>
          <a:prstGeom prst="roundRect">
            <a:avLst>
              <a:gd name="adj" fmla="val 2105"/>
            </a:avLst>
          </a:prstGeom>
          <a:solidFill>
            <a:srgbClr val="FFFDF7"/>
          </a:solidFill>
          <a:ln w="12700">
            <a:solidFill>
              <a:srgbClr val="E6DBC9"/>
            </a:solidFill>
            <a:prstDash val="solid"/>
          </a:ln>
        </p:spPr>
      </p:sp>
      <p:sp>
        <p:nvSpPr>
          <p:cNvPr id="16" name="Text 14"/>
          <p:cNvSpPr/>
          <p:nvPr/>
        </p:nvSpPr>
        <p:spPr>
          <a:xfrm>
            <a:off x="4663440" y="2423160"/>
            <a:ext cx="6263640" cy="2240280"/>
          </a:xfrm>
          <a:prstGeom prst="rect">
            <a:avLst/>
          </a:prstGeom>
          <a:noFill/>
          <a:ln/>
        </p:spPr>
        <p:txBody>
          <a:bodyPr wrap="square" lIns="254" tIns="254" rIns="254" bIns="254" rtlCol="0" anchor="t">
            <a:normAutofit/>
          </a:bodyPr>
          <a:lstStyle/>
          <a:p>
            <a:pPr indent="0" marL="0">
              <a:buNone/>
            </a:pPr>
            <a:r>
              <a:rPr lang="en-US" sz="1246" dirty="0">
                <a:solidFill>
                  <a:srgbClr val="25231F"/>
                </a:solidFill>
                <a:latin typeface="Noto Sans Thai" pitchFamily="34" charset="0"/>
                <a:ea typeface="Noto Sans Thai" pitchFamily="34" charset="-122"/>
                <a:cs typeface="Noto Sans Thai" pitchFamily="34" charset="-120"/>
              </a:rPr>
              <a:t>สร้างภาพ Infographic อธิบายขั้นตอนการทำกิมจิผักกาดขาวแบบเกาหลี จำนวน 5 ขั้นตอน ได้แก่ เตรียมผักกาดขาว หมักเกลือ เตรียมซอสกิมจิ คลุกส่วนผสม และบรรจุเพื่อหมัก จัดองค์ประกอบจากซ้ายไปขวา ใช้ภาพอาหารแบบ realistic ผสม infographic สไตล์เกาหลี โทนสีแดง ขาว และเขียว ฉากหลังสะอาด เหมาะสำหรับงานนำเสนอของนักเรียน อัตราส่วน 16:9</a:t>
            </a:r>
            <a:endParaRPr lang="en-US" sz="1246" dirty="0"/>
          </a:p>
        </p:txBody>
      </p:sp>
      <p:sp>
        <p:nvSpPr>
          <p:cNvPr id="17" name="Text 15"/>
          <p:cNvSpPr/>
          <p:nvPr/>
        </p:nvSpPr>
        <p:spPr>
          <a:xfrm>
            <a:off x="4480560" y="5065776"/>
            <a:ext cx="6629400" cy="201168"/>
          </a:xfrm>
          <a:prstGeom prst="rect">
            <a:avLst/>
          </a:prstGeom>
          <a:noFill/>
          <a:ln/>
        </p:spPr>
        <p:txBody>
          <a:bodyPr wrap="square" lIns="0" tIns="0" rIns="0" bIns="0" rtlCol="0" anchor="ctr"/>
          <a:lstStyle/>
          <a:p>
            <a:pPr algn="ctr" indent="0" marL="0">
              <a:buNone/>
            </a:pPr>
            <a:r>
              <a:rPr lang="en-US" sz="930" dirty="0">
                <a:solidFill>
                  <a:srgbClr val="716B61"/>
                </a:solidFill>
                <a:latin typeface="Noto Sans Thai" pitchFamily="34" charset="0"/>
                <a:ea typeface="Noto Sans Thai" pitchFamily="34" charset="-122"/>
                <a:cs typeface="Noto Sans Thai" pitchFamily="34" charset="-120"/>
              </a:rPr>
              <a:t>หลักการ: เพิ่มบริบท + รูปแบบผลลัพธ์ + เงื่อนไขเฉพาะ + กลุ่มเป้าหมาย</a:t>
            </a:r>
            <a:endParaRPr lang="en-US" sz="930" dirty="0"/>
          </a:p>
        </p:txBody>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AI Image Generation</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FEW-SHOT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ใหม่: AI Image Generation</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ผลลัพธ์หลังปรับ prompt มีโครงสร้างตรงโจทย์และนำไปใช้ในงานได้ง่ายขึ้น</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result / screenshot</a:t>
            </a:r>
            <a:endParaRPr lang="en-US" sz="680" dirty="0"/>
          </a:p>
        </p:txBody>
      </p:sp>
      <p:pic>
        <p:nvPicPr>
          <p:cNvPr id="12" name="Image 0" descr="/mnt/data/a_wide_clean_infographic_poster._overall_scene_a.png">    </p:cNvPr>
          <p:cNvPicPr>
            <a:picLocks noChangeAspect="1"/>
          </p:cNvPicPr>
          <p:nvPr/>
        </p:nvPicPr>
        <p:blipFill>
          <a:blip r:embed="rId1"/>
          <a:stretch>
            <a:fillRect/>
          </a:stretch>
        </p:blipFill>
        <p:spPr>
          <a:xfrm>
            <a:off x="2891352" y="1874520"/>
            <a:ext cx="6424535" cy="3611880"/>
          </a:xfrm>
          <a:prstGeom prst="rect">
            <a:avLst/>
          </a:prstGeom>
        </p:spPr>
      </p:pic>
      <p:sp>
        <p:nvSpPr>
          <p:cNvPr id="13" name="Text 10"/>
          <p:cNvSpPr/>
          <p:nvPr/>
        </p:nvSpPr>
        <p:spPr>
          <a:xfrm>
            <a:off x="914400" y="5559552"/>
            <a:ext cx="10378440" cy="292608"/>
          </a:xfrm>
          <a:prstGeom prst="rect">
            <a:avLst/>
          </a:prstGeom>
          <a:noFill/>
          <a:ln/>
        </p:spPr>
        <p:txBody>
          <a:bodyPr wrap="square" lIns="0" tIns="0" rIns="0" bIns="0" rtlCol="0" anchor="ctr">
            <a:normAutofit/>
          </a:bodyPr>
          <a:lstStyle/>
          <a:p>
            <a:pPr algn="ctr" indent="0" marL="0">
              <a:buNone/>
            </a:pPr>
            <a:r>
              <a:rPr lang="en-US" sz="1050" dirty="0">
                <a:solidFill>
                  <a:srgbClr val="716B61"/>
                </a:solidFill>
                <a:latin typeface="Noto Sans Thai" pitchFamily="34" charset="0"/>
                <a:ea typeface="Noto Sans Thai" pitchFamily="34" charset="-122"/>
                <a:cs typeface="Noto Sans Thai" pitchFamily="34" charset="-120"/>
              </a:rPr>
              <a:t>Infographic ใหม่เรียงขั้นตอน 1-5 จากซ้ายไปขวา โทนสีเหมาะกับงานนำเสนอ</a:t>
            </a:r>
            <a:endParaRPr lang="en-US" sz="1050" dirty="0"/>
          </a:p>
        </p:txBody>
      </p:sp>
      <p:sp>
        <p:nvSpPr>
          <p:cNvPr id="14" name="Text 11"/>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5" name="Text 12"/>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AI Image Generation</a:t>
            </a:r>
            <a:endParaRPr lang="en-US" sz="850" dirty="0"/>
          </a:p>
        </p:txBody>
      </p:sp>
      <p:sp>
        <p:nvSpPr>
          <p:cNvPr id="16" name="Text 13"/>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REFLECTION</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สิ่งที่ได้เรียนรู้จาก Zero-shot → Few-shot</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AI Image Generation</a:t>
            </a:r>
            <a:endParaRPr lang="en-US" sz="980" dirty="0"/>
          </a:p>
        </p:txBody>
      </p:sp>
      <p:sp>
        <p:nvSpPr>
          <p:cNvPr id="7" name="Shape 5"/>
          <p:cNvSpPr/>
          <p:nvPr/>
        </p:nvSpPr>
        <p:spPr>
          <a:xfrm>
            <a:off x="73152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32688" y="2084832"/>
            <a:ext cx="3118104" cy="256032"/>
          </a:xfrm>
          <a:prstGeom prst="rect">
            <a:avLst/>
          </a:prstGeom>
          <a:noFill/>
          <a:ln/>
        </p:spPr>
        <p:txBody>
          <a:bodyPr wrap="square" lIns="0" tIns="0" rIns="0" bIns="0" rtlCol="0" anchor="ctr"/>
          <a:lstStyle/>
          <a:p>
            <a:pPr indent="0" marL="0">
              <a:buNone/>
            </a:pPr>
            <a:r>
              <a:rPr lang="en-US" sz="1300" b="1" dirty="0">
                <a:solidFill>
                  <a:srgbClr val="B7332F"/>
                </a:solidFill>
                <a:latin typeface="Noto Sans Thai" pitchFamily="34" charset="0"/>
                <a:ea typeface="Noto Sans Thai" pitchFamily="34" charset="-122"/>
                <a:cs typeface="Noto Sans Thai" pitchFamily="34" charset="-120"/>
              </a:rPr>
              <a:t>ผลลัพธ์จาก Zero-shot</a:t>
            </a:r>
            <a:endParaRPr lang="en-US" sz="1300" dirty="0"/>
          </a:p>
        </p:txBody>
      </p:sp>
      <p:sp>
        <p:nvSpPr>
          <p:cNvPr id="9" name="Text 7"/>
          <p:cNvSpPr/>
          <p:nvPr/>
        </p:nvSpPr>
        <p:spPr>
          <a:xfrm>
            <a:off x="93268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ภาพสวยแต่รายละเอียดไม่ครบตามโจทย์ และยังควบคุมรูปแบบได้ไม่แน่นอน</a:t>
            </a:r>
            <a:endParaRPr lang="en-US" sz="1080" dirty="0"/>
          </a:p>
        </p:txBody>
      </p:sp>
      <p:sp>
        <p:nvSpPr>
          <p:cNvPr id="10" name="Shape 8"/>
          <p:cNvSpPr/>
          <p:nvPr/>
        </p:nvSpPr>
        <p:spPr>
          <a:xfrm>
            <a:off x="434340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1" name="Text 9"/>
          <p:cNvSpPr/>
          <p:nvPr/>
        </p:nvSpPr>
        <p:spPr>
          <a:xfrm>
            <a:off x="4544568" y="2084832"/>
            <a:ext cx="311810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ผลลัพธ์จาก Few-shot</a:t>
            </a:r>
            <a:endParaRPr lang="en-US" sz="1300" dirty="0"/>
          </a:p>
        </p:txBody>
      </p:sp>
      <p:sp>
        <p:nvSpPr>
          <p:cNvPr id="12" name="Text 10"/>
          <p:cNvSpPr/>
          <p:nvPr/>
        </p:nvSpPr>
        <p:spPr>
          <a:xfrm>
            <a:off x="454456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ระบุขั้นตอน สี สไตล์ กลุ่มเป้าหมาย และอัตราส่วน ทำให้ได้ภาพพร้อมใช้</a:t>
            </a:r>
            <a:endParaRPr lang="en-US" sz="1080" dirty="0"/>
          </a:p>
        </p:txBody>
      </p:sp>
      <p:sp>
        <p:nvSpPr>
          <p:cNvPr id="13" name="Shape 11"/>
          <p:cNvSpPr/>
          <p:nvPr/>
        </p:nvSpPr>
        <p:spPr>
          <a:xfrm>
            <a:off x="795528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4" name="Text 12"/>
          <p:cNvSpPr/>
          <p:nvPr/>
        </p:nvSpPr>
        <p:spPr>
          <a:xfrm>
            <a:off x="8156448" y="2084832"/>
            <a:ext cx="3118104" cy="256032"/>
          </a:xfrm>
          <a:prstGeom prst="rect">
            <a:avLst/>
          </a:prstGeom>
          <a:noFill/>
          <a:ln/>
        </p:spPr>
        <p:txBody>
          <a:bodyPr wrap="square" lIns="0" tIns="0" rIns="0" bIns="0" rtlCol="0" anchor="ctr"/>
          <a:lstStyle/>
          <a:p>
            <a:pPr indent="0" marL="0">
              <a:buNone/>
            </a:pPr>
            <a:r>
              <a:rPr lang="en-US" sz="1300" b="1" dirty="0">
                <a:solidFill>
                  <a:srgbClr val="7F211F"/>
                </a:solidFill>
                <a:latin typeface="Noto Sans Thai" pitchFamily="34" charset="0"/>
                <a:ea typeface="Noto Sans Thai" pitchFamily="34" charset="-122"/>
                <a:cs typeface="Noto Sans Thai" pitchFamily="34" charset="-120"/>
              </a:rPr>
              <a:t>บทเรียนสำคัญ</a:t>
            </a:r>
            <a:endParaRPr lang="en-US" sz="1300" dirty="0"/>
          </a:p>
        </p:txBody>
      </p:sp>
      <p:sp>
        <p:nvSpPr>
          <p:cNvPr id="15" name="Text 13"/>
          <p:cNvSpPr/>
          <p:nvPr/>
        </p:nvSpPr>
        <p:spPr>
          <a:xfrm>
            <a:off x="815644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การเขียน prompt ที่ดีควรบอก “จำนวนขั้นตอน + องค์ประกอบ + สไตล์ + ขนาดภาพ”</a:t>
            </a:r>
            <a:endParaRPr lang="en-US" sz="1080" dirty="0"/>
          </a:p>
        </p:txBody>
      </p:sp>
      <p:sp>
        <p:nvSpPr>
          <p:cNvPr id="16" name="Shape 14"/>
          <p:cNvSpPr/>
          <p:nvPr/>
        </p:nvSpPr>
        <p:spPr>
          <a:xfrm>
            <a:off x="3977640" y="3337560"/>
            <a:ext cx="594360" cy="0"/>
          </a:xfrm>
          <a:prstGeom prst="line">
            <a:avLst/>
          </a:prstGeom>
          <a:noFill/>
          <a:ln w="25400">
            <a:solidFill>
              <a:srgbClr val="B7332F"/>
            </a:solidFill>
            <a:prstDash val="solid"/>
            <a:tailEnd type="triangle"/>
          </a:ln>
        </p:spPr>
      </p:sp>
      <p:sp>
        <p:nvSpPr>
          <p:cNvPr id="17" name="Shape 15"/>
          <p:cNvSpPr/>
          <p:nvPr/>
        </p:nvSpPr>
        <p:spPr>
          <a:xfrm>
            <a:off x="7589520" y="3337560"/>
            <a:ext cx="594360" cy="0"/>
          </a:xfrm>
          <a:prstGeom prst="line">
            <a:avLst/>
          </a:prstGeom>
          <a:noFill/>
          <a:ln w="25400">
            <a:solidFill>
              <a:srgbClr val="426C43"/>
            </a:solidFill>
            <a:prstDash val="solid"/>
            <a:tailEnd type="triangle"/>
          </a:ln>
        </p:spPr>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AI Image Generation</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94360" y="502920"/>
            <a:ext cx="4114800" cy="228600"/>
          </a:xfrm>
          <a:prstGeom prst="rect">
            <a:avLst/>
          </a:prstGeom>
          <a:noFill/>
          <a:ln/>
        </p:spPr>
        <p:txBody>
          <a:bodyPr wrap="square" lIns="0" tIns="0" rIns="0" bIns="0" rtlCol="0" anchor="ctr"/>
          <a:lstStyle/>
          <a:p>
            <a:pPr indent="0" marL="0">
              <a:buNone/>
            </a:pPr>
            <a:r>
              <a:rPr lang="en-US" sz="1200" b="1" dirty="0">
                <a:solidFill>
                  <a:srgbClr val="B7332F"/>
                </a:solidFill>
                <a:latin typeface="Noto Sans Thai" pitchFamily="34" charset="0"/>
                <a:ea typeface="Noto Sans Thai" pitchFamily="34" charset="-122"/>
                <a:cs typeface="Noto Sans Thai" pitchFamily="34" charset="-120"/>
              </a:rPr>
              <a:t>Kimchi AI Learning Project</a:t>
            </a:r>
            <a:endParaRPr lang="en-US" sz="1200" dirty="0"/>
          </a:p>
        </p:txBody>
      </p:sp>
      <p:sp>
        <p:nvSpPr>
          <p:cNvPr id="5" name="Text 3"/>
          <p:cNvSpPr/>
          <p:nvPr/>
        </p:nvSpPr>
        <p:spPr>
          <a:xfrm>
            <a:off x="594360" y="987552"/>
            <a:ext cx="6858000" cy="1097280"/>
          </a:xfrm>
          <a:prstGeom prst="rect">
            <a:avLst/>
          </a:prstGeom>
          <a:noFill/>
          <a:ln/>
        </p:spPr>
        <p:txBody>
          <a:bodyPr wrap="square" lIns="0" tIns="0" rIns="0" bIns="0" rtlCol="0" anchor="ctr">
            <a:normAutofit/>
          </a:bodyPr>
          <a:lstStyle/>
          <a:p>
            <a:pPr indent="0" marL="0">
              <a:buNone/>
            </a:pPr>
            <a:r>
              <a:rPr lang="en-US" sz="3300" b="1" dirty="0">
                <a:solidFill>
                  <a:srgbClr val="25231F"/>
                </a:solidFill>
                <a:latin typeface="Noto Sans Thai" pitchFamily="34" charset="0"/>
                <a:ea typeface="Noto Sans Thai" pitchFamily="34" charset="-122"/>
                <a:cs typeface="Noto Sans Thai" pitchFamily="34" charset="-120"/>
              </a:rPr>
              <a:t>Mathematical Modeling</a:t>
            </a:r>
            <a:endParaRPr lang="en-US" sz="3300" dirty="0"/>
          </a:p>
        </p:txBody>
      </p:sp>
      <p:sp>
        <p:nvSpPr>
          <p:cNvPr id="6" name="Text 4"/>
          <p:cNvSpPr/>
          <p:nvPr/>
        </p:nvSpPr>
        <p:spPr>
          <a:xfrm>
            <a:off x="640080" y="2130552"/>
            <a:ext cx="2468880" cy="256032"/>
          </a:xfrm>
          <a:prstGeom prst="rect">
            <a:avLst/>
          </a:prstGeom>
          <a:noFill/>
          <a:ln/>
        </p:spPr>
        <p:txBody>
          <a:bodyPr wrap="square" lIns="0" tIns="0" rIns="0" bIns="0" rtlCol="0" anchor="ct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หัวข้อการเรียนรู้ที่ 2</a:t>
            </a:r>
            <a:endParaRPr lang="en-US" sz="1050" dirty="0"/>
          </a:p>
        </p:txBody>
      </p:sp>
      <p:sp>
        <p:nvSpPr>
          <p:cNvPr id="7" name="Shape 5"/>
          <p:cNvSpPr/>
          <p:nvPr/>
        </p:nvSpPr>
        <p:spPr>
          <a:xfrm>
            <a:off x="621792" y="2514600"/>
            <a:ext cx="2926080" cy="320040"/>
          </a:xfrm>
          <a:prstGeom prst="roundRect">
            <a:avLst>
              <a:gd name="adj" fmla="val 22857"/>
            </a:avLst>
          </a:prstGeom>
          <a:solidFill>
            <a:srgbClr val="B7332F"/>
          </a:solidFill>
          <a:ln w="12700">
            <a:solidFill>
              <a:srgbClr val="B7332F"/>
            </a:solidFill>
            <a:prstDash val="solid"/>
          </a:ln>
        </p:spPr>
      </p:sp>
      <p:sp>
        <p:nvSpPr>
          <p:cNvPr id="8" name="Text 6"/>
          <p:cNvSpPr/>
          <p:nvPr/>
        </p:nvSpPr>
        <p:spPr>
          <a:xfrm>
            <a:off x="713232" y="2578608"/>
            <a:ext cx="2743200" cy="137160"/>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Thai" pitchFamily="34" charset="0"/>
                <a:ea typeface="Noto Sans Thai" pitchFamily="34" charset="-122"/>
                <a:cs typeface="Noto Sans Thai" pitchFamily="34" charset="-120"/>
              </a:rPr>
              <a:t>สมการและกราฟ pH</a:t>
            </a:r>
            <a:endParaRPr lang="en-US" sz="850" dirty="0"/>
          </a:p>
        </p:txBody>
      </p:sp>
      <p:sp>
        <p:nvSpPr>
          <p:cNvPr id="9" name="Text 7"/>
          <p:cNvSpPr/>
          <p:nvPr/>
        </p:nvSpPr>
        <p:spPr>
          <a:xfrm>
            <a:off x="685800" y="3154680"/>
            <a:ext cx="4389120" cy="274320"/>
          </a:xfrm>
          <a:prstGeom prst="rect">
            <a:avLst/>
          </a:prstGeom>
          <a:noFill/>
          <a:ln/>
        </p:spPr>
        <p:txBody>
          <a:bodyPr wrap="square" lIns="0" tIns="0" rIns="0" bIns="0" rtlCol="0" anchor="ctr"/>
          <a:lstStyle/>
          <a:p>
            <a:pPr indent="0" marL="0">
              <a:buNone/>
            </a:pPr>
            <a:r>
              <a:rPr lang="en-US" sz="1500" b="1" dirty="0">
                <a:solidFill>
                  <a:srgbClr val="7F211F"/>
                </a:solidFill>
                <a:latin typeface="Noto Sans Thai" pitchFamily="34" charset="0"/>
                <a:ea typeface="Noto Sans Thai" pitchFamily="34" charset="-122"/>
                <a:cs typeface="Noto Sans Thai" pitchFamily="34" charset="-120"/>
              </a:rPr>
              <a:t>สิ่งที่จะใส่ในสไลด์ 6 หน้า</a:t>
            </a:r>
            <a:endParaRPr lang="en-US" sz="1500" dirty="0"/>
          </a:p>
        </p:txBody>
      </p:sp>
      <p:sp>
        <p:nvSpPr>
          <p:cNvPr id="10" name="Text 8"/>
          <p:cNvSpPr/>
          <p:nvPr/>
        </p:nvSpPr>
        <p:spPr>
          <a:xfrm>
            <a:off x="731520" y="3566160"/>
            <a:ext cx="5486400" cy="2011680"/>
          </a:xfrm>
          <a:prstGeom prst="rect">
            <a:avLst/>
          </a:prstGeom>
          <a:noFill/>
          <a:ln/>
        </p:spPr>
        <p:txBody>
          <a:bodyPr wrap="square" lIns="254" tIns="254" rIns="254" bIns="254" rtlCol="0" anchor="ctr">
            <a:normAutofit/>
          </a:bodyPr>
          <a:lstStyle/>
          <a:p>
            <a:pPr indent="0" marL="0">
              <a:buNone/>
            </a:pPr>
            <a:r>
              <a:rPr lang="en-US" sz="1400" dirty="0">
                <a:solidFill>
                  <a:srgbClr val="25231F"/>
                </a:solidFill>
                <a:latin typeface="Noto Sans Thai" pitchFamily="34" charset="0"/>
                <a:ea typeface="Noto Sans Thai" pitchFamily="34" charset="-122"/>
                <a:cs typeface="Noto Sans Thai" pitchFamily="34" charset="-120"/>
              </a:rPr>
              <a:t>1. ตั้งสมการสัมพันธ์วันหมักกับค่า pH</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2. แสดงกราฟจากสมการ</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3. ปรับเงื่อนไขช่วงเวลา 0-14 วัน</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4. อธิบายตัวแปรทุกตัว</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5. สรุปว่าเป็นแบบจำลองเพื่อการเรียนรู้</a:t>
            </a:r>
            <a:endParaRPr lang="en-US" sz="1400" dirty="0"/>
          </a:p>
        </p:txBody>
      </p:sp>
      <p:sp>
        <p:nvSpPr>
          <p:cNvPr id="11" name="Shape 9"/>
          <p:cNvSpPr/>
          <p:nvPr/>
        </p:nvSpPr>
        <p:spPr>
          <a:xfrm>
            <a:off x="7452360" y="1051560"/>
            <a:ext cx="3886200" cy="4526280"/>
          </a:xfrm>
          <a:prstGeom prst="roundRect">
            <a:avLst>
              <a:gd name="adj" fmla="val 2353"/>
            </a:avLst>
          </a:prstGeom>
          <a:solidFill>
            <a:srgbClr val="FFF7EC"/>
          </a:solidFill>
          <a:ln w="12700">
            <a:solidFill>
              <a:srgbClr val="E8DFD1"/>
            </a:solidFill>
            <a:prstDash val="solid"/>
          </a:ln>
          <a:effectLst>
            <a:outerShdw sx="100000" sy="100000" kx="0" ky="0" algn="bl" rotWithShape="0" blurRad="38100" dist="12700" dir="2700000">
              <a:srgbClr val="000000">
                <a:alpha val="12000"/>
              </a:srgbClr>
            </a:outerShdw>
          </a:effectLst>
        </p:spPr>
      </p:sp>
      <p:sp>
        <p:nvSpPr>
          <p:cNvPr id="12" name="Text 10"/>
          <p:cNvSpPr/>
          <p:nvPr/>
        </p:nvSpPr>
        <p:spPr>
          <a:xfrm>
            <a:off x="7818120" y="1325880"/>
            <a:ext cx="3200400" cy="1234440"/>
          </a:xfrm>
          <a:prstGeom prst="rect">
            <a:avLst/>
          </a:prstGeom>
          <a:noFill/>
          <a:ln/>
        </p:spPr>
        <p:txBody>
          <a:bodyPr wrap="square" lIns="0" tIns="0" rIns="0" bIns="0" rtlCol="0" anchor="ctr"/>
          <a:lstStyle/>
          <a:p>
            <a:pPr algn="ctr" indent="0" marL="0">
              <a:buNone/>
            </a:pPr>
            <a:r>
              <a:rPr lang="en-US" sz="7000" b="1" dirty="0">
                <a:solidFill>
                  <a:srgbClr val="426C43"/>
                </a:solidFill>
                <a:latin typeface="Noto Sans Thai" pitchFamily="34" charset="0"/>
                <a:ea typeface="Noto Sans Thai" pitchFamily="34" charset="-122"/>
                <a:cs typeface="Noto Sans Thai" pitchFamily="34" charset="-120"/>
              </a:rPr>
              <a:t>02</a:t>
            </a:r>
            <a:endParaRPr lang="en-US" sz="7000" dirty="0"/>
          </a:p>
        </p:txBody>
      </p:sp>
      <p:sp>
        <p:nvSpPr>
          <p:cNvPr id="13" name="Text 11"/>
          <p:cNvSpPr/>
          <p:nvPr/>
        </p:nvSpPr>
        <p:spPr>
          <a:xfrm>
            <a:off x="8183880" y="2971800"/>
            <a:ext cx="2468880" cy="1463040"/>
          </a:xfrm>
          <a:prstGeom prst="rect">
            <a:avLst/>
          </a:prstGeom>
          <a:noFill/>
          <a:ln/>
        </p:spPr>
        <p:txBody>
          <a:bodyPr wrap="square" lIns="254" tIns="254" rIns="254" bIns="254" rtlCol="0" anchor="ctr"/>
          <a:lstStyle/>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Prompt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Result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Reflection</a:t>
            </a:r>
            <a:endParaRPr lang="en-US" sz="2200" dirty="0"/>
          </a:p>
        </p:txBody>
      </p:sp>
      <p:sp>
        <p:nvSpPr>
          <p:cNvPr id="14" name="Text 12"/>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5" name="Text 13"/>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Mathematical Modeling</a:t>
            </a:r>
            <a:endParaRPr lang="en-US" sz="850" dirty="0"/>
          </a:p>
        </p:txBody>
      </p:sp>
      <p:sp>
        <p:nvSpPr>
          <p:cNvPr id="16" name="Text 14"/>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Prompt แรก: Mathematical Modeling</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คำสั่งแรกยังค่อนข้างกว้าง จึงใช้ดูทิศทางเริ่มต้นของผลงาน</a:t>
            </a:r>
            <a:endParaRPr lang="en-US" sz="980" dirty="0"/>
          </a:p>
        </p:txBody>
      </p:sp>
      <p:sp>
        <p:nvSpPr>
          <p:cNvPr id="7" name="Shape 5"/>
          <p:cNvSpPr/>
          <p:nvPr/>
        </p:nvSpPr>
        <p:spPr>
          <a:xfrm>
            <a:off x="685800" y="1508760"/>
            <a:ext cx="10835640" cy="4526280"/>
          </a:xfrm>
          <a:prstGeom prst="roundRect">
            <a:avLst>
              <a:gd name="adj" fmla="val 1212"/>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508760"/>
            <a:ext cx="10835640" cy="402336"/>
          </a:xfrm>
          <a:prstGeom prst="rect">
            <a:avLst/>
          </a:prstGeom>
          <a:solidFill>
            <a:srgbClr val="F4F1E9"/>
          </a:solidFill>
          <a:ln w="12700">
            <a:solidFill>
              <a:srgbClr val="F4F1E9"/>
            </a:solidFill>
            <a:prstDash val="solid"/>
          </a:ln>
        </p:spPr>
      </p:sp>
      <p:sp>
        <p:nvSpPr>
          <p:cNvPr id="9" name="Text 7"/>
          <p:cNvSpPr/>
          <p:nvPr/>
        </p:nvSpPr>
        <p:spPr>
          <a:xfrm>
            <a:off x="850392" y="163677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60934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64592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prompt</a:t>
            </a:r>
            <a:endParaRPr lang="en-US" sz="680" dirty="0"/>
          </a:p>
        </p:txBody>
      </p:sp>
      <p:sp>
        <p:nvSpPr>
          <p:cNvPr id="12" name="Shape 10"/>
          <p:cNvSpPr/>
          <p:nvPr/>
        </p:nvSpPr>
        <p:spPr>
          <a:xfrm>
            <a:off x="960120" y="1993392"/>
            <a:ext cx="10287000" cy="3063240"/>
          </a:xfrm>
          <a:prstGeom prst="roundRect">
            <a:avLst>
              <a:gd name="adj" fmla="val 1791"/>
            </a:avLst>
          </a:prstGeom>
          <a:solidFill>
            <a:srgbClr val="FFF9F1"/>
          </a:solidFill>
          <a:ln w="12700">
            <a:solidFill>
              <a:srgbClr val="E7D8C5"/>
            </a:solidFill>
            <a:prstDash val="solid"/>
          </a:ln>
        </p:spPr>
      </p:sp>
      <p:sp>
        <p:nvSpPr>
          <p:cNvPr id="13" name="Text 11"/>
          <p:cNvSpPr/>
          <p:nvPr/>
        </p:nvSpPr>
        <p:spPr>
          <a:xfrm>
            <a:off x="1170432" y="2176272"/>
            <a:ext cx="9875520" cy="2606040"/>
          </a:xfrm>
          <a:prstGeom prst="rect">
            <a:avLst/>
          </a:prstGeom>
          <a:noFill/>
          <a:ln/>
        </p:spPr>
        <p:txBody>
          <a:bodyPr wrap="square" lIns="508" tIns="508" rIns="508" bIns="508" rtlCol="0" anchor="t">
            <a:normAutofit/>
          </a:bodyPr>
          <a:lstStyle/>
          <a:p>
            <a:pPr indent="0" marL="0">
              <a:buNone/>
            </a:pPr>
            <a:r>
              <a:rPr lang="en-US" sz="1597" dirty="0">
                <a:solidFill>
                  <a:srgbClr val="25231F"/>
                </a:solidFill>
                <a:latin typeface="Noto Sans Thai" pitchFamily="34" charset="0"/>
                <a:ea typeface="Noto Sans Thai" pitchFamily="34" charset="-122"/>
                <a:cs typeface="Noto Sans Thai" pitchFamily="34" charset="-120"/>
              </a:rPr>
              <a:t>ช่วยสร้างสมการทางคณิตศาสตร์เพื่ออธิบายความสัมพันธ์ระหว่างระยะเวลาการหมักกิมจิกับค่าความเป็นกรด และนำไปวาดกราฟใน Desmos</a:t>
            </a:r>
            <a:endParaRPr lang="en-US" sz="1597" dirty="0"/>
          </a:p>
        </p:txBody>
      </p:sp>
      <p:sp>
        <p:nvSpPr>
          <p:cNvPr id="14" name="Text 12"/>
          <p:cNvSpPr/>
          <p:nvPr/>
        </p:nvSpPr>
        <p:spPr>
          <a:xfrm>
            <a:off x="960120" y="5248656"/>
            <a:ext cx="10241280" cy="301752"/>
          </a:xfrm>
          <a:prstGeom prst="rect">
            <a:avLst/>
          </a:prstGeom>
          <a:noFill/>
          <a:ln/>
        </p:spPr>
        <p:txBody>
          <a:bodyPr wrap="square" lIns="0" tIns="0" rIns="0" bIns="0" rtlCol="0" anchor="ctr">
            <a:normAutofit/>
          </a:bodyP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แคปจอส่วนนี้แทนหน้าจอการใส่ prompt แรก</a:t>
            </a:r>
            <a:endParaRPr lang="en-US" sz="1050" dirty="0"/>
          </a:p>
        </p:txBody>
      </p:sp>
      <p:sp>
        <p:nvSpPr>
          <p:cNvPr id="15" name="Text 13"/>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6" name="Text 14"/>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Mathematical Modeling</a:t>
            </a:r>
            <a:endParaRPr lang="en-US" sz="850" dirty="0"/>
          </a:p>
        </p:txBody>
      </p:sp>
      <p:sp>
        <p:nvSpPr>
          <p:cNvPr id="17" name="Text 15"/>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แรก: Mathematical Modeling</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ผลลัพธ์เริ่มต้นยังพอใช้งานได้ แต่ยังมีจุดที่ต้องปรับให้ตรงโจทย์</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desmos.com/calculator</a:t>
            </a:r>
            <a:endParaRPr lang="en-US" sz="680" dirty="0"/>
          </a:p>
        </p:txBody>
      </p:sp>
      <p:sp>
        <p:nvSpPr>
          <p:cNvPr id="12" name="Shape 10"/>
          <p:cNvSpPr/>
          <p:nvPr/>
        </p:nvSpPr>
        <p:spPr>
          <a:xfrm>
            <a:off x="960120" y="1874520"/>
            <a:ext cx="3383280" cy="3611880"/>
          </a:xfrm>
          <a:prstGeom prst="roundRect">
            <a:avLst>
              <a:gd name="adj" fmla="val 1622"/>
            </a:avLst>
          </a:prstGeom>
          <a:solidFill>
            <a:srgbClr val="FFF9F1"/>
          </a:solidFill>
          <a:ln w="12700">
            <a:solidFill>
              <a:srgbClr val="E9DAC5"/>
            </a:solidFill>
            <a:prstDash val="solid"/>
          </a:ln>
        </p:spPr>
      </p:sp>
      <p:sp>
        <p:nvSpPr>
          <p:cNvPr id="13" name="Text 11"/>
          <p:cNvSpPr/>
          <p:nvPr/>
        </p:nvSpPr>
        <p:spPr>
          <a:xfrm>
            <a:off x="1143000" y="2057400"/>
            <a:ext cx="2971800" cy="228600"/>
          </a:xfrm>
          <a:prstGeom prst="rect">
            <a:avLst/>
          </a:prstGeom>
          <a:noFill/>
          <a:ln/>
        </p:spPr>
        <p:txBody>
          <a:bodyPr wrap="square" lIns="0" tIns="0" rIns="0" bIns="0" rtlCol="0" anchor="ctr"/>
          <a:lstStyle/>
          <a:p>
            <a:pPr indent="0" marL="0">
              <a:buNone/>
            </a:pPr>
            <a:r>
              <a:rPr lang="en-US" sz="1200" b="1" dirty="0">
                <a:solidFill>
                  <a:srgbClr val="B7332F"/>
                </a:solidFill>
                <a:latin typeface="Noto Sans Thai" pitchFamily="34" charset="0"/>
                <a:ea typeface="Noto Sans Thai" pitchFamily="34" charset="-122"/>
                <a:cs typeface="Noto Sans Thai" pitchFamily="34" charset="-120"/>
              </a:rPr>
              <a:t>สมการ</a:t>
            </a:r>
            <a:endParaRPr lang="en-US" sz="1200" dirty="0"/>
          </a:p>
        </p:txBody>
      </p:sp>
      <p:sp>
        <p:nvSpPr>
          <p:cNvPr id="14" name="Text 12"/>
          <p:cNvSpPr/>
          <p:nvPr/>
        </p:nvSpPr>
        <p:spPr>
          <a:xfrm>
            <a:off x="1143000" y="2468880"/>
            <a:ext cx="2926080" cy="621792"/>
          </a:xfrm>
          <a:prstGeom prst="rect">
            <a:avLst/>
          </a:prstGeom>
          <a:noFill/>
          <a:ln/>
        </p:spPr>
        <p:txBody>
          <a:bodyPr wrap="square" lIns="254" tIns="254" rIns="254" bIns="254" rtlCol="0" anchor="ctr">
            <a:normAutofit/>
          </a:bodyPr>
          <a:lstStyle/>
          <a:p>
            <a:pPr indent="0" marL="0">
              <a:buNone/>
            </a:pPr>
            <a:r>
              <a:rPr lang="en-US" sz="2000" b="1" dirty="0">
                <a:solidFill>
                  <a:srgbClr val="25231F"/>
                </a:solidFill>
                <a:latin typeface="Noto Sans Thai" pitchFamily="34" charset="0"/>
                <a:ea typeface="Noto Sans Thai" pitchFamily="34" charset="-122"/>
                <a:cs typeface="Noto Sans Thai" pitchFamily="34" charset="-120"/>
              </a:rPr>
              <a:t>y = 4.2 + 1.8e^{-0.45x}</a:t>
            </a:r>
            <a:endParaRPr lang="en-US" sz="2000" dirty="0"/>
          </a:p>
        </p:txBody>
      </p:sp>
      <p:sp>
        <p:nvSpPr>
          <p:cNvPr id="15" name="Text 13"/>
          <p:cNvSpPr/>
          <p:nvPr/>
        </p:nvSpPr>
        <p:spPr>
          <a:xfrm>
            <a:off x="1143000" y="3246120"/>
            <a:ext cx="2926080" cy="1920240"/>
          </a:xfrm>
          <a:prstGeom prst="rect">
            <a:avLst/>
          </a:prstGeom>
          <a:noFill/>
          <a:ln/>
        </p:spPr>
        <p:txBody>
          <a:bodyPr wrap="square" lIns="254" tIns="254" rIns="254" bIns="254" rtlCol="0" anchor="ctr">
            <a:normAutofit/>
          </a:bodyPr>
          <a:lstStyle/>
          <a:p>
            <a:pPr indent="0" marL="0">
              <a:buNone/>
            </a:pPr>
            <a:r>
              <a:rPr lang="en-US" sz="950" dirty="0">
                <a:solidFill>
                  <a:srgbClr val="25231F"/>
                </a:solidFill>
                <a:latin typeface="Noto Sans Thai" pitchFamily="34" charset="0"/>
                <a:ea typeface="Noto Sans Thai" pitchFamily="34" charset="-122"/>
                <a:cs typeface="Noto Sans Thai" pitchFamily="34" charset="-120"/>
              </a:rPr>
              <a:t>ตารางตัวอย่าง</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0 วัน     6.00</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2 วัน     4.93</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4 วัน     4.50</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6 วัน     4.32</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8 วัน     4.25</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10 วัน     4.22</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12 วัน     4.21</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14 วัน     4.20</a:t>
            </a:r>
            <a:endParaRPr lang="en-US" sz="950" dirty="0"/>
          </a:p>
        </p:txBody>
      </p:sp>
      <p:graphicFrame>
        <p:nvGraphicFramePr>
          <p:cNvPr id="16" name="Chart 0" descr=""/>
          <p:cNvGraphicFramePr/>
          <p:nvPr/>
        </p:nvGraphicFramePr>
        <p:xfrm>
          <a:off x="4617720" y="1874520"/>
          <a:ext cx="6355080" cy="361188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914400" y="5559552"/>
            <a:ext cx="10378440" cy="292608"/>
          </a:xfrm>
          <a:prstGeom prst="rect">
            <a:avLst/>
          </a:prstGeom>
          <a:noFill/>
          <a:ln/>
        </p:spPr>
        <p:txBody>
          <a:bodyPr wrap="square" lIns="0" tIns="0" rIns="0" bIns="0" rtlCol="0" anchor="ctr">
            <a:normAutofit/>
          </a:bodyPr>
          <a:lstStyle/>
          <a:p>
            <a:pPr algn="ctr" indent="0" marL="0">
              <a:buNone/>
            </a:pPr>
            <a:r>
              <a:rPr lang="en-US" sz="1050" dirty="0">
                <a:solidFill>
                  <a:srgbClr val="716B61"/>
                </a:solidFill>
                <a:latin typeface="Noto Sans Thai" pitchFamily="34" charset="0"/>
                <a:ea typeface="Noto Sans Thai" pitchFamily="34" charset="-122"/>
                <a:cs typeface="Noto Sans Thai" pitchFamily="34" charset="-120"/>
              </a:rPr>
              <a:t>สมการแรกอธิบายแนวโน้มได้ แต่ยังต้องกำหนดช่วง x และค่าเริ่มต้นให้ชัด</a:t>
            </a:r>
            <a:endParaRPr lang="en-US" sz="1050" dirty="0"/>
          </a:p>
        </p:txBody>
      </p:sp>
      <p:sp>
        <p:nvSpPr>
          <p:cNvPr id="18" name="Text 15"/>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6"/>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Mathematical Modeling</a:t>
            </a:r>
            <a:endParaRPr lang="en-US" sz="850" dirty="0"/>
          </a:p>
        </p:txBody>
      </p:sp>
      <p:sp>
        <p:nvSpPr>
          <p:cNvPr id="20" name="Text 17"/>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FEEDBACK + FEW-SHOT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การปรับรายละเอียด: Mathematical Modeling</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เพิ่มเงื่อนไขให้ชัดเจน เพื่อให้ AI สร้างผลลัพธ์ตรงงานมากขึ้น</a:t>
            </a:r>
            <a:endParaRPr lang="en-US" sz="980" dirty="0"/>
          </a:p>
        </p:txBody>
      </p:sp>
      <p:sp>
        <p:nvSpPr>
          <p:cNvPr id="7" name="Shape 5"/>
          <p:cNvSpPr/>
          <p:nvPr/>
        </p:nvSpPr>
        <p:spPr>
          <a:xfrm>
            <a:off x="777240" y="1783080"/>
            <a:ext cx="3246120" cy="3749040"/>
          </a:xfrm>
          <a:prstGeom prst="roundRect">
            <a:avLst>
              <a:gd name="adj" fmla="val 2254"/>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78408" y="1947672"/>
            <a:ext cx="284378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สิ่งที่ปรับเพิ่ม</a:t>
            </a:r>
            <a:endParaRPr lang="en-US" sz="1300" dirty="0"/>
          </a:p>
        </p:txBody>
      </p:sp>
      <p:sp>
        <p:nvSpPr>
          <p:cNvPr id="9" name="Text 7"/>
          <p:cNvSpPr/>
          <p:nvPr/>
        </p:nvSpPr>
        <p:spPr>
          <a:xfrm>
            <a:off x="978408" y="2286000"/>
            <a:ext cx="2843784" cy="309067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 x = 0-14 วัน</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กำหนดค่าเริ่มต้น 5.8</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กำหนดค่าเข้าใกล้ 4.2</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ให้ใช้ Exponential Decay</a:t>
            </a:r>
            <a:endParaRPr lang="en-US" sz="1080" dirty="0"/>
          </a:p>
        </p:txBody>
      </p:sp>
      <p:sp>
        <p:nvSpPr>
          <p:cNvPr id="10" name="Shape 8"/>
          <p:cNvSpPr/>
          <p:nvPr/>
        </p:nvSpPr>
        <p:spPr>
          <a:xfrm>
            <a:off x="4251960" y="1783080"/>
            <a:ext cx="7086600" cy="3749040"/>
          </a:xfrm>
          <a:prstGeom prst="roundRect">
            <a:avLst>
              <a:gd name="adj" fmla="val 1463"/>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11" name="Shape 9"/>
          <p:cNvSpPr/>
          <p:nvPr/>
        </p:nvSpPr>
        <p:spPr>
          <a:xfrm>
            <a:off x="4251960" y="1783080"/>
            <a:ext cx="7086600" cy="402336"/>
          </a:xfrm>
          <a:prstGeom prst="rect">
            <a:avLst/>
          </a:prstGeom>
          <a:solidFill>
            <a:srgbClr val="F4F1E9"/>
          </a:solidFill>
          <a:ln w="12700">
            <a:solidFill>
              <a:srgbClr val="F4F1E9"/>
            </a:solidFill>
            <a:prstDash val="solid"/>
          </a:ln>
        </p:spPr>
      </p:sp>
      <p:sp>
        <p:nvSpPr>
          <p:cNvPr id="12" name="Text 10"/>
          <p:cNvSpPr/>
          <p:nvPr/>
        </p:nvSpPr>
        <p:spPr>
          <a:xfrm>
            <a:off x="4416552" y="191109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3" name="Shape 11"/>
          <p:cNvSpPr/>
          <p:nvPr/>
        </p:nvSpPr>
        <p:spPr>
          <a:xfrm>
            <a:off x="5212080" y="1883664"/>
            <a:ext cx="5852160" cy="201168"/>
          </a:xfrm>
          <a:prstGeom prst="roundRect">
            <a:avLst>
              <a:gd name="adj" fmla="val 22727"/>
            </a:avLst>
          </a:prstGeom>
          <a:solidFill>
            <a:srgbClr val="FFFFFF"/>
          </a:solidFill>
          <a:ln w="12700">
            <a:solidFill>
              <a:srgbClr val="E5E0D5"/>
            </a:solidFill>
            <a:prstDash val="solid"/>
          </a:ln>
        </p:spPr>
      </p:sp>
      <p:sp>
        <p:nvSpPr>
          <p:cNvPr id="14" name="Text 12"/>
          <p:cNvSpPr/>
          <p:nvPr/>
        </p:nvSpPr>
        <p:spPr>
          <a:xfrm>
            <a:off x="5330952" y="1920240"/>
            <a:ext cx="562356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refined prompt</a:t>
            </a:r>
            <a:endParaRPr lang="en-US" sz="680" dirty="0"/>
          </a:p>
        </p:txBody>
      </p:sp>
      <p:sp>
        <p:nvSpPr>
          <p:cNvPr id="15" name="Shape 13"/>
          <p:cNvSpPr/>
          <p:nvPr/>
        </p:nvSpPr>
        <p:spPr>
          <a:xfrm>
            <a:off x="4480560" y="2267712"/>
            <a:ext cx="6629400" cy="2606040"/>
          </a:xfrm>
          <a:prstGeom prst="roundRect">
            <a:avLst>
              <a:gd name="adj" fmla="val 2105"/>
            </a:avLst>
          </a:prstGeom>
          <a:solidFill>
            <a:srgbClr val="FFFDF7"/>
          </a:solidFill>
          <a:ln w="12700">
            <a:solidFill>
              <a:srgbClr val="E6DBC9"/>
            </a:solidFill>
            <a:prstDash val="solid"/>
          </a:ln>
        </p:spPr>
      </p:sp>
      <p:sp>
        <p:nvSpPr>
          <p:cNvPr id="16" name="Text 14"/>
          <p:cNvSpPr/>
          <p:nvPr/>
        </p:nvSpPr>
        <p:spPr>
          <a:xfrm>
            <a:off x="4663440" y="2423160"/>
            <a:ext cx="6263640" cy="2240280"/>
          </a:xfrm>
          <a:prstGeom prst="rect">
            <a:avLst/>
          </a:prstGeom>
          <a:noFill/>
          <a:ln/>
        </p:spPr>
        <p:txBody>
          <a:bodyPr wrap="square" lIns="254" tIns="254" rIns="254" bIns="254" rtlCol="0" anchor="t">
            <a:normAutofit/>
          </a:bodyPr>
          <a:lstStyle/>
          <a:p>
            <a:pPr indent="0" marL="0">
              <a:buNone/>
            </a:pPr>
            <a:r>
              <a:rPr lang="en-US" sz="1246" dirty="0">
                <a:solidFill>
                  <a:srgbClr val="25231F"/>
                </a:solidFill>
                <a:latin typeface="Noto Sans Thai" pitchFamily="34" charset="0"/>
                <a:ea typeface="Noto Sans Thai" pitchFamily="34" charset="-122"/>
                <a:cs typeface="Noto Sans Thai" pitchFamily="34" charset="-120"/>
              </a:rPr>
              <a:t>คุณเป็นผู้ช่วยด้านคณิตศาสตร์ ช่วยสร้างแบบจำลองเชิงการศึกษาสำหรับอธิบายความสัมพันธ์ระหว่างจำนวนวันที่หมักกิมจิกับค่า pH โดยกำหนด x เป็นจำนวนวันตั้งแต่ 0-14 วัน เริ่มต้นประมาณ pH 5.8 และให้ค่า pH ลดลงอย่างรวดเร็วในช่วงแรกก่อนที่จะค่อย ๆ เข้าใกล้ประมาณ 4.2 ใช้ Exponential Decay พร้อมอธิบายตัวแปร และให้สมการที่สามารถนำไปวางใน Desmos ได้ทันที ข้อมูลนี้เป็นแบบจำลองเพื่อการเรียนรู้ ไม่ใช่ผลการทดลองจริง</a:t>
            </a:r>
            <a:endParaRPr lang="en-US" sz="1246" dirty="0"/>
          </a:p>
        </p:txBody>
      </p:sp>
      <p:sp>
        <p:nvSpPr>
          <p:cNvPr id="17" name="Text 15"/>
          <p:cNvSpPr/>
          <p:nvPr/>
        </p:nvSpPr>
        <p:spPr>
          <a:xfrm>
            <a:off x="4480560" y="5065776"/>
            <a:ext cx="6629400" cy="201168"/>
          </a:xfrm>
          <a:prstGeom prst="rect">
            <a:avLst/>
          </a:prstGeom>
          <a:noFill/>
          <a:ln/>
        </p:spPr>
        <p:txBody>
          <a:bodyPr wrap="square" lIns="0" tIns="0" rIns="0" bIns="0" rtlCol="0" anchor="ctr"/>
          <a:lstStyle/>
          <a:p>
            <a:pPr algn="ctr" indent="0" marL="0">
              <a:buNone/>
            </a:pPr>
            <a:r>
              <a:rPr lang="en-US" sz="930" dirty="0">
                <a:solidFill>
                  <a:srgbClr val="716B61"/>
                </a:solidFill>
                <a:latin typeface="Noto Sans Thai" pitchFamily="34" charset="0"/>
                <a:ea typeface="Noto Sans Thai" pitchFamily="34" charset="-122"/>
                <a:cs typeface="Noto Sans Thai" pitchFamily="34" charset="-120"/>
              </a:rPr>
              <a:t>หลักการ: เพิ่มบริบท + รูปแบบผลลัพธ์ + เงื่อนไขเฉพาะ + กลุ่มเป้าหมาย</a:t>
            </a:r>
            <a:endParaRPr lang="en-US" sz="930" dirty="0"/>
          </a:p>
        </p:txBody>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Mathematical Modeling</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FEW-SHOT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ใหม่: Mathematical Modeling</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ผลลัพธ์หลังปรับ prompt มีโครงสร้างตรงโจทย์และนำไปใช้ในงานได้ง่ายขึ้น</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desmos.com/calculator</a:t>
            </a:r>
            <a:endParaRPr lang="en-US" sz="680" dirty="0"/>
          </a:p>
        </p:txBody>
      </p:sp>
      <p:sp>
        <p:nvSpPr>
          <p:cNvPr id="12" name="Shape 10"/>
          <p:cNvSpPr/>
          <p:nvPr/>
        </p:nvSpPr>
        <p:spPr>
          <a:xfrm>
            <a:off x="960120" y="1874520"/>
            <a:ext cx="3383280" cy="3611880"/>
          </a:xfrm>
          <a:prstGeom prst="roundRect">
            <a:avLst>
              <a:gd name="adj" fmla="val 1622"/>
            </a:avLst>
          </a:prstGeom>
          <a:solidFill>
            <a:srgbClr val="FFF9F1"/>
          </a:solidFill>
          <a:ln w="12700">
            <a:solidFill>
              <a:srgbClr val="E9DAC5"/>
            </a:solidFill>
            <a:prstDash val="solid"/>
          </a:ln>
        </p:spPr>
      </p:sp>
      <p:sp>
        <p:nvSpPr>
          <p:cNvPr id="13" name="Text 11"/>
          <p:cNvSpPr/>
          <p:nvPr/>
        </p:nvSpPr>
        <p:spPr>
          <a:xfrm>
            <a:off x="1143000" y="2057400"/>
            <a:ext cx="2971800" cy="228600"/>
          </a:xfrm>
          <a:prstGeom prst="rect">
            <a:avLst/>
          </a:prstGeom>
          <a:noFill/>
          <a:ln/>
        </p:spPr>
        <p:txBody>
          <a:bodyPr wrap="square" lIns="0" tIns="0" rIns="0" bIns="0" rtlCol="0" anchor="ctr"/>
          <a:lstStyle/>
          <a:p>
            <a:pPr indent="0" marL="0">
              <a:buNone/>
            </a:pPr>
            <a:r>
              <a:rPr lang="en-US" sz="1200" b="1" dirty="0">
                <a:solidFill>
                  <a:srgbClr val="B7332F"/>
                </a:solidFill>
                <a:latin typeface="Noto Sans Thai" pitchFamily="34" charset="0"/>
                <a:ea typeface="Noto Sans Thai" pitchFamily="34" charset="-122"/>
                <a:cs typeface="Noto Sans Thai" pitchFamily="34" charset="-120"/>
              </a:rPr>
              <a:t>สมการ</a:t>
            </a:r>
            <a:endParaRPr lang="en-US" sz="1200" dirty="0"/>
          </a:p>
        </p:txBody>
      </p:sp>
      <p:sp>
        <p:nvSpPr>
          <p:cNvPr id="14" name="Text 12"/>
          <p:cNvSpPr/>
          <p:nvPr/>
        </p:nvSpPr>
        <p:spPr>
          <a:xfrm>
            <a:off x="1143000" y="2468880"/>
            <a:ext cx="2926080" cy="621792"/>
          </a:xfrm>
          <a:prstGeom prst="rect">
            <a:avLst/>
          </a:prstGeom>
          <a:noFill/>
          <a:ln/>
        </p:spPr>
        <p:txBody>
          <a:bodyPr wrap="square" lIns="254" tIns="254" rIns="254" bIns="254" rtlCol="0" anchor="ctr">
            <a:normAutofit/>
          </a:bodyPr>
          <a:lstStyle/>
          <a:p>
            <a:pPr indent="0" marL="0">
              <a:buNone/>
            </a:pPr>
            <a:r>
              <a:rPr lang="en-US" sz="2000" b="1" dirty="0">
                <a:solidFill>
                  <a:srgbClr val="25231F"/>
                </a:solidFill>
                <a:latin typeface="Noto Sans Thai" pitchFamily="34" charset="0"/>
                <a:ea typeface="Noto Sans Thai" pitchFamily="34" charset="-122"/>
                <a:cs typeface="Noto Sans Thai" pitchFamily="34" charset="-120"/>
              </a:rPr>
              <a:t>p(x)=4.2+1.6e^{-0.32x}</a:t>
            </a:r>
            <a:endParaRPr lang="en-US" sz="2000" dirty="0"/>
          </a:p>
        </p:txBody>
      </p:sp>
      <p:sp>
        <p:nvSpPr>
          <p:cNvPr id="15" name="Text 13"/>
          <p:cNvSpPr/>
          <p:nvPr/>
        </p:nvSpPr>
        <p:spPr>
          <a:xfrm>
            <a:off x="1143000" y="3246120"/>
            <a:ext cx="2926080" cy="1920240"/>
          </a:xfrm>
          <a:prstGeom prst="rect">
            <a:avLst/>
          </a:prstGeom>
          <a:noFill/>
          <a:ln/>
        </p:spPr>
        <p:txBody>
          <a:bodyPr wrap="square" lIns="254" tIns="254" rIns="254" bIns="254" rtlCol="0" anchor="ctr">
            <a:normAutofit/>
          </a:bodyPr>
          <a:lstStyle/>
          <a:p>
            <a:pPr indent="0" marL="0">
              <a:buNone/>
            </a:pPr>
            <a:r>
              <a:rPr lang="en-US" sz="950" dirty="0">
                <a:solidFill>
                  <a:srgbClr val="25231F"/>
                </a:solidFill>
                <a:latin typeface="Noto Sans Thai" pitchFamily="34" charset="0"/>
                <a:ea typeface="Noto Sans Thai" pitchFamily="34" charset="-122"/>
                <a:cs typeface="Noto Sans Thai" pitchFamily="34" charset="-120"/>
              </a:rPr>
              <a:t>ตารางตัวอย่าง</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0 วัน     5.80</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2 วัน     5.04</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4 วัน     4.64</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6 วัน     4.43</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8 วัน     4.32</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10 วัน     4.27</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12 วัน     4.23</a:t>
            </a:r>
            <a:endParaRPr lang="en-US" sz="950" dirty="0"/>
          </a:p>
          <a:p>
            <a:pPr indent="0" marL="0">
              <a:buNone/>
            </a:pPr>
            <a:r>
              <a:rPr lang="en-US" sz="950" dirty="0">
                <a:solidFill>
                  <a:srgbClr val="25231F"/>
                </a:solidFill>
                <a:latin typeface="Noto Sans Thai" pitchFamily="34" charset="0"/>
                <a:ea typeface="Noto Sans Thai" pitchFamily="34" charset="-122"/>
                <a:cs typeface="Noto Sans Thai" pitchFamily="34" charset="-120"/>
              </a:rPr>
              <a:t>14 วัน     4.22</a:t>
            </a:r>
            <a:endParaRPr lang="en-US" sz="950" dirty="0"/>
          </a:p>
        </p:txBody>
      </p:sp>
      <p:graphicFrame>
        <p:nvGraphicFramePr>
          <p:cNvPr id="16" name="Chart 0" descr=""/>
          <p:cNvGraphicFramePr/>
          <p:nvPr/>
        </p:nvGraphicFramePr>
        <p:xfrm>
          <a:off x="4617720" y="1874520"/>
          <a:ext cx="6355080" cy="361188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914400" y="5559552"/>
            <a:ext cx="10378440" cy="292608"/>
          </a:xfrm>
          <a:prstGeom prst="rect">
            <a:avLst/>
          </a:prstGeom>
          <a:noFill/>
          <a:ln/>
        </p:spPr>
        <p:txBody>
          <a:bodyPr wrap="square" lIns="0" tIns="0" rIns="0" bIns="0" rtlCol="0" anchor="ctr">
            <a:normAutofit/>
          </a:bodyPr>
          <a:lstStyle/>
          <a:p>
            <a:pPr algn="ctr" indent="0" marL="0">
              <a:buNone/>
            </a:pPr>
            <a:r>
              <a:rPr lang="en-US" sz="1050" dirty="0">
                <a:solidFill>
                  <a:srgbClr val="716B61"/>
                </a:solidFill>
                <a:latin typeface="Noto Sans Thai" pitchFamily="34" charset="0"/>
                <a:ea typeface="Noto Sans Thai" pitchFamily="34" charset="-122"/>
                <a:cs typeface="Noto Sans Thai" pitchFamily="34" charset="-120"/>
              </a:rPr>
              <a:t>แบบจำลองใหม่กำหนดช่วง 0-14 วัน เริ่มใกล้ 5.8 และค่อย ๆ เข้าใกล้ 4.2</a:t>
            </a:r>
            <a:endParaRPr lang="en-US" sz="1050" dirty="0"/>
          </a:p>
        </p:txBody>
      </p:sp>
      <p:sp>
        <p:nvSpPr>
          <p:cNvPr id="18" name="Text 15"/>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6"/>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Mathematical Modeling</a:t>
            </a:r>
            <a:endParaRPr lang="en-US" sz="850" dirty="0"/>
          </a:p>
        </p:txBody>
      </p:sp>
      <p:sp>
        <p:nvSpPr>
          <p:cNvPr id="20" name="Text 17"/>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REFLECTION</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สิ่งที่ได้เรียนรู้จาก Zero-shot → Few-shot</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Mathematical Modeling</a:t>
            </a:r>
            <a:endParaRPr lang="en-US" sz="980" dirty="0"/>
          </a:p>
        </p:txBody>
      </p:sp>
      <p:sp>
        <p:nvSpPr>
          <p:cNvPr id="7" name="Shape 5"/>
          <p:cNvSpPr/>
          <p:nvPr/>
        </p:nvSpPr>
        <p:spPr>
          <a:xfrm>
            <a:off x="73152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32688" y="2084832"/>
            <a:ext cx="3118104" cy="256032"/>
          </a:xfrm>
          <a:prstGeom prst="rect">
            <a:avLst/>
          </a:prstGeom>
          <a:noFill/>
          <a:ln/>
        </p:spPr>
        <p:txBody>
          <a:bodyPr wrap="square" lIns="0" tIns="0" rIns="0" bIns="0" rtlCol="0" anchor="ctr"/>
          <a:lstStyle/>
          <a:p>
            <a:pPr indent="0" marL="0">
              <a:buNone/>
            </a:pPr>
            <a:r>
              <a:rPr lang="en-US" sz="1300" b="1" dirty="0">
                <a:solidFill>
                  <a:srgbClr val="B7332F"/>
                </a:solidFill>
                <a:latin typeface="Noto Sans Thai" pitchFamily="34" charset="0"/>
                <a:ea typeface="Noto Sans Thai" pitchFamily="34" charset="-122"/>
                <a:cs typeface="Noto Sans Thai" pitchFamily="34" charset="-120"/>
              </a:rPr>
              <a:t>ผลลัพธ์จาก Zero-shot</a:t>
            </a:r>
            <a:endParaRPr lang="en-US" sz="1300" dirty="0"/>
          </a:p>
        </p:txBody>
      </p:sp>
      <p:sp>
        <p:nvSpPr>
          <p:cNvPr id="9" name="Text 7"/>
          <p:cNvSpPr/>
          <p:nvPr/>
        </p:nvSpPr>
        <p:spPr>
          <a:xfrm>
            <a:off x="93268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ได้สมการและกราฟ แต่ตัวแปรและช่วงข้อมูลยังไม่ชัด</a:t>
            </a:r>
            <a:endParaRPr lang="en-US" sz="1080" dirty="0"/>
          </a:p>
        </p:txBody>
      </p:sp>
      <p:sp>
        <p:nvSpPr>
          <p:cNvPr id="10" name="Shape 8"/>
          <p:cNvSpPr/>
          <p:nvPr/>
        </p:nvSpPr>
        <p:spPr>
          <a:xfrm>
            <a:off x="434340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1" name="Text 9"/>
          <p:cNvSpPr/>
          <p:nvPr/>
        </p:nvSpPr>
        <p:spPr>
          <a:xfrm>
            <a:off x="4544568" y="2084832"/>
            <a:ext cx="311810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ผลลัพธ์จาก Few-shot</a:t>
            </a:r>
            <a:endParaRPr lang="en-US" sz="1300" dirty="0"/>
          </a:p>
        </p:txBody>
      </p:sp>
      <p:sp>
        <p:nvSpPr>
          <p:cNvPr id="12" name="Text 10"/>
          <p:cNvSpPr/>
          <p:nvPr/>
        </p:nvSpPr>
        <p:spPr>
          <a:xfrm>
            <a:off x="454456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กำหนดค่าเริ่มต้น ช่วงเวลา และรูปแบบสมการ ทำให้กราฟอธิบายได้ดี</a:t>
            </a:r>
            <a:endParaRPr lang="en-US" sz="1080" dirty="0"/>
          </a:p>
        </p:txBody>
      </p:sp>
      <p:sp>
        <p:nvSpPr>
          <p:cNvPr id="13" name="Shape 11"/>
          <p:cNvSpPr/>
          <p:nvPr/>
        </p:nvSpPr>
        <p:spPr>
          <a:xfrm>
            <a:off x="795528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4" name="Text 12"/>
          <p:cNvSpPr/>
          <p:nvPr/>
        </p:nvSpPr>
        <p:spPr>
          <a:xfrm>
            <a:off x="8156448" y="2084832"/>
            <a:ext cx="3118104" cy="256032"/>
          </a:xfrm>
          <a:prstGeom prst="rect">
            <a:avLst/>
          </a:prstGeom>
          <a:noFill/>
          <a:ln/>
        </p:spPr>
        <p:txBody>
          <a:bodyPr wrap="square" lIns="0" tIns="0" rIns="0" bIns="0" rtlCol="0" anchor="ctr"/>
          <a:lstStyle/>
          <a:p>
            <a:pPr indent="0" marL="0">
              <a:buNone/>
            </a:pPr>
            <a:r>
              <a:rPr lang="en-US" sz="1300" b="1" dirty="0">
                <a:solidFill>
                  <a:srgbClr val="7F211F"/>
                </a:solidFill>
                <a:latin typeface="Noto Sans Thai" pitchFamily="34" charset="0"/>
                <a:ea typeface="Noto Sans Thai" pitchFamily="34" charset="-122"/>
                <a:cs typeface="Noto Sans Thai" pitchFamily="34" charset="-120"/>
              </a:rPr>
              <a:t>บทเรียนสำคัญ</a:t>
            </a:r>
            <a:endParaRPr lang="en-US" sz="1300" dirty="0"/>
          </a:p>
        </p:txBody>
      </p:sp>
      <p:sp>
        <p:nvSpPr>
          <p:cNvPr id="15" name="Text 13"/>
          <p:cNvSpPr/>
          <p:nvPr/>
        </p:nvSpPr>
        <p:spPr>
          <a:xfrm>
            <a:off x="815644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คณิตศาสตร์ต้องกำหนดตัวแปร ขอบเขต และข้อจำกัดของแบบจำลองให้ครบ</a:t>
            </a:r>
            <a:endParaRPr lang="en-US" sz="1080" dirty="0"/>
          </a:p>
        </p:txBody>
      </p:sp>
      <p:sp>
        <p:nvSpPr>
          <p:cNvPr id="16" name="Shape 14"/>
          <p:cNvSpPr/>
          <p:nvPr/>
        </p:nvSpPr>
        <p:spPr>
          <a:xfrm>
            <a:off x="3977640" y="3337560"/>
            <a:ext cx="594360" cy="0"/>
          </a:xfrm>
          <a:prstGeom prst="line">
            <a:avLst/>
          </a:prstGeom>
          <a:noFill/>
          <a:ln w="25400">
            <a:solidFill>
              <a:srgbClr val="B7332F"/>
            </a:solidFill>
            <a:prstDash val="solid"/>
            <a:tailEnd type="triangle"/>
          </a:ln>
        </p:spPr>
      </p:sp>
      <p:sp>
        <p:nvSpPr>
          <p:cNvPr id="17" name="Shape 15"/>
          <p:cNvSpPr/>
          <p:nvPr/>
        </p:nvSpPr>
        <p:spPr>
          <a:xfrm>
            <a:off x="7589520" y="3337560"/>
            <a:ext cx="594360" cy="0"/>
          </a:xfrm>
          <a:prstGeom prst="line">
            <a:avLst/>
          </a:prstGeom>
          <a:noFill/>
          <a:ln w="25400">
            <a:solidFill>
              <a:srgbClr val="426C43"/>
            </a:solidFill>
            <a:prstDash val="solid"/>
            <a:tailEnd type="triangle"/>
          </a:ln>
        </p:spPr>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Mathematical Modeling</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94360" y="502920"/>
            <a:ext cx="4114800" cy="228600"/>
          </a:xfrm>
          <a:prstGeom prst="rect">
            <a:avLst/>
          </a:prstGeom>
          <a:noFill/>
          <a:ln/>
        </p:spPr>
        <p:txBody>
          <a:bodyPr wrap="square" lIns="0" tIns="0" rIns="0" bIns="0" rtlCol="0" anchor="ctr"/>
          <a:lstStyle/>
          <a:p>
            <a:pPr indent="0" marL="0">
              <a:buNone/>
            </a:pPr>
            <a:r>
              <a:rPr lang="en-US" sz="1200" b="1" dirty="0">
                <a:solidFill>
                  <a:srgbClr val="B7332F"/>
                </a:solidFill>
                <a:latin typeface="Noto Sans Thai" pitchFamily="34" charset="0"/>
                <a:ea typeface="Noto Sans Thai" pitchFamily="34" charset="-122"/>
                <a:cs typeface="Noto Sans Thai" pitchFamily="34" charset="-120"/>
              </a:rPr>
              <a:t>Kimchi AI Learning Project</a:t>
            </a:r>
            <a:endParaRPr lang="en-US" sz="1200" dirty="0"/>
          </a:p>
        </p:txBody>
      </p:sp>
      <p:sp>
        <p:nvSpPr>
          <p:cNvPr id="5" name="Text 3"/>
          <p:cNvSpPr/>
          <p:nvPr/>
        </p:nvSpPr>
        <p:spPr>
          <a:xfrm>
            <a:off x="594360" y="987552"/>
            <a:ext cx="6858000" cy="1097280"/>
          </a:xfrm>
          <a:prstGeom prst="rect">
            <a:avLst/>
          </a:prstGeom>
          <a:noFill/>
          <a:ln/>
        </p:spPr>
        <p:txBody>
          <a:bodyPr wrap="square" lIns="0" tIns="0" rIns="0" bIns="0" rtlCol="0" anchor="ctr">
            <a:normAutofit/>
          </a:bodyPr>
          <a:lstStyle/>
          <a:p>
            <a:pPr indent="0" marL="0">
              <a:buNone/>
            </a:pPr>
            <a:r>
              <a:rPr lang="en-US" sz="3300" b="1" dirty="0">
                <a:solidFill>
                  <a:srgbClr val="25231F"/>
                </a:solidFill>
                <a:latin typeface="Noto Sans Thai" pitchFamily="34" charset="0"/>
                <a:ea typeface="Noto Sans Thai" pitchFamily="34" charset="-122"/>
                <a:cs typeface="Noto Sans Thai" pitchFamily="34" charset="-120"/>
              </a:rPr>
              <a:t>Process Diagram</a:t>
            </a:r>
            <a:endParaRPr lang="en-US" sz="3300" dirty="0"/>
          </a:p>
        </p:txBody>
      </p:sp>
      <p:sp>
        <p:nvSpPr>
          <p:cNvPr id="6" name="Text 4"/>
          <p:cNvSpPr/>
          <p:nvPr/>
        </p:nvSpPr>
        <p:spPr>
          <a:xfrm>
            <a:off x="640080" y="2130552"/>
            <a:ext cx="2468880" cy="256032"/>
          </a:xfrm>
          <a:prstGeom prst="rect">
            <a:avLst/>
          </a:prstGeom>
          <a:noFill/>
          <a:ln/>
        </p:spPr>
        <p:txBody>
          <a:bodyPr wrap="square" lIns="0" tIns="0" rIns="0" bIns="0" rtlCol="0" anchor="ct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หัวข้อการเรียนรู้ที่ 3</a:t>
            </a:r>
            <a:endParaRPr lang="en-US" sz="1050" dirty="0"/>
          </a:p>
        </p:txBody>
      </p:sp>
      <p:sp>
        <p:nvSpPr>
          <p:cNvPr id="7" name="Shape 5"/>
          <p:cNvSpPr/>
          <p:nvPr/>
        </p:nvSpPr>
        <p:spPr>
          <a:xfrm>
            <a:off x="621792" y="2514600"/>
            <a:ext cx="2926080" cy="320040"/>
          </a:xfrm>
          <a:prstGeom prst="roundRect">
            <a:avLst>
              <a:gd name="adj" fmla="val 22857"/>
            </a:avLst>
          </a:prstGeom>
          <a:solidFill>
            <a:srgbClr val="426C43"/>
          </a:solidFill>
          <a:ln w="12700">
            <a:solidFill>
              <a:srgbClr val="426C43"/>
            </a:solidFill>
            <a:prstDash val="solid"/>
          </a:ln>
        </p:spPr>
      </p:sp>
      <p:sp>
        <p:nvSpPr>
          <p:cNvPr id="8" name="Text 6"/>
          <p:cNvSpPr/>
          <p:nvPr/>
        </p:nvSpPr>
        <p:spPr>
          <a:xfrm>
            <a:off x="713232" y="2578608"/>
            <a:ext cx="2743200" cy="137160"/>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Thai" pitchFamily="34" charset="0"/>
                <a:ea typeface="Noto Sans Thai" pitchFamily="34" charset="-122"/>
                <a:cs typeface="Noto Sans Thai" pitchFamily="34" charset="-120"/>
              </a:rPr>
              <a:t>Mermaid Flowchart</a:t>
            </a:r>
            <a:endParaRPr lang="en-US" sz="850" dirty="0"/>
          </a:p>
        </p:txBody>
      </p:sp>
      <p:sp>
        <p:nvSpPr>
          <p:cNvPr id="9" name="Text 7"/>
          <p:cNvSpPr/>
          <p:nvPr/>
        </p:nvSpPr>
        <p:spPr>
          <a:xfrm>
            <a:off x="685800" y="3154680"/>
            <a:ext cx="4389120" cy="274320"/>
          </a:xfrm>
          <a:prstGeom prst="rect">
            <a:avLst/>
          </a:prstGeom>
          <a:noFill/>
          <a:ln/>
        </p:spPr>
        <p:txBody>
          <a:bodyPr wrap="square" lIns="0" tIns="0" rIns="0" bIns="0" rtlCol="0" anchor="ctr"/>
          <a:lstStyle/>
          <a:p>
            <a:pPr indent="0" marL="0">
              <a:buNone/>
            </a:pPr>
            <a:r>
              <a:rPr lang="en-US" sz="1500" b="1" dirty="0">
                <a:solidFill>
                  <a:srgbClr val="7F211F"/>
                </a:solidFill>
                <a:latin typeface="Noto Sans Thai" pitchFamily="34" charset="0"/>
                <a:ea typeface="Noto Sans Thai" pitchFamily="34" charset="-122"/>
                <a:cs typeface="Noto Sans Thai" pitchFamily="34" charset="-120"/>
              </a:rPr>
              <a:t>สิ่งที่จะใส่ในสไลด์ 6 หน้า</a:t>
            </a:r>
            <a:endParaRPr lang="en-US" sz="1500" dirty="0"/>
          </a:p>
        </p:txBody>
      </p:sp>
      <p:sp>
        <p:nvSpPr>
          <p:cNvPr id="10" name="Text 8"/>
          <p:cNvSpPr/>
          <p:nvPr/>
        </p:nvSpPr>
        <p:spPr>
          <a:xfrm>
            <a:off x="731520" y="3566160"/>
            <a:ext cx="5486400" cy="2011680"/>
          </a:xfrm>
          <a:prstGeom prst="rect">
            <a:avLst/>
          </a:prstGeom>
          <a:noFill/>
          <a:ln/>
        </p:spPr>
        <p:txBody>
          <a:bodyPr wrap="square" lIns="254" tIns="254" rIns="254" bIns="254" rtlCol="0" anchor="ctr">
            <a:normAutofit/>
          </a:bodyPr>
          <a:lstStyle/>
          <a:p>
            <a:pPr indent="0" marL="0">
              <a:buNone/>
            </a:pPr>
            <a:r>
              <a:rPr lang="en-US" sz="1400" dirty="0">
                <a:solidFill>
                  <a:srgbClr val="25231F"/>
                </a:solidFill>
                <a:latin typeface="Noto Sans Thai" pitchFamily="34" charset="0"/>
                <a:ea typeface="Noto Sans Thai" pitchFamily="34" charset="-122"/>
                <a:cs typeface="Noto Sans Thai" pitchFamily="34" charset="-120"/>
              </a:rPr>
              <a:t>1. เริ่มจาก Mermaid Diagram แบบง่าย</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2. ตรวจว่าขาดขั้นตอนย่อย</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3. เพิ่ม Decision Point หลังการหมัก</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4. เชื่อมเส้นทางหมักต่อหรือแช่เย็น</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5. ทำให้เหมาะกับนักเรียน</a:t>
            </a:r>
            <a:endParaRPr lang="en-US" sz="1400" dirty="0"/>
          </a:p>
        </p:txBody>
      </p:sp>
      <p:sp>
        <p:nvSpPr>
          <p:cNvPr id="11" name="Shape 9"/>
          <p:cNvSpPr/>
          <p:nvPr/>
        </p:nvSpPr>
        <p:spPr>
          <a:xfrm>
            <a:off x="7452360" y="1051560"/>
            <a:ext cx="3886200" cy="4526280"/>
          </a:xfrm>
          <a:prstGeom prst="roundRect">
            <a:avLst>
              <a:gd name="adj" fmla="val 2353"/>
            </a:avLst>
          </a:prstGeom>
          <a:solidFill>
            <a:srgbClr val="FFF7EC"/>
          </a:solidFill>
          <a:ln w="12700">
            <a:solidFill>
              <a:srgbClr val="E8DFD1"/>
            </a:solidFill>
            <a:prstDash val="solid"/>
          </a:ln>
          <a:effectLst>
            <a:outerShdw sx="100000" sy="100000" kx="0" ky="0" algn="bl" rotWithShape="0" blurRad="38100" dist="12700" dir="2700000">
              <a:srgbClr val="000000">
                <a:alpha val="12000"/>
              </a:srgbClr>
            </a:outerShdw>
          </a:effectLst>
        </p:spPr>
      </p:sp>
      <p:sp>
        <p:nvSpPr>
          <p:cNvPr id="12" name="Text 10"/>
          <p:cNvSpPr/>
          <p:nvPr/>
        </p:nvSpPr>
        <p:spPr>
          <a:xfrm>
            <a:off x="7818120" y="1325880"/>
            <a:ext cx="3200400" cy="1234440"/>
          </a:xfrm>
          <a:prstGeom prst="rect">
            <a:avLst/>
          </a:prstGeom>
          <a:noFill/>
          <a:ln/>
        </p:spPr>
        <p:txBody>
          <a:bodyPr wrap="square" lIns="0" tIns="0" rIns="0" bIns="0" rtlCol="0" anchor="ctr"/>
          <a:lstStyle/>
          <a:p>
            <a:pPr algn="ctr" indent="0" marL="0">
              <a:buNone/>
            </a:pPr>
            <a:r>
              <a:rPr lang="en-US" sz="7000" b="1" dirty="0">
                <a:solidFill>
                  <a:srgbClr val="B7332F"/>
                </a:solidFill>
                <a:latin typeface="Noto Sans Thai" pitchFamily="34" charset="0"/>
                <a:ea typeface="Noto Sans Thai" pitchFamily="34" charset="-122"/>
                <a:cs typeface="Noto Sans Thai" pitchFamily="34" charset="-120"/>
              </a:rPr>
              <a:t>03</a:t>
            </a:r>
            <a:endParaRPr lang="en-US" sz="7000" dirty="0"/>
          </a:p>
        </p:txBody>
      </p:sp>
      <p:sp>
        <p:nvSpPr>
          <p:cNvPr id="13" name="Text 11"/>
          <p:cNvSpPr/>
          <p:nvPr/>
        </p:nvSpPr>
        <p:spPr>
          <a:xfrm>
            <a:off x="8183880" y="2971800"/>
            <a:ext cx="2468880" cy="1463040"/>
          </a:xfrm>
          <a:prstGeom prst="rect">
            <a:avLst/>
          </a:prstGeom>
          <a:noFill/>
          <a:ln/>
        </p:spPr>
        <p:txBody>
          <a:bodyPr wrap="square" lIns="254" tIns="254" rIns="254" bIns="254" rtlCol="0" anchor="ctr"/>
          <a:lstStyle/>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Prompt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Result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Reflection</a:t>
            </a:r>
            <a:endParaRPr lang="en-US" sz="2200" dirty="0"/>
          </a:p>
        </p:txBody>
      </p:sp>
      <p:sp>
        <p:nvSpPr>
          <p:cNvPr id="14" name="Text 12"/>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5" name="Text 13"/>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Process Diagram</a:t>
            </a:r>
            <a:endParaRPr lang="en-US" sz="850" dirty="0"/>
          </a:p>
        </p:txBody>
      </p:sp>
      <p:sp>
        <p:nvSpPr>
          <p:cNvPr id="16" name="Text 14"/>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Prompt แรก: Process Diagram</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คำสั่งแรกยังค่อนข้างกว้าง จึงใช้ดูทิศทางเริ่มต้นของผลงาน</a:t>
            </a:r>
            <a:endParaRPr lang="en-US" sz="980" dirty="0"/>
          </a:p>
        </p:txBody>
      </p:sp>
      <p:sp>
        <p:nvSpPr>
          <p:cNvPr id="7" name="Shape 5"/>
          <p:cNvSpPr/>
          <p:nvPr/>
        </p:nvSpPr>
        <p:spPr>
          <a:xfrm>
            <a:off x="685800" y="1508760"/>
            <a:ext cx="10835640" cy="4526280"/>
          </a:xfrm>
          <a:prstGeom prst="roundRect">
            <a:avLst>
              <a:gd name="adj" fmla="val 1212"/>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508760"/>
            <a:ext cx="10835640" cy="402336"/>
          </a:xfrm>
          <a:prstGeom prst="rect">
            <a:avLst/>
          </a:prstGeom>
          <a:solidFill>
            <a:srgbClr val="F4F1E9"/>
          </a:solidFill>
          <a:ln w="12700">
            <a:solidFill>
              <a:srgbClr val="F4F1E9"/>
            </a:solidFill>
            <a:prstDash val="solid"/>
          </a:ln>
        </p:spPr>
      </p:sp>
      <p:sp>
        <p:nvSpPr>
          <p:cNvPr id="9" name="Text 7"/>
          <p:cNvSpPr/>
          <p:nvPr/>
        </p:nvSpPr>
        <p:spPr>
          <a:xfrm>
            <a:off x="850392" y="163677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60934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64592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prompt</a:t>
            </a:r>
            <a:endParaRPr lang="en-US" sz="680" dirty="0"/>
          </a:p>
        </p:txBody>
      </p:sp>
      <p:sp>
        <p:nvSpPr>
          <p:cNvPr id="12" name="Shape 10"/>
          <p:cNvSpPr/>
          <p:nvPr/>
        </p:nvSpPr>
        <p:spPr>
          <a:xfrm>
            <a:off x="960120" y="1993392"/>
            <a:ext cx="10287000" cy="3063240"/>
          </a:xfrm>
          <a:prstGeom prst="roundRect">
            <a:avLst>
              <a:gd name="adj" fmla="val 1791"/>
            </a:avLst>
          </a:prstGeom>
          <a:solidFill>
            <a:srgbClr val="FFF9F1"/>
          </a:solidFill>
          <a:ln w="12700">
            <a:solidFill>
              <a:srgbClr val="E7D8C5"/>
            </a:solidFill>
            <a:prstDash val="solid"/>
          </a:ln>
        </p:spPr>
      </p:sp>
      <p:sp>
        <p:nvSpPr>
          <p:cNvPr id="13" name="Text 11"/>
          <p:cNvSpPr/>
          <p:nvPr/>
        </p:nvSpPr>
        <p:spPr>
          <a:xfrm>
            <a:off x="1170432" y="2176272"/>
            <a:ext cx="9875520" cy="2606040"/>
          </a:xfrm>
          <a:prstGeom prst="rect">
            <a:avLst/>
          </a:prstGeom>
          <a:noFill/>
          <a:ln/>
        </p:spPr>
        <p:txBody>
          <a:bodyPr wrap="square" lIns="508" tIns="508" rIns="508" bIns="508" rtlCol="0" anchor="t">
            <a:normAutofit/>
          </a:bodyPr>
          <a:lstStyle/>
          <a:p>
            <a:pPr indent="0" marL="0">
              <a:buNone/>
            </a:pPr>
            <a:r>
              <a:rPr lang="en-US" sz="1597" dirty="0">
                <a:solidFill>
                  <a:srgbClr val="25231F"/>
                </a:solidFill>
                <a:latin typeface="Noto Sans Thai" pitchFamily="34" charset="0"/>
                <a:ea typeface="Noto Sans Thai" pitchFamily="34" charset="-122"/>
                <a:cs typeface="Noto Sans Thai" pitchFamily="34" charset="-120"/>
              </a:rPr>
              <a:t>เขียน Mermaid Diagram แสดงขั้นตอนการทำกิมจิ</a:t>
            </a:r>
            <a:endParaRPr lang="en-US" sz="1597" dirty="0"/>
          </a:p>
        </p:txBody>
      </p:sp>
      <p:sp>
        <p:nvSpPr>
          <p:cNvPr id="14" name="Text 12"/>
          <p:cNvSpPr/>
          <p:nvPr/>
        </p:nvSpPr>
        <p:spPr>
          <a:xfrm>
            <a:off x="960120" y="5248656"/>
            <a:ext cx="10241280" cy="301752"/>
          </a:xfrm>
          <a:prstGeom prst="rect">
            <a:avLst/>
          </a:prstGeom>
          <a:noFill/>
          <a:ln/>
        </p:spPr>
        <p:txBody>
          <a:bodyPr wrap="square" lIns="0" tIns="0" rIns="0" bIns="0" rtlCol="0" anchor="ctr">
            <a:normAutofit/>
          </a:bodyP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แคปจอส่วนนี้แทนหน้าจอการใส่ prompt แรก</a:t>
            </a:r>
            <a:endParaRPr lang="en-US" sz="1050" dirty="0"/>
          </a:p>
        </p:txBody>
      </p:sp>
      <p:sp>
        <p:nvSpPr>
          <p:cNvPr id="15" name="Text 13"/>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6" name="Text 14"/>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Process Diagram</a:t>
            </a:r>
            <a:endParaRPr lang="en-US" sz="850" dirty="0"/>
          </a:p>
        </p:txBody>
      </p:sp>
      <p:sp>
        <p:nvSpPr>
          <p:cNvPr id="17" name="Text 15"/>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แรก: Process Diagram</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ผลลัพธ์เริ่มต้นยังพอใช้งานได้ แต่ยังมีจุดที่ต้องปรับให้ตรงโจทย์</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mermaid.live</a:t>
            </a:r>
            <a:endParaRPr lang="en-US" sz="680" dirty="0"/>
          </a:p>
        </p:txBody>
      </p:sp>
      <p:sp>
        <p:nvSpPr>
          <p:cNvPr id="12" name="Shape 10"/>
          <p:cNvSpPr/>
          <p:nvPr/>
        </p:nvSpPr>
        <p:spPr>
          <a:xfrm>
            <a:off x="2825496" y="3273552"/>
            <a:ext cx="246888" cy="0"/>
          </a:xfrm>
          <a:prstGeom prst="line">
            <a:avLst/>
          </a:prstGeom>
          <a:noFill/>
          <a:ln w="25400">
            <a:solidFill>
              <a:srgbClr val="B7332F"/>
            </a:solidFill>
            <a:prstDash val="solid"/>
            <a:tailEnd type="triangle"/>
          </a:ln>
        </p:spPr>
      </p:sp>
      <p:sp>
        <p:nvSpPr>
          <p:cNvPr id="13" name="Shape 11"/>
          <p:cNvSpPr/>
          <p:nvPr/>
        </p:nvSpPr>
        <p:spPr>
          <a:xfrm>
            <a:off x="4837176" y="3273552"/>
            <a:ext cx="246888" cy="0"/>
          </a:xfrm>
          <a:prstGeom prst="line">
            <a:avLst/>
          </a:prstGeom>
          <a:noFill/>
          <a:ln w="25400">
            <a:solidFill>
              <a:srgbClr val="B7332F"/>
            </a:solidFill>
            <a:prstDash val="solid"/>
            <a:tailEnd type="triangle"/>
          </a:ln>
        </p:spPr>
      </p:sp>
      <p:sp>
        <p:nvSpPr>
          <p:cNvPr id="14" name="Shape 12"/>
          <p:cNvSpPr/>
          <p:nvPr/>
        </p:nvSpPr>
        <p:spPr>
          <a:xfrm>
            <a:off x="6848856" y="3273552"/>
            <a:ext cx="246888" cy="0"/>
          </a:xfrm>
          <a:prstGeom prst="line">
            <a:avLst/>
          </a:prstGeom>
          <a:noFill/>
          <a:ln w="25400">
            <a:solidFill>
              <a:srgbClr val="B7332F"/>
            </a:solidFill>
            <a:prstDash val="solid"/>
            <a:tailEnd type="triangle"/>
          </a:ln>
        </p:spPr>
      </p:sp>
      <p:sp>
        <p:nvSpPr>
          <p:cNvPr id="15" name="Shape 13"/>
          <p:cNvSpPr/>
          <p:nvPr/>
        </p:nvSpPr>
        <p:spPr>
          <a:xfrm>
            <a:off x="8860536" y="3273552"/>
            <a:ext cx="246888" cy="0"/>
          </a:xfrm>
          <a:prstGeom prst="line">
            <a:avLst/>
          </a:prstGeom>
          <a:noFill/>
          <a:ln w="25400">
            <a:solidFill>
              <a:srgbClr val="B7332F"/>
            </a:solidFill>
            <a:prstDash val="solid"/>
            <a:tailEnd type="triangle"/>
          </a:ln>
        </p:spPr>
      </p:sp>
      <p:sp>
        <p:nvSpPr>
          <p:cNvPr id="16" name="Shape 14"/>
          <p:cNvSpPr/>
          <p:nvPr/>
        </p:nvSpPr>
        <p:spPr>
          <a:xfrm>
            <a:off x="1097280" y="2926080"/>
            <a:ext cx="1691640" cy="685800"/>
          </a:xfrm>
          <a:prstGeom prst="roundRect">
            <a:avLst>
              <a:gd name="adj" fmla="val 9333"/>
            </a:avLst>
          </a:prstGeom>
          <a:solidFill>
            <a:srgbClr val="FFFFFF"/>
          </a:solidFill>
          <a:ln w="15240">
            <a:solidFill>
              <a:srgbClr val="B7332F"/>
            </a:solidFill>
            <a:prstDash val="solid"/>
          </a:ln>
        </p:spPr>
      </p:sp>
      <p:sp>
        <p:nvSpPr>
          <p:cNvPr id="17" name="Text 15"/>
          <p:cNvSpPr/>
          <p:nvPr/>
        </p:nvSpPr>
        <p:spPr>
          <a:xfrm>
            <a:off x="1188720" y="3090672"/>
            <a:ext cx="1508760" cy="228600"/>
          </a:xfrm>
          <a:prstGeom prst="rect">
            <a:avLst/>
          </a:prstGeom>
          <a:noFill/>
          <a:ln/>
        </p:spPr>
        <p:txBody>
          <a:bodyPr wrap="square" lIns="0" tIns="0" rIns="0" bIns="0" rtlCol="0" anchor="ctr">
            <a:normAutofit/>
          </a:bodyPr>
          <a:lstStyle/>
          <a:p>
            <a:pPr algn="ctr" indent="0" marL="0">
              <a:buNone/>
            </a:pPr>
            <a:r>
              <a:rPr lang="en-US" sz="1000" b="1" dirty="0">
                <a:solidFill>
                  <a:srgbClr val="25231F"/>
                </a:solidFill>
                <a:latin typeface="Noto Sans Thai" pitchFamily="34" charset="0"/>
                <a:ea typeface="Noto Sans Thai" pitchFamily="34" charset="-122"/>
                <a:cs typeface="Noto Sans Thai" pitchFamily="34" charset="-120"/>
              </a:rPr>
              <a:t>เตรียมผักกาด</a:t>
            </a:r>
            <a:endParaRPr lang="en-US" sz="1000" dirty="0"/>
          </a:p>
        </p:txBody>
      </p:sp>
      <p:sp>
        <p:nvSpPr>
          <p:cNvPr id="18" name="Shape 16"/>
          <p:cNvSpPr/>
          <p:nvPr/>
        </p:nvSpPr>
        <p:spPr>
          <a:xfrm>
            <a:off x="3108960" y="2926080"/>
            <a:ext cx="1691640" cy="685800"/>
          </a:xfrm>
          <a:prstGeom prst="roundRect">
            <a:avLst>
              <a:gd name="adj" fmla="val 9333"/>
            </a:avLst>
          </a:prstGeom>
          <a:solidFill>
            <a:srgbClr val="FFF7EC"/>
          </a:solidFill>
          <a:ln w="15240">
            <a:solidFill>
              <a:srgbClr val="B7332F"/>
            </a:solidFill>
            <a:prstDash val="solid"/>
          </a:ln>
        </p:spPr>
      </p:sp>
      <p:sp>
        <p:nvSpPr>
          <p:cNvPr id="19" name="Text 17"/>
          <p:cNvSpPr/>
          <p:nvPr/>
        </p:nvSpPr>
        <p:spPr>
          <a:xfrm>
            <a:off x="3200400" y="3090672"/>
            <a:ext cx="1508760" cy="228600"/>
          </a:xfrm>
          <a:prstGeom prst="rect">
            <a:avLst/>
          </a:prstGeom>
          <a:noFill/>
          <a:ln/>
        </p:spPr>
        <p:txBody>
          <a:bodyPr wrap="square" lIns="0" tIns="0" rIns="0" bIns="0" rtlCol="0" anchor="ctr">
            <a:normAutofit/>
          </a:bodyPr>
          <a:lstStyle/>
          <a:p>
            <a:pPr algn="ctr" indent="0" marL="0">
              <a:buNone/>
            </a:pPr>
            <a:r>
              <a:rPr lang="en-US" sz="1000" b="1" dirty="0">
                <a:solidFill>
                  <a:srgbClr val="25231F"/>
                </a:solidFill>
                <a:latin typeface="Noto Sans Thai" pitchFamily="34" charset="0"/>
                <a:ea typeface="Noto Sans Thai" pitchFamily="34" charset="-122"/>
                <a:cs typeface="Noto Sans Thai" pitchFamily="34" charset="-120"/>
              </a:rPr>
              <a:t>หมักเกลือ</a:t>
            </a:r>
            <a:endParaRPr lang="en-US" sz="1000" dirty="0"/>
          </a:p>
        </p:txBody>
      </p:sp>
      <p:sp>
        <p:nvSpPr>
          <p:cNvPr id="20" name="Shape 18"/>
          <p:cNvSpPr/>
          <p:nvPr/>
        </p:nvSpPr>
        <p:spPr>
          <a:xfrm>
            <a:off x="5120640" y="2926080"/>
            <a:ext cx="1691640" cy="685800"/>
          </a:xfrm>
          <a:prstGeom prst="roundRect">
            <a:avLst>
              <a:gd name="adj" fmla="val 9333"/>
            </a:avLst>
          </a:prstGeom>
          <a:solidFill>
            <a:srgbClr val="FFFFFF"/>
          </a:solidFill>
          <a:ln w="15240">
            <a:solidFill>
              <a:srgbClr val="B7332F"/>
            </a:solidFill>
            <a:prstDash val="solid"/>
          </a:ln>
        </p:spPr>
      </p:sp>
      <p:sp>
        <p:nvSpPr>
          <p:cNvPr id="21" name="Text 19"/>
          <p:cNvSpPr/>
          <p:nvPr/>
        </p:nvSpPr>
        <p:spPr>
          <a:xfrm>
            <a:off x="5212080" y="3090672"/>
            <a:ext cx="1508760" cy="228600"/>
          </a:xfrm>
          <a:prstGeom prst="rect">
            <a:avLst/>
          </a:prstGeom>
          <a:noFill/>
          <a:ln/>
        </p:spPr>
        <p:txBody>
          <a:bodyPr wrap="square" lIns="0" tIns="0" rIns="0" bIns="0" rtlCol="0" anchor="ctr">
            <a:normAutofit/>
          </a:bodyPr>
          <a:lstStyle/>
          <a:p>
            <a:pPr algn="ctr" indent="0" marL="0">
              <a:buNone/>
            </a:pPr>
            <a:r>
              <a:rPr lang="en-US" sz="1000" b="1" dirty="0">
                <a:solidFill>
                  <a:srgbClr val="25231F"/>
                </a:solidFill>
                <a:latin typeface="Noto Sans Thai" pitchFamily="34" charset="0"/>
                <a:ea typeface="Noto Sans Thai" pitchFamily="34" charset="-122"/>
                <a:cs typeface="Noto Sans Thai" pitchFamily="34" charset="-120"/>
              </a:rPr>
              <a:t>เตรียมซอส</a:t>
            </a:r>
            <a:endParaRPr lang="en-US" sz="1000" dirty="0"/>
          </a:p>
        </p:txBody>
      </p:sp>
      <p:sp>
        <p:nvSpPr>
          <p:cNvPr id="22" name="Shape 20"/>
          <p:cNvSpPr/>
          <p:nvPr/>
        </p:nvSpPr>
        <p:spPr>
          <a:xfrm>
            <a:off x="7132320" y="2926080"/>
            <a:ext cx="1691640" cy="685800"/>
          </a:xfrm>
          <a:prstGeom prst="roundRect">
            <a:avLst>
              <a:gd name="adj" fmla="val 9333"/>
            </a:avLst>
          </a:prstGeom>
          <a:solidFill>
            <a:srgbClr val="FFF7EC"/>
          </a:solidFill>
          <a:ln w="15240">
            <a:solidFill>
              <a:srgbClr val="B7332F"/>
            </a:solidFill>
            <a:prstDash val="solid"/>
          </a:ln>
        </p:spPr>
      </p:sp>
      <p:sp>
        <p:nvSpPr>
          <p:cNvPr id="23" name="Text 21"/>
          <p:cNvSpPr/>
          <p:nvPr/>
        </p:nvSpPr>
        <p:spPr>
          <a:xfrm>
            <a:off x="7223760" y="3090672"/>
            <a:ext cx="1508760" cy="228600"/>
          </a:xfrm>
          <a:prstGeom prst="rect">
            <a:avLst/>
          </a:prstGeom>
          <a:noFill/>
          <a:ln/>
        </p:spPr>
        <p:txBody>
          <a:bodyPr wrap="square" lIns="0" tIns="0" rIns="0" bIns="0" rtlCol="0" anchor="ctr">
            <a:normAutofit/>
          </a:bodyPr>
          <a:lstStyle/>
          <a:p>
            <a:pPr algn="ctr" indent="0" marL="0">
              <a:buNone/>
            </a:pPr>
            <a:r>
              <a:rPr lang="en-US" sz="1000" b="1" dirty="0">
                <a:solidFill>
                  <a:srgbClr val="25231F"/>
                </a:solidFill>
                <a:latin typeface="Noto Sans Thai" pitchFamily="34" charset="0"/>
                <a:ea typeface="Noto Sans Thai" pitchFamily="34" charset="-122"/>
                <a:cs typeface="Noto Sans Thai" pitchFamily="34" charset="-120"/>
              </a:rPr>
              <a:t>คลุกส่วนผสม</a:t>
            </a:r>
            <a:endParaRPr lang="en-US" sz="1000" dirty="0"/>
          </a:p>
        </p:txBody>
      </p:sp>
      <p:sp>
        <p:nvSpPr>
          <p:cNvPr id="24" name="Shape 22"/>
          <p:cNvSpPr/>
          <p:nvPr/>
        </p:nvSpPr>
        <p:spPr>
          <a:xfrm>
            <a:off x="9144000" y="2926080"/>
            <a:ext cx="1691640" cy="685800"/>
          </a:xfrm>
          <a:prstGeom prst="roundRect">
            <a:avLst>
              <a:gd name="adj" fmla="val 9333"/>
            </a:avLst>
          </a:prstGeom>
          <a:solidFill>
            <a:srgbClr val="FFFFFF"/>
          </a:solidFill>
          <a:ln w="15240">
            <a:solidFill>
              <a:srgbClr val="B7332F"/>
            </a:solidFill>
            <a:prstDash val="solid"/>
          </a:ln>
        </p:spPr>
      </p:sp>
      <p:sp>
        <p:nvSpPr>
          <p:cNvPr id="25" name="Text 23"/>
          <p:cNvSpPr/>
          <p:nvPr/>
        </p:nvSpPr>
        <p:spPr>
          <a:xfrm>
            <a:off x="9235440" y="3090672"/>
            <a:ext cx="1508760" cy="228600"/>
          </a:xfrm>
          <a:prstGeom prst="rect">
            <a:avLst/>
          </a:prstGeom>
          <a:noFill/>
          <a:ln/>
        </p:spPr>
        <p:txBody>
          <a:bodyPr wrap="square" lIns="0" tIns="0" rIns="0" bIns="0" rtlCol="0" anchor="ctr">
            <a:normAutofit/>
          </a:bodyPr>
          <a:lstStyle/>
          <a:p>
            <a:pPr algn="ctr" indent="0" marL="0">
              <a:buNone/>
            </a:pPr>
            <a:r>
              <a:rPr lang="en-US" sz="1000" b="1" dirty="0">
                <a:solidFill>
                  <a:srgbClr val="25231F"/>
                </a:solidFill>
                <a:latin typeface="Noto Sans Thai" pitchFamily="34" charset="0"/>
                <a:ea typeface="Noto Sans Thai" pitchFamily="34" charset="-122"/>
                <a:cs typeface="Noto Sans Thai" pitchFamily="34" charset="-120"/>
              </a:rPr>
              <a:t>พร้อมหมัก</a:t>
            </a:r>
            <a:endParaRPr lang="en-US" sz="1000" dirty="0"/>
          </a:p>
        </p:txBody>
      </p:sp>
      <p:sp>
        <p:nvSpPr>
          <p:cNvPr id="26" name="Text 24"/>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27" name="Text 25"/>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Process Diagram</a:t>
            </a:r>
            <a:endParaRPr lang="en-US" sz="850" dirty="0"/>
          </a:p>
        </p:txBody>
      </p:sp>
      <p:sp>
        <p:nvSpPr>
          <p:cNvPr id="28" name="Text 26"/>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FEEDBACK + FEW-SHOT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การปรับรายละเอียด: Process Diagram</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เพิ่มเงื่อนไขให้ชัดเจน เพื่อให้ AI สร้างผลลัพธ์ตรงงานมากขึ้น</a:t>
            </a:r>
            <a:endParaRPr lang="en-US" sz="980" dirty="0"/>
          </a:p>
        </p:txBody>
      </p:sp>
      <p:sp>
        <p:nvSpPr>
          <p:cNvPr id="7" name="Shape 5"/>
          <p:cNvSpPr/>
          <p:nvPr/>
        </p:nvSpPr>
        <p:spPr>
          <a:xfrm>
            <a:off x="777240" y="1783080"/>
            <a:ext cx="3246120" cy="3749040"/>
          </a:xfrm>
          <a:prstGeom prst="roundRect">
            <a:avLst>
              <a:gd name="adj" fmla="val 2254"/>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78408" y="1947672"/>
            <a:ext cx="284378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สิ่งที่ปรับเพิ่ม</a:t>
            </a:r>
            <a:endParaRPr lang="en-US" sz="1300" dirty="0"/>
          </a:p>
        </p:txBody>
      </p:sp>
      <p:sp>
        <p:nvSpPr>
          <p:cNvPr id="9" name="Text 7"/>
          <p:cNvSpPr/>
          <p:nvPr/>
        </p:nvSpPr>
        <p:spPr>
          <a:xfrm>
            <a:off x="978408" y="2286000"/>
            <a:ext cx="2843784" cy="309067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เพิ่มขั้นตอนย่อย</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เพิ่ม Decision Point</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มีเส้นทางหมักต่อ</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มีเส้นทางนำไปแช่เย็น</a:t>
            </a:r>
            <a:endParaRPr lang="en-US" sz="1080" dirty="0"/>
          </a:p>
        </p:txBody>
      </p:sp>
      <p:sp>
        <p:nvSpPr>
          <p:cNvPr id="10" name="Shape 8"/>
          <p:cNvSpPr/>
          <p:nvPr/>
        </p:nvSpPr>
        <p:spPr>
          <a:xfrm>
            <a:off x="4251960" y="1783080"/>
            <a:ext cx="7086600" cy="3749040"/>
          </a:xfrm>
          <a:prstGeom prst="roundRect">
            <a:avLst>
              <a:gd name="adj" fmla="val 1463"/>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11" name="Shape 9"/>
          <p:cNvSpPr/>
          <p:nvPr/>
        </p:nvSpPr>
        <p:spPr>
          <a:xfrm>
            <a:off x="4251960" y="1783080"/>
            <a:ext cx="7086600" cy="402336"/>
          </a:xfrm>
          <a:prstGeom prst="rect">
            <a:avLst/>
          </a:prstGeom>
          <a:solidFill>
            <a:srgbClr val="F4F1E9"/>
          </a:solidFill>
          <a:ln w="12700">
            <a:solidFill>
              <a:srgbClr val="F4F1E9"/>
            </a:solidFill>
            <a:prstDash val="solid"/>
          </a:ln>
        </p:spPr>
      </p:sp>
      <p:sp>
        <p:nvSpPr>
          <p:cNvPr id="12" name="Text 10"/>
          <p:cNvSpPr/>
          <p:nvPr/>
        </p:nvSpPr>
        <p:spPr>
          <a:xfrm>
            <a:off x="4416552" y="191109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3" name="Shape 11"/>
          <p:cNvSpPr/>
          <p:nvPr/>
        </p:nvSpPr>
        <p:spPr>
          <a:xfrm>
            <a:off x="5212080" y="1883664"/>
            <a:ext cx="5852160" cy="201168"/>
          </a:xfrm>
          <a:prstGeom prst="roundRect">
            <a:avLst>
              <a:gd name="adj" fmla="val 22727"/>
            </a:avLst>
          </a:prstGeom>
          <a:solidFill>
            <a:srgbClr val="FFFFFF"/>
          </a:solidFill>
          <a:ln w="12700">
            <a:solidFill>
              <a:srgbClr val="E5E0D5"/>
            </a:solidFill>
            <a:prstDash val="solid"/>
          </a:ln>
        </p:spPr>
      </p:sp>
      <p:sp>
        <p:nvSpPr>
          <p:cNvPr id="14" name="Text 12"/>
          <p:cNvSpPr/>
          <p:nvPr/>
        </p:nvSpPr>
        <p:spPr>
          <a:xfrm>
            <a:off x="5330952" y="1920240"/>
            <a:ext cx="562356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refined prompt</a:t>
            </a:r>
            <a:endParaRPr lang="en-US" sz="680" dirty="0"/>
          </a:p>
        </p:txBody>
      </p:sp>
      <p:sp>
        <p:nvSpPr>
          <p:cNvPr id="15" name="Shape 13"/>
          <p:cNvSpPr/>
          <p:nvPr/>
        </p:nvSpPr>
        <p:spPr>
          <a:xfrm>
            <a:off x="4480560" y="2267712"/>
            <a:ext cx="6629400" cy="2606040"/>
          </a:xfrm>
          <a:prstGeom prst="roundRect">
            <a:avLst>
              <a:gd name="adj" fmla="val 2105"/>
            </a:avLst>
          </a:prstGeom>
          <a:solidFill>
            <a:srgbClr val="FFFDF7"/>
          </a:solidFill>
          <a:ln w="12700">
            <a:solidFill>
              <a:srgbClr val="E6DBC9"/>
            </a:solidFill>
            <a:prstDash val="solid"/>
          </a:ln>
        </p:spPr>
      </p:sp>
      <p:sp>
        <p:nvSpPr>
          <p:cNvPr id="16" name="Text 14"/>
          <p:cNvSpPr/>
          <p:nvPr/>
        </p:nvSpPr>
        <p:spPr>
          <a:xfrm>
            <a:off x="4663440" y="2423160"/>
            <a:ext cx="6263640" cy="2240280"/>
          </a:xfrm>
          <a:prstGeom prst="rect">
            <a:avLst/>
          </a:prstGeom>
          <a:noFill/>
          <a:ln/>
        </p:spPr>
        <p:txBody>
          <a:bodyPr wrap="square" lIns="254" tIns="254" rIns="254" bIns="254" rtlCol="0" anchor="t">
            <a:normAutofit/>
          </a:bodyPr>
          <a:lstStyle/>
          <a:p>
            <a:pPr indent="0" marL="0">
              <a:buNone/>
            </a:pPr>
            <a:r>
              <a:rPr lang="en-US" sz="1246" dirty="0">
                <a:solidFill>
                  <a:srgbClr val="25231F"/>
                </a:solidFill>
                <a:latin typeface="Noto Sans Thai" pitchFamily="34" charset="0"/>
                <a:ea typeface="Noto Sans Thai" pitchFamily="34" charset="-122"/>
                <a:cs typeface="Noto Sans Thai" pitchFamily="34" charset="-120"/>
              </a:rPr>
              <a:t>สร้าง Mermaid Flowchart สำหรับอธิบายกระบวนการทำกิมจิตั้งแต่การเตรียมวัตถุดิบจนถึงการเก็บรักษา แสดงขั้นตอนย่อยอย่างชัดเจน และเพิ่ม Decision Point หลังการหมัก โดยถามว่า “รสชาติได้ตามต้องการหรือยัง?” ถ้ายังให้กลับไปหมักต่อ ถ้าได้แล้วให้นำไปแช่เย็น ใช้ข้อความภาษาไทยและออกแบบ Flowchart ให้อ่านง่ายสำหรับนักเรียน</a:t>
            </a:r>
            <a:endParaRPr lang="en-US" sz="1246" dirty="0"/>
          </a:p>
        </p:txBody>
      </p:sp>
      <p:sp>
        <p:nvSpPr>
          <p:cNvPr id="17" name="Text 15"/>
          <p:cNvSpPr/>
          <p:nvPr/>
        </p:nvSpPr>
        <p:spPr>
          <a:xfrm>
            <a:off x="4480560" y="5065776"/>
            <a:ext cx="6629400" cy="201168"/>
          </a:xfrm>
          <a:prstGeom prst="rect">
            <a:avLst/>
          </a:prstGeom>
          <a:noFill/>
          <a:ln/>
        </p:spPr>
        <p:txBody>
          <a:bodyPr wrap="square" lIns="0" tIns="0" rIns="0" bIns="0" rtlCol="0" anchor="ctr"/>
          <a:lstStyle/>
          <a:p>
            <a:pPr algn="ctr" indent="0" marL="0">
              <a:buNone/>
            </a:pPr>
            <a:r>
              <a:rPr lang="en-US" sz="930" dirty="0">
                <a:solidFill>
                  <a:srgbClr val="716B61"/>
                </a:solidFill>
                <a:latin typeface="Noto Sans Thai" pitchFamily="34" charset="0"/>
                <a:ea typeface="Noto Sans Thai" pitchFamily="34" charset="-122"/>
                <a:cs typeface="Noto Sans Thai" pitchFamily="34" charset="-120"/>
              </a:rPr>
              <a:t>หลักการ: เพิ่มบริบท + รูปแบบผลลัพธ์ + เงื่อนไขเฉพาะ + กลุ่มเป้าหมาย</a:t>
            </a:r>
            <a:endParaRPr lang="en-US" sz="930" dirty="0"/>
          </a:p>
        </p:txBody>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Process Diagram</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FEW-SHOT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ใหม่: Process Diagram</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ผลลัพธ์หลังปรับ prompt มีโครงสร้างตรงโจทย์และนำไปใช้ในงานได้ง่ายขึ้น</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mermaid.live</a:t>
            </a:r>
            <a:endParaRPr lang="en-US" sz="680" dirty="0"/>
          </a:p>
        </p:txBody>
      </p:sp>
      <p:sp>
        <p:nvSpPr>
          <p:cNvPr id="12" name="Shape 10"/>
          <p:cNvSpPr/>
          <p:nvPr/>
        </p:nvSpPr>
        <p:spPr>
          <a:xfrm>
            <a:off x="2459736" y="3273552"/>
            <a:ext cx="246888" cy="0"/>
          </a:xfrm>
          <a:prstGeom prst="line">
            <a:avLst/>
          </a:prstGeom>
          <a:noFill/>
          <a:ln w="25400">
            <a:solidFill>
              <a:srgbClr val="B7332F"/>
            </a:solidFill>
            <a:prstDash val="solid"/>
            <a:tailEnd type="triangle"/>
          </a:ln>
        </p:spPr>
      </p:sp>
      <p:sp>
        <p:nvSpPr>
          <p:cNvPr id="13" name="Shape 11"/>
          <p:cNvSpPr/>
          <p:nvPr/>
        </p:nvSpPr>
        <p:spPr>
          <a:xfrm>
            <a:off x="4197096" y="3273552"/>
            <a:ext cx="246888" cy="0"/>
          </a:xfrm>
          <a:prstGeom prst="line">
            <a:avLst/>
          </a:prstGeom>
          <a:noFill/>
          <a:ln w="25400">
            <a:solidFill>
              <a:srgbClr val="B7332F"/>
            </a:solidFill>
            <a:prstDash val="solid"/>
            <a:tailEnd type="triangle"/>
          </a:ln>
        </p:spPr>
      </p:sp>
      <p:sp>
        <p:nvSpPr>
          <p:cNvPr id="14" name="Shape 12"/>
          <p:cNvSpPr/>
          <p:nvPr/>
        </p:nvSpPr>
        <p:spPr>
          <a:xfrm>
            <a:off x="5934456" y="3273552"/>
            <a:ext cx="246888" cy="0"/>
          </a:xfrm>
          <a:prstGeom prst="line">
            <a:avLst/>
          </a:prstGeom>
          <a:noFill/>
          <a:ln w="25400">
            <a:solidFill>
              <a:srgbClr val="B7332F"/>
            </a:solidFill>
            <a:prstDash val="solid"/>
            <a:tailEnd type="triangle"/>
          </a:ln>
        </p:spPr>
      </p:sp>
      <p:sp>
        <p:nvSpPr>
          <p:cNvPr id="15" name="Shape 13"/>
          <p:cNvSpPr/>
          <p:nvPr/>
        </p:nvSpPr>
        <p:spPr>
          <a:xfrm>
            <a:off x="7671816" y="3273552"/>
            <a:ext cx="246888" cy="0"/>
          </a:xfrm>
          <a:prstGeom prst="line">
            <a:avLst/>
          </a:prstGeom>
          <a:noFill/>
          <a:ln w="25400">
            <a:solidFill>
              <a:srgbClr val="B7332F"/>
            </a:solidFill>
            <a:prstDash val="solid"/>
            <a:tailEnd type="triangle"/>
          </a:ln>
        </p:spPr>
      </p:sp>
      <p:sp>
        <p:nvSpPr>
          <p:cNvPr id="16" name="Shape 14"/>
          <p:cNvSpPr/>
          <p:nvPr/>
        </p:nvSpPr>
        <p:spPr>
          <a:xfrm>
            <a:off x="1005840" y="2926080"/>
            <a:ext cx="1417320" cy="685800"/>
          </a:xfrm>
          <a:prstGeom prst="roundRect">
            <a:avLst>
              <a:gd name="adj" fmla="val 9333"/>
            </a:avLst>
          </a:prstGeom>
          <a:solidFill>
            <a:srgbClr val="FFFFFF"/>
          </a:solidFill>
          <a:ln w="15240">
            <a:solidFill>
              <a:srgbClr val="B7332F"/>
            </a:solidFill>
            <a:prstDash val="solid"/>
          </a:ln>
        </p:spPr>
      </p:sp>
      <p:sp>
        <p:nvSpPr>
          <p:cNvPr id="17" name="Text 15"/>
          <p:cNvSpPr/>
          <p:nvPr/>
        </p:nvSpPr>
        <p:spPr>
          <a:xfrm>
            <a:off x="1097280" y="3090672"/>
            <a:ext cx="1234440" cy="228600"/>
          </a:xfrm>
          <a:prstGeom prst="rect">
            <a:avLst/>
          </a:prstGeom>
          <a:noFill/>
          <a:ln/>
        </p:spPr>
        <p:txBody>
          <a:bodyPr wrap="square" lIns="0" tIns="0" rIns="0" bIns="0" rtlCol="0" anchor="ctr">
            <a:normAutofit/>
          </a:bodyPr>
          <a:lstStyle/>
          <a:p>
            <a:pPr algn="ctr" indent="0" marL="0">
              <a:buNone/>
            </a:pPr>
            <a:r>
              <a:rPr lang="en-US" sz="1000" b="1" dirty="0">
                <a:solidFill>
                  <a:srgbClr val="25231F"/>
                </a:solidFill>
                <a:latin typeface="Noto Sans Thai" pitchFamily="34" charset="0"/>
                <a:ea typeface="Noto Sans Thai" pitchFamily="34" charset="-122"/>
                <a:cs typeface="Noto Sans Thai" pitchFamily="34" charset="-120"/>
              </a:rPr>
              <a:t>เตรียมวัตถุดิบ</a:t>
            </a:r>
            <a:endParaRPr lang="en-US" sz="1000" dirty="0"/>
          </a:p>
        </p:txBody>
      </p:sp>
      <p:sp>
        <p:nvSpPr>
          <p:cNvPr id="18" name="Shape 16"/>
          <p:cNvSpPr/>
          <p:nvPr/>
        </p:nvSpPr>
        <p:spPr>
          <a:xfrm>
            <a:off x="2743200" y="2926080"/>
            <a:ext cx="1417320" cy="685800"/>
          </a:xfrm>
          <a:prstGeom prst="roundRect">
            <a:avLst>
              <a:gd name="adj" fmla="val 9333"/>
            </a:avLst>
          </a:prstGeom>
          <a:solidFill>
            <a:srgbClr val="FFF7EC"/>
          </a:solidFill>
          <a:ln w="15240">
            <a:solidFill>
              <a:srgbClr val="B7332F"/>
            </a:solidFill>
            <a:prstDash val="solid"/>
          </a:ln>
        </p:spPr>
      </p:sp>
      <p:sp>
        <p:nvSpPr>
          <p:cNvPr id="19" name="Text 17"/>
          <p:cNvSpPr/>
          <p:nvPr/>
        </p:nvSpPr>
        <p:spPr>
          <a:xfrm>
            <a:off x="2834640" y="3090672"/>
            <a:ext cx="1234440" cy="228600"/>
          </a:xfrm>
          <a:prstGeom prst="rect">
            <a:avLst/>
          </a:prstGeom>
          <a:noFill/>
          <a:ln/>
        </p:spPr>
        <p:txBody>
          <a:bodyPr wrap="square" lIns="0" tIns="0" rIns="0" bIns="0" rtlCol="0" anchor="ctr">
            <a:normAutofit/>
          </a:bodyPr>
          <a:lstStyle/>
          <a:p>
            <a:pPr algn="ctr" indent="0" marL="0">
              <a:buNone/>
            </a:pPr>
            <a:r>
              <a:rPr lang="en-US" sz="1000" b="1" dirty="0">
                <a:solidFill>
                  <a:srgbClr val="25231F"/>
                </a:solidFill>
                <a:latin typeface="Noto Sans Thai" pitchFamily="34" charset="0"/>
                <a:ea typeface="Noto Sans Thai" pitchFamily="34" charset="-122"/>
                <a:cs typeface="Noto Sans Thai" pitchFamily="34" charset="-120"/>
              </a:rPr>
              <a:t>หมักเกลือ</a:t>
            </a:r>
            <a:endParaRPr lang="en-US" sz="1000" dirty="0"/>
          </a:p>
        </p:txBody>
      </p:sp>
      <p:sp>
        <p:nvSpPr>
          <p:cNvPr id="20" name="Shape 18"/>
          <p:cNvSpPr/>
          <p:nvPr/>
        </p:nvSpPr>
        <p:spPr>
          <a:xfrm>
            <a:off x="4480560" y="2926080"/>
            <a:ext cx="1417320" cy="685800"/>
          </a:xfrm>
          <a:prstGeom prst="roundRect">
            <a:avLst>
              <a:gd name="adj" fmla="val 9333"/>
            </a:avLst>
          </a:prstGeom>
          <a:solidFill>
            <a:srgbClr val="FFFFFF"/>
          </a:solidFill>
          <a:ln w="15240">
            <a:solidFill>
              <a:srgbClr val="B7332F"/>
            </a:solidFill>
            <a:prstDash val="solid"/>
          </a:ln>
        </p:spPr>
      </p:sp>
      <p:sp>
        <p:nvSpPr>
          <p:cNvPr id="21" name="Text 19"/>
          <p:cNvSpPr/>
          <p:nvPr/>
        </p:nvSpPr>
        <p:spPr>
          <a:xfrm>
            <a:off x="4572000" y="3090672"/>
            <a:ext cx="1234440" cy="228600"/>
          </a:xfrm>
          <a:prstGeom prst="rect">
            <a:avLst/>
          </a:prstGeom>
          <a:noFill/>
          <a:ln/>
        </p:spPr>
        <p:txBody>
          <a:bodyPr wrap="square" lIns="0" tIns="0" rIns="0" bIns="0" rtlCol="0" anchor="ctr">
            <a:normAutofit/>
          </a:bodyPr>
          <a:lstStyle/>
          <a:p>
            <a:pPr algn="ctr" indent="0" marL="0">
              <a:buNone/>
            </a:pPr>
            <a:r>
              <a:rPr lang="en-US" sz="1000" b="1" dirty="0">
                <a:solidFill>
                  <a:srgbClr val="25231F"/>
                </a:solidFill>
                <a:latin typeface="Noto Sans Thai" pitchFamily="34" charset="0"/>
                <a:ea typeface="Noto Sans Thai" pitchFamily="34" charset="-122"/>
                <a:cs typeface="Noto Sans Thai" pitchFamily="34" charset="-120"/>
              </a:rPr>
              <a:t>เตรียมซอส</a:t>
            </a:r>
            <a:endParaRPr lang="en-US" sz="1000" dirty="0"/>
          </a:p>
        </p:txBody>
      </p:sp>
      <p:sp>
        <p:nvSpPr>
          <p:cNvPr id="22" name="Shape 20"/>
          <p:cNvSpPr/>
          <p:nvPr/>
        </p:nvSpPr>
        <p:spPr>
          <a:xfrm>
            <a:off x="6217920" y="2926080"/>
            <a:ext cx="1417320" cy="685800"/>
          </a:xfrm>
          <a:prstGeom prst="roundRect">
            <a:avLst>
              <a:gd name="adj" fmla="val 9333"/>
            </a:avLst>
          </a:prstGeom>
          <a:solidFill>
            <a:srgbClr val="FFF7EC"/>
          </a:solidFill>
          <a:ln w="15240">
            <a:solidFill>
              <a:srgbClr val="B7332F"/>
            </a:solidFill>
            <a:prstDash val="solid"/>
          </a:ln>
        </p:spPr>
      </p:sp>
      <p:sp>
        <p:nvSpPr>
          <p:cNvPr id="23" name="Text 21"/>
          <p:cNvSpPr/>
          <p:nvPr/>
        </p:nvSpPr>
        <p:spPr>
          <a:xfrm>
            <a:off x="6309360" y="3090672"/>
            <a:ext cx="1234440" cy="228600"/>
          </a:xfrm>
          <a:prstGeom prst="rect">
            <a:avLst/>
          </a:prstGeom>
          <a:noFill/>
          <a:ln/>
        </p:spPr>
        <p:txBody>
          <a:bodyPr wrap="square" lIns="0" tIns="0" rIns="0" bIns="0" rtlCol="0" anchor="ctr">
            <a:normAutofit/>
          </a:bodyPr>
          <a:lstStyle/>
          <a:p>
            <a:pPr algn="ctr" indent="0" marL="0">
              <a:buNone/>
            </a:pPr>
            <a:r>
              <a:rPr lang="en-US" sz="1000" b="1" dirty="0">
                <a:solidFill>
                  <a:srgbClr val="25231F"/>
                </a:solidFill>
                <a:latin typeface="Noto Sans Thai" pitchFamily="34" charset="0"/>
                <a:ea typeface="Noto Sans Thai" pitchFamily="34" charset="-122"/>
                <a:cs typeface="Noto Sans Thai" pitchFamily="34" charset="-120"/>
              </a:rPr>
              <a:t>คลุกส่วนผสม</a:t>
            </a:r>
            <a:endParaRPr lang="en-US" sz="1000" dirty="0"/>
          </a:p>
        </p:txBody>
      </p:sp>
      <p:sp>
        <p:nvSpPr>
          <p:cNvPr id="24" name="Shape 22"/>
          <p:cNvSpPr/>
          <p:nvPr/>
        </p:nvSpPr>
        <p:spPr>
          <a:xfrm>
            <a:off x="7955280" y="2926080"/>
            <a:ext cx="1417320" cy="685800"/>
          </a:xfrm>
          <a:prstGeom prst="roundRect">
            <a:avLst>
              <a:gd name="adj" fmla="val 9333"/>
            </a:avLst>
          </a:prstGeom>
          <a:solidFill>
            <a:srgbClr val="FFFFFF"/>
          </a:solidFill>
          <a:ln w="15240">
            <a:solidFill>
              <a:srgbClr val="B7332F"/>
            </a:solidFill>
            <a:prstDash val="solid"/>
          </a:ln>
        </p:spPr>
      </p:sp>
      <p:sp>
        <p:nvSpPr>
          <p:cNvPr id="25" name="Text 23"/>
          <p:cNvSpPr/>
          <p:nvPr/>
        </p:nvSpPr>
        <p:spPr>
          <a:xfrm>
            <a:off x="8046720" y="3090672"/>
            <a:ext cx="1234440" cy="228600"/>
          </a:xfrm>
          <a:prstGeom prst="rect">
            <a:avLst/>
          </a:prstGeom>
          <a:noFill/>
          <a:ln/>
        </p:spPr>
        <p:txBody>
          <a:bodyPr wrap="square" lIns="0" tIns="0" rIns="0" bIns="0" rtlCol="0" anchor="ctr">
            <a:normAutofit/>
          </a:bodyPr>
          <a:lstStyle/>
          <a:p>
            <a:pPr algn="ctr" indent="0" marL="0">
              <a:buNone/>
            </a:pPr>
            <a:r>
              <a:rPr lang="en-US" sz="1000" b="1" dirty="0">
                <a:solidFill>
                  <a:srgbClr val="25231F"/>
                </a:solidFill>
                <a:latin typeface="Noto Sans Thai" pitchFamily="34" charset="0"/>
                <a:ea typeface="Noto Sans Thai" pitchFamily="34" charset="-122"/>
                <a:cs typeface="Noto Sans Thai" pitchFamily="34" charset="-120"/>
              </a:rPr>
              <a:t>บรรจุเพื่อหมัก</a:t>
            </a:r>
            <a:endParaRPr lang="en-US" sz="1000" dirty="0"/>
          </a:p>
        </p:txBody>
      </p:sp>
      <p:sp>
        <p:nvSpPr>
          <p:cNvPr id="26" name="Shape 24"/>
          <p:cNvSpPr/>
          <p:nvPr/>
        </p:nvSpPr>
        <p:spPr>
          <a:xfrm>
            <a:off x="9418320" y="3273552"/>
            <a:ext cx="384048" cy="0"/>
          </a:xfrm>
          <a:prstGeom prst="line">
            <a:avLst/>
          </a:prstGeom>
          <a:noFill/>
          <a:ln w="25400">
            <a:solidFill>
              <a:srgbClr val="426C43"/>
            </a:solidFill>
            <a:prstDash val="solid"/>
            <a:tailEnd type="triangle"/>
          </a:ln>
        </p:spPr>
      </p:sp>
      <p:sp>
        <p:nvSpPr>
          <p:cNvPr id="27" name="Shape 25"/>
          <p:cNvSpPr/>
          <p:nvPr/>
        </p:nvSpPr>
        <p:spPr>
          <a:xfrm>
            <a:off x="9921240" y="2606040"/>
            <a:ext cx="1188720" cy="1188720"/>
          </a:xfrm>
          <a:prstGeom prst="diamond">
            <a:avLst/>
          </a:prstGeom>
          <a:solidFill>
            <a:srgbClr val="FFF2C8"/>
          </a:solidFill>
          <a:ln w="15240">
            <a:solidFill>
              <a:srgbClr val="D8B646"/>
            </a:solidFill>
            <a:prstDash val="solid"/>
          </a:ln>
        </p:spPr>
      </p:sp>
      <p:sp>
        <p:nvSpPr>
          <p:cNvPr id="28" name="Text 26"/>
          <p:cNvSpPr/>
          <p:nvPr/>
        </p:nvSpPr>
        <p:spPr>
          <a:xfrm>
            <a:off x="9994392" y="2953512"/>
            <a:ext cx="1024128" cy="329184"/>
          </a:xfrm>
          <a:prstGeom prst="rect">
            <a:avLst/>
          </a:prstGeom>
          <a:noFill/>
          <a:ln/>
        </p:spPr>
        <p:txBody>
          <a:bodyPr wrap="square" lIns="0" tIns="0" rIns="0" bIns="0" rtlCol="0" anchor="ctr">
            <a:normAutofit/>
          </a:bodyPr>
          <a:lstStyle/>
          <a:p>
            <a:pPr algn="ctr" indent="0" marL="0">
              <a:buNone/>
            </a:pPr>
            <a:r>
              <a:rPr lang="en-US" sz="850" b="1" dirty="0">
                <a:solidFill>
                  <a:srgbClr val="25231F"/>
                </a:solidFill>
                <a:latin typeface="Noto Sans Thai" pitchFamily="34" charset="0"/>
                <a:ea typeface="Noto Sans Thai" pitchFamily="34" charset="-122"/>
                <a:cs typeface="Noto Sans Thai" pitchFamily="34" charset="-120"/>
              </a:rPr>
              <a:t>รสชาติ</a:t>
            </a:r>
            <a:endParaRPr lang="en-US" sz="850" dirty="0"/>
          </a:p>
          <a:p>
            <a:pPr algn="ctr" indent="0" marL="0">
              <a:buNone/>
            </a:pPr>
            <a:r>
              <a:rPr lang="en-US" sz="850" b="1" dirty="0">
                <a:solidFill>
                  <a:srgbClr val="25231F"/>
                </a:solidFill>
                <a:latin typeface="Noto Sans Thai" pitchFamily="34" charset="0"/>
                <a:ea typeface="Noto Sans Thai" pitchFamily="34" charset="-122"/>
                <a:cs typeface="Noto Sans Thai" pitchFamily="34" charset="-120"/>
              </a:rPr>
              <a:t>ได้หรือยัง?</a:t>
            </a:r>
            <a:endParaRPr lang="en-US" sz="850" dirty="0"/>
          </a:p>
        </p:txBody>
      </p:sp>
      <p:sp>
        <p:nvSpPr>
          <p:cNvPr id="29" name="Shape 27"/>
          <p:cNvSpPr/>
          <p:nvPr/>
        </p:nvSpPr>
        <p:spPr>
          <a:xfrm>
            <a:off x="10515600" y="3794760"/>
            <a:ext cx="0" cy="502920"/>
          </a:xfrm>
          <a:prstGeom prst="line">
            <a:avLst/>
          </a:prstGeom>
          <a:noFill/>
          <a:ln w="25400">
            <a:solidFill>
              <a:srgbClr val="426C43"/>
            </a:solidFill>
            <a:prstDash val="solid"/>
            <a:tailEnd type="triangle"/>
          </a:ln>
        </p:spPr>
      </p:sp>
      <p:sp>
        <p:nvSpPr>
          <p:cNvPr id="30" name="Shape 28"/>
          <p:cNvSpPr/>
          <p:nvPr/>
        </p:nvSpPr>
        <p:spPr>
          <a:xfrm>
            <a:off x="9829800" y="4343400"/>
            <a:ext cx="1371600" cy="502920"/>
          </a:xfrm>
          <a:prstGeom prst="roundRect">
            <a:avLst>
              <a:gd name="adj" fmla="val 10909"/>
            </a:avLst>
          </a:prstGeom>
          <a:solidFill>
            <a:srgbClr val="E9F4E4"/>
          </a:solidFill>
          <a:ln w="15240">
            <a:solidFill>
              <a:srgbClr val="426C43"/>
            </a:solidFill>
            <a:prstDash val="solid"/>
          </a:ln>
        </p:spPr>
      </p:sp>
      <p:sp>
        <p:nvSpPr>
          <p:cNvPr id="31" name="Text 29"/>
          <p:cNvSpPr/>
          <p:nvPr/>
        </p:nvSpPr>
        <p:spPr>
          <a:xfrm>
            <a:off x="9966960" y="4507992"/>
            <a:ext cx="1097280" cy="109728"/>
          </a:xfrm>
          <a:prstGeom prst="rect">
            <a:avLst/>
          </a:prstGeom>
          <a:noFill/>
          <a:ln/>
        </p:spPr>
        <p:txBody>
          <a:bodyPr wrap="square" lIns="0" tIns="0" rIns="0" bIns="0" rtlCol="0" anchor="ctr"/>
          <a:lstStyle/>
          <a:p>
            <a:pPr algn="ctr" indent="0" marL="0">
              <a:buNone/>
            </a:pPr>
            <a:r>
              <a:rPr lang="en-US" sz="950" b="1" dirty="0">
                <a:solidFill>
                  <a:srgbClr val="426C43"/>
                </a:solidFill>
                <a:latin typeface="Noto Sans Thai" pitchFamily="34" charset="0"/>
                <a:ea typeface="Noto Sans Thai" pitchFamily="34" charset="-122"/>
                <a:cs typeface="Noto Sans Thai" pitchFamily="34" charset="-120"/>
              </a:rPr>
              <a:t>แช่เย็น</a:t>
            </a:r>
            <a:endParaRPr lang="en-US" sz="950" dirty="0"/>
          </a:p>
        </p:txBody>
      </p:sp>
      <p:sp>
        <p:nvSpPr>
          <p:cNvPr id="32" name="Text 30"/>
          <p:cNvSpPr/>
          <p:nvPr/>
        </p:nvSpPr>
        <p:spPr>
          <a:xfrm>
            <a:off x="8503920" y="2176272"/>
            <a:ext cx="1371600" cy="182880"/>
          </a:xfrm>
          <a:prstGeom prst="rect">
            <a:avLst/>
          </a:prstGeom>
          <a:noFill/>
          <a:ln/>
        </p:spPr>
        <p:txBody>
          <a:bodyPr wrap="square" lIns="0" tIns="0" rIns="0" bIns="0" rtlCol="0" anchor="ctr"/>
          <a:lstStyle/>
          <a:p>
            <a:pPr indent="0" marL="0">
              <a:buNone/>
            </a:pPr>
            <a:r>
              <a:rPr lang="en-US" sz="850" dirty="0">
                <a:solidFill>
                  <a:srgbClr val="7F211F"/>
                </a:solidFill>
                <a:latin typeface="Noto Sans Thai" pitchFamily="34" charset="0"/>
                <a:ea typeface="Noto Sans Thai" pitchFamily="34" charset="-122"/>
                <a:cs typeface="Noto Sans Thai" pitchFamily="34" charset="-120"/>
              </a:rPr>
              <a:t>ยัง → หมักต่อ</a:t>
            </a:r>
            <a:endParaRPr lang="en-US" sz="850" dirty="0"/>
          </a:p>
        </p:txBody>
      </p:sp>
      <p:sp>
        <p:nvSpPr>
          <p:cNvPr id="33" name="Text 31"/>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34" name="Text 32"/>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Process Diagram</a:t>
            </a:r>
            <a:endParaRPr lang="en-US" sz="850" dirty="0"/>
          </a:p>
        </p:txBody>
      </p:sp>
      <p:sp>
        <p:nvSpPr>
          <p:cNvPr id="35" name="Text 33"/>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REFLECTION</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สิ่งที่ได้เรียนรู้จาก Zero-shot → Few-shot</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Process Diagram</a:t>
            </a:r>
            <a:endParaRPr lang="en-US" sz="980" dirty="0"/>
          </a:p>
        </p:txBody>
      </p:sp>
      <p:sp>
        <p:nvSpPr>
          <p:cNvPr id="7" name="Shape 5"/>
          <p:cNvSpPr/>
          <p:nvPr/>
        </p:nvSpPr>
        <p:spPr>
          <a:xfrm>
            <a:off x="73152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32688" y="2084832"/>
            <a:ext cx="3118104" cy="256032"/>
          </a:xfrm>
          <a:prstGeom prst="rect">
            <a:avLst/>
          </a:prstGeom>
          <a:noFill/>
          <a:ln/>
        </p:spPr>
        <p:txBody>
          <a:bodyPr wrap="square" lIns="0" tIns="0" rIns="0" bIns="0" rtlCol="0" anchor="ctr"/>
          <a:lstStyle/>
          <a:p>
            <a:pPr indent="0" marL="0">
              <a:buNone/>
            </a:pPr>
            <a:r>
              <a:rPr lang="en-US" sz="1300" b="1" dirty="0">
                <a:solidFill>
                  <a:srgbClr val="B7332F"/>
                </a:solidFill>
                <a:latin typeface="Noto Sans Thai" pitchFamily="34" charset="0"/>
                <a:ea typeface="Noto Sans Thai" pitchFamily="34" charset="-122"/>
                <a:cs typeface="Noto Sans Thai" pitchFamily="34" charset="-120"/>
              </a:rPr>
              <a:t>ผลลัพธ์จาก Zero-shot</a:t>
            </a:r>
            <a:endParaRPr lang="en-US" sz="1300" dirty="0"/>
          </a:p>
        </p:txBody>
      </p:sp>
      <p:sp>
        <p:nvSpPr>
          <p:cNvPr id="9" name="Text 7"/>
          <p:cNvSpPr/>
          <p:nvPr/>
        </p:nvSpPr>
        <p:spPr>
          <a:xfrm>
            <a:off x="93268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ได้แผนภาพง่าย แต่ยังขาดขั้นตอนย่อยและจุดตัดสินใจ</a:t>
            </a:r>
            <a:endParaRPr lang="en-US" sz="1080" dirty="0"/>
          </a:p>
        </p:txBody>
      </p:sp>
      <p:sp>
        <p:nvSpPr>
          <p:cNvPr id="10" name="Shape 8"/>
          <p:cNvSpPr/>
          <p:nvPr/>
        </p:nvSpPr>
        <p:spPr>
          <a:xfrm>
            <a:off x="434340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1" name="Text 9"/>
          <p:cNvSpPr/>
          <p:nvPr/>
        </p:nvSpPr>
        <p:spPr>
          <a:xfrm>
            <a:off x="4544568" y="2084832"/>
            <a:ext cx="311810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ผลลัพธ์จาก Few-shot</a:t>
            </a:r>
            <a:endParaRPr lang="en-US" sz="1300" dirty="0"/>
          </a:p>
        </p:txBody>
      </p:sp>
      <p:sp>
        <p:nvSpPr>
          <p:cNvPr id="12" name="Text 10"/>
          <p:cNvSpPr/>
          <p:nvPr/>
        </p:nvSpPr>
        <p:spPr>
          <a:xfrm>
            <a:off x="454456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เพิ่ม Decision Point ทำให้ Flowchart ใช้สอนกระบวนการได้ชัด</a:t>
            </a:r>
            <a:endParaRPr lang="en-US" sz="1080" dirty="0"/>
          </a:p>
        </p:txBody>
      </p:sp>
      <p:sp>
        <p:nvSpPr>
          <p:cNvPr id="13" name="Shape 11"/>
          <p:cNvSpPr/>
          <p:nvPr/>
        </p:nvSpPr>
        <p:spPr>
          <a:xfrm>
            <a:off x="795528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4" name="Text 12"/>
          <p:cNvSpPr/>
          <p:nvPr/>
        </p:nvSpPr>
        <p:spPr>
          <a:xfrm>
            <a:off x="8156448" y="2084832"/>
            <a:ext cx="3118104" cy="256032"/>
          </a:xfrm>
          <a:prstGeom prst="rect">
            <a:avLst/>
          </a:prstGeom>
          <a:noFill/>
          <a:ln/>
        </p:spPr>
        <p:txBody>
          <a:bodyPr wrap="square" lIns="0" tIns="0" rIns="0" bIns="0" rtlCol="0" anchor="ctr"/>
          <a:lstStyle/>
          <a:p>
            <a:pPr indent="0" marL="0">
              <a:buNone/>
            </a:pPr>
            <a:r>
              <a:rPr lang="en-US" sz="1300" b="1" dirty="0">
                <a:solidFill>
                  <a:srgbClr val="7F211F"/>
                </a:solidFill>
                <a:latin typeface="Noto Sans Thai" pitchFamily="34" charset="0"/>
                <a:ea typeface="Noto Sans Thai" pitchFamily="34" charset="-122"/>
                <a:cs typeface="Noto Sans Thai" pitchFamily="34" charset="-120"/>
              </a:rPr>
              <a:t>บทเรียนสำคัญ</a:t>
            </a:r>
            <a:endParaRPr lang="en-US" sz="1300" dirty="0"/>
          </a:p>
        </p:txBody>
      </p:sp>
      <p:sp>
        <p:nvSpPr>
          <p:cNvPr id="15" name="Text 13"/>
          <p:cNvSpPr/>
          <p:nvPr/>
        </p:nvSpPr>
        <p:spPr>
          <a:xfrm>
            <a:off x="815644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Diagram ที่ดีควรมีทั้งลำดับงานและจุดตัดสินใจที่เห็นเส้นทางชัดเจน</a:t>
            </a:r>
            <a:endParaRPr lang="en-US" sz="1080" dirty="0"/>
          </a:p>
        </p:txBody>
      </p:sp>
      <p:sp>
        <p:nvSpPr>
          <p:cNvPr id="16" name="Shape 14"/>
          <p:cNvSpPr/>
          <p:nvPr/>
        </p:nvSpPr>
        <p:spPr>
          <a:xfrm>
            <a:off x="3977640" y="3337560"/>
            <a:ext cx="594360" cy="0"/>
          </a:xfrm>
          <a:prstGeom prst="line">
            <a:avLst/>
          </a:prstGeom>
          <a:noFill/>
          <a:ln w="25400">
            <a:solidFill>
              <a:srgbClr val="B7332F"/>
            </a:solidFill>
            <a:prstDash val="solid"/>
            <a:tailEnd type="triangle"/>
          </a:ln>
        </p:spPr>
      </p:sp>
      <p:sp>
        <p:nvSpPr>
          <p:cNvPr id="17" name="Shape 15"/>
          <p:cNvSpPr/>
          <p:nvPr/>
        </p:nvSpPr>
        <p:spPr>
          <a:xfrm>
            <a:off x="7589520" y="3337560"/>
            <a:ext cx="594360" cy="0"/>
          </a:xfrm>
          <a:prstGeom prst="line">
            <a:avLst/>
          </a:prstGeom>
          <a:noFill/>
          <a:ln w="25400">
            <a:solidFill>
              <a:srgbClr val="426C43"/>
            </a:solidFill>
            <a:prstDash val="solid"/>
            <a:tailEnd type="triangle"/>
          </a:ln>
        </p:spPr>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Process Diagram</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94360" y="502920"/>
            <a:ext cx="4114800" cy="228600"/>
          </a:xfrm>
          <a:prstGeom prst="rect">
            <a:avLst/>
          </a:prstGeom>
          <a:noFill/>
          <a:ln/>
        </p:spPr>
        <p:txBody>
          <a:bodyPr wrap="square" lIns="0" tIns="0" rIns="0" bIns="0" rtlCol="0" anchor="ctr"/>
          <a:lstStyle/>
          <a:p>
            <a:pPr indent="0" marL="0">
              <a:buNone/>
            </a:pPr>
            <a:r>
              <a:rPr lang="en-US" sz="1200" b="1" dirty="0">
                <a:solidFill>
                  <a:srgbClr val="B7332F"/>
                </a:solidFill>
                <a:latin typeface="Noto Sans Thai" pitchFamily="34" charset="0"/>
                <a:ea typeface="Noto Sans Thai" pitchFamily="34" charset="-122"/>
                <a:cs typeface="Noto Sans Thai" pitchFamily="34" charset="-120"/>
              </a:rPr>
              <a:t>Kimchi AI Learning Project</a:t>
            </a:r>
            <a:endParaRPr lang="en-US" sz="1200" dirty="0"/>
          </a:p>
        </p:txBody>
      </p:sp>
      <p:sp>
        <p:nvSpPr>
          <p:cNvPr id="5" name="Text 3"/>
          <p:cNvSpPr/>
          <p:nvPr/>
        </p:nvSpPr>
        <p:spPr>
          <a:xfrm>
            <a:off x="594360" y="987552"/>
            <a:ext cx="6858000" cy="1097280"/>
          </a:xfrm>
          <a:prstGeom prst="rect">
            <a:avLst/>
          </a:prstGeom>
          <a:noFill/>
          <a:ln/>
        </p:spPr>
        <p:txBody>
          <a:bodyPr wrap="square" lIns="0" tIns="0" rIns="0" bIns="0" rtlCol="0" anchor="ctr">
            <a:normAutofit/>
          </a:bodyPr>
          <a:lstStyle/>
          <a:p>
            <a:pPr indent="0" marL="0">
              <a:buNone/>
            </a:pPr>
            <a:r>
              <a:rPr lang="en-US" sz="3300" b="1" dirty="0">
                <a:solidFill>
                  <a:srgbClr val="25231F"/>
                </a:solidFill>
                <a:latin typeface="Noto Sans Thai" pitchFamily="34" charset="0"/>
                <a:ea typeface="Noto Sans Thai" pitchFamily="34" charset="-122"/>
                <a:cs typeface="Noto Sans Thai" pitchFamily="34" charset="-120"/>
              </a:rPr>
              <a:t>LaTeX Article</a:t>
            </a:r>
            <a:endParaRPr lang="en-US" sz="3300" dirty="0"/>
          </a:p>
        </p:txBody>
      </p:sp>
      <p:sp>
        <p:nvSpPr>
          <p:cNvPr id="6" name="Text 4"/>
          <p:cNvSpPr/>
          <p:nvPr/>
        </p:nvSpPr>
        <p:spPr>
          <a:xfrm>
            <a:off x="640080" y="2130552"/>
            <a:ext cx="2468880" cy="256032"/>
          </a:xfrm>
          <a:prstGeom prst="rect">
            <a:avLst/>
          </a:prstGeom>
          <a:noFill/>
          <a:ln/>
        </p:spPr>
        <p:txBody>
          <a:bodyPr wrap="square" lIns="0" tIns="0" rIns="0" bIns="0" rtlCol="0" anchor="ct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หัวข้อการเรียนรู้ที่ 4</a:t>
            </a:r>
            <a:endParaRPr lang="en-US" sz="1050" dirty="0"/>
          </a:p>
        </p:txBody>
      </p:sp>
      <p:sp>
        <p:nvSpPr>
          <p:cNvPr id="7" name="Shape 5"/>
          <p:cNvSpPr/>
          <p:nvPr/>
        </p:nvSpPr>
        <p:spPr>
          <a:xfrm>
            <a:off x="621792" y="2514600"/>
            <a:ext cx="2926080" cy="320040"/>
          </a:xfrm>
          <a:prstGeom prst="roundRect">
            <a:avLst>
              <a:gd name="adj" fmla="val 22857"/>
            </a:avLst>
          </a:prstGeom>
          <a:solidFill>
            <a:srgbClr val="B7332F"/>
          </a:solidFill>
          <a:ln w="12700">
            <a:solidFill>
              <a:srgbClr val="B7332F"/>
            </a:solidFill>
            <a:prstDash val="solid"/>
          </a:ln>
        </p:spPr>
      </p:sp>
      <p:sp>
        <p:nvSpPr>
          <p:cNvPr id="8" name="Text 6"/>
          <p:cNvSpPr/>
          <p:nvPr/>
        </p:nvSpPr>
        <p:spPr>
          <a:xfrm>
            <a:off x="713232" y="2578608"/>
            <a:ext cx="2743200" cy="137160"/>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Thai" pitchFamily="34" charset="0"/>
                <a:ea typeface="Noto Sans Thai" pitchFamily="34" charset="-122"/>
                <a:cs typeface="Noto Sans Thai" pitchFamily="34" charset="-120"/>
              </a:rPr>
              <a:t>บทความ Overleaf</a:t>
            </a:r>
            <a:endParaRPr lang="en-US" sz="850" dirty="0"/>
          </a:p>
        </p:txBody>
      </p:sp>
      <p:sp>
        <p:nvSpPr>
          <p:cNvPr id="9" name="Text 7"/>
          <p:cNvSpPr/>
          <p:nvPr/>
        </p:nvSpPr>
        <p:spPr>
          <a:xfrm>
            <a:off x="685800" y="3154680"/>
            <a:ext cx="4389120" cy="274320"/>
          </a:xfrm>
          <a:prstGeom prst="rect">
            <a:avLst/>
          </a:prstGeom>
          <a:noFill/>
          <a:ln/>
        </p:spPr>
        <p:txBody>
          <a:bodyPr wrap="square" lIns="0" tIns="0" rIns="0" bIns="0" rtlCol="0" anchor="ctr"/>
          <a:lstStyle/>
          <a:p>
            <a:pPr indent="0" marL="0">
              <a:buNone/>
            </a:pPr>
            <a:r>
              <a:rPr lang="en-US" sz="1500" b="1" dirty="0">
                <a:solidFill>
                  <a:srgbClr val="7F211F"/>
                </a:solidFill>
                <a:latin typeface="Noto Sans Thai" pitchFamily="34" charset="0"/>
                <a:ea typeface="Noto Sans Thai" pitchFamily="34" charset="-122"/>
                <a:cs typeface="Noto Sans Thai" pitchFamily="34" charset="-120"/>
              </a:rPr>
              <a:t>สิ่งที่จะใส่ในสไลด์ 6 หน้า</a:t>
            </a:r>
            <a:endParaRPr lang="en-US" sz="1500" dirty="0"/>
          </a:p>
        </p:txBody>
      </p:sp>
      <p:sp>
        <p:nvSpPr>
          <p:cNvPr id="10" name="Text 8"/>
          <p:cNvSpPr/>
          <p:nvPr/>
        </p:nvSpPr>
        <p:spPr>
          <a:xfrm>
            <a:off x="731520" y="3566160"/>
            <a:ext cx="5486400" cy="2011680"/>
          </a:xfrm>
          <a:prstGeom prst="rect">
            <a:avLst/>
          </a:prstGeom>
          <a:noFill/>
          <a:ln/>
        </p:spPr>
        <p:txBody>
          <a:bodyPr wrap="square" lIns="254" tIns="254" rIns="254" bIns="254" rtlCol="0" anchor="ctr">
            <a:normAutofit/>
          </a:bodyPr>
          <a:lstStyle/>
          <a:p>
            <a:pPr indent="0" marL="0">
              <a:buNone/>
            </a:pPr>
            <a:r>
              <a:rPr lang="en-US" sz="1400" dirty="0">
                <a:solidFill>
                  <a:srgbClr val="25231F"/>
                </a:solidFill>
                <a:latin typeface="Noto Sans Thai" pitchFamily="34" charset="0"/>
                <a:ea typeface="Noto Sans Thai" pitchFamily="34" charset="-122"/>
                <a:cs typeface="Noto Sans Thai" pitchFamily="34" charset="-120"/>
              </a:rPr>
              <a:t>1. สร้างบทความ LaTeX ภาษาไทย</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2. เพิ่มโครงสร้างแบบรายงาน</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3. ใส่สมการ ตาราง และพื้นที่ภาพ</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4. ทำไฟล์ PDF สำหรับเปิด/ดาวน์โหลด</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5. สรุปการใช้ XeLaTeX</a:t>
            </a:r>
            <a:endParaRPr lang="en-US" sz="1400" dirty="0"/>
          </a:p>
        </p:txBody>
      </p:sp>
      <p:sp>
        <p:nvSpPr>
          <p:cNvPr id="11" name="Shape 9"/>
          <p:cNvSpPr/>
          <p:nvPr/>
        </p:nvSpPr>
        <p:spPr>
          <a:xfrm>
            <a:off x="7452360" y="1051560"/>
            <a:ext cx="3886200" cy="4526280"/>
          </a:xfrm>
          <a:prstGeom prst="roundRect">
            <a:avLst>
              <a:gd name="adj" fmla="val 2353"/>
            </a:avLst>
          </a:prstGeom>
          <a:solidFill>
            <a:srgbClr val="FFF7EC"/>
          </a:solidFill>
          <a:ln w="12700">
            <a:solidFill>
              <a:srgbClr val="E8DFD1"/>
            </a:solidFill>
            <a:prstDash val="solid"/>
          </a:ln>
          <a:effectLst>
            <a:outerShdw sx="100000" sy="100000" kx="0" ky="0" algn="bl" rotWithShape="0" blurRad="38100" dist="12700" dir="2700000">
              <a:srgbClr val="000000">
                <a:alpha val="12000"/>
              </a:srgbClr>
            </a:outerShdw>
          </a:effectLst>
        </p:spPr>
      </p:sp>
      <p:sp>
        <p:nvSpPr>
          <p:cNvPr id="12" name="Text 10"/>
          <p:cNvSpPr/>
          <p:nvPr/>
        </p:nvSpPr>
        <p:spPr>
          <a:xfrm>
            <a:off x="7818120" y="1325880"/>
            <a:ext cx="3200400" cy="1234440"/>
          </a:xfrm>
          <a:prstGeom prst="rect">
            <a:avLst/>
          </a:prstGeom>
          <a:noFill/>
          <a:ln/>
        </p:spPr>
        <p:txBody>
          <a:bodyPr wrap="square" lIns="0" tIns="0" rIns="0" bIns="0" rtlCol="0" anchor="ctr"/>
          <a:lstStyle/>
          <a:p>
            <a:pPr algn="ctr" indent="0" marL="0">
              <a:buNone/>
            </a:pPr>
            <a:r>
              <a:rPr lang="en-US" sz="7000" b="1" dirty="0">
                <a:solidFill>
                  <a:srgbClr val="426C43"/>
                </a:solidFill>
                <a:latin typeface="Noto Sans Thai" pitchFamily="34" charset="0"/>
                <a:ea typeface="Noto Sans Thai" pitchFamily="34" charset="-122"/>
                <a:cs typeface="Noto Sans Thai" pitchFamily="34" charset="-120"/>
              </a:rPr>
              <a:t>04</a:t>
            </a:r>
            <a:endParaRPr lang="en-US" sz="7000" dirty="0"/>
          </a:p>
        </p:txBody>
      </p:sp>
      <p:sp>
        <p:nvSpPr>
          <p:cNvPr id="13" name="Text 11"/>
          <p:cNvSpPr/>
          <p:nvPr/>
        </p:nvSpPr>
        <p:spPr>
          <a:xfrm>
            <a:off x="8183880" y="2971800"/>
            <a:ext cx="2468880" cy="1463040"/>
          </a:xfrm>
          <a:prstGeom prst="rect">
            <a:avLst/>
          </a:prstGeom>
          <a:noFill/>
          <a:ln/>
        </p:spPr>
        <p:txBody>
          <a:bodyPr wrap="square" lIns="254" tIns="254" rIns="254" bIns="254" rtlCol="0" anchor="ctr"/>
          <a:lstStyle/>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Prompt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Result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Reflection</a:t>
            </a:r>
            <a:endParaRPr lang="en-US" sz="2200" dirty="0"/>
          </a:p>
        </p:txBody>
      </p:sp>
      <p:sp>
        <p:nvSpPr>
          <p:cNvPr id="14" name="Text 12"/>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5" name="Text 13"/>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LaTeX Article</a:t>
            </a:r>
            <a:endParaRPr lang="en-US" sz="850" dirty="0"/>
          </a:p>
        </p:txBody>
      </p:sp>
      <p:sp>
        <p:nvSpPr>
          <p:cNvPr id="16" name="Text 14"/>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Prompt แรก: LaTeX Article</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คำสั่งแรกยังค่อนข้างกว้าง จึงใช้ดูทิศทางเริ่มต้นของผลงาน</a:t>
            </a:r>
            <a:endParaRPr lang="en-US" sz="980" dirty="0"/>
          </a:p>
        </p:txBody>
      </p:sp>
      <p:sp>
        <p:nvSpPr>
          <p:cNvPr id="7" name="Shape 5"/>
          <p:cNvSpPr/>
          <p:nvPr/>
        </p:nvSpPr>
        <p:spPr>
          <a:xfrm>
            <a:off x="685800" y="1508760"/>
            <a:ext cx="10835640" cy="4526280"/>
          </a:xfrm>
          <a:prstGeom prst="roundRect">
            <a:avLst>
              <a:gd name="adj" fmla="val 1212"/>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508760"/>
            <a:ext cx="10835640" cy="402336"/>
          </a:xfrm>
          <a:prstGeom prst="rect">
            <a:avLst/>
          </a:prstGeom>
          <a:solidFill>
            <a:srgbClr val="F4F1E9"/>
          </a:solidFill>
          <a:ln w="12700">
            <a:solidFill>
              <a:srgbClr val="F4F1E9"/>
            </a:solidFill>
            <a:prstDash val="solid"/>
          </a:ln>
        </p:spPr>
      </p:sp>
      <p:sp>
        <p:nvSpPr>
          <p:cNvPr id="9" name="Text 7"/>
          <p:cNvSpPr/>
          <p:nvPr/>
        </p:nvSpPr>
        <p:spPr>
          <a:xfrm>
            <a:off x="850392" y="163677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60934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64592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prompt</a:t>
            </a:r>
            <a:endParaRPr lang="en-US" sz="680" dirty="0"/>
          </a:p>
        </p:txBody>
      </p:sp>
      <p:sp>
        <p:nvSpPr>
          <p:cNvPr id="12" name="Shape 10"/>
          <p:cNvSpPr/>
          <p:nvPr/>
        </p:nvSpPr>
        <p:spPr>
          <a:xfrm>
            <a:off x="960120" y="1993392"/>
            <a:ext cx="10287000" cy="3063240"/>
          </a:xfrm>
          <a:prstGeom prst="roundRect">
            <a:avLst>
              <a:gd name="adj" fmla="val 1791"/>
            </a:avLst>
          </a:prstGeom>
          <a:solidFill>
            <a:srgbClr val="FFF9F1"/>
          </a:solidFill>
          <a:ln w="12700">
            <a:solidFill>
              <a:srgbClr val="E7D8C5"/>
            </a:solidFill>
            <a:prstDash val="solid"/>
          </a:ln>
        </p:spPr>
      </p:sp>
      <p:sp>
        <p:nvSpPr>
          <p:cNvPr id="13" name="Text 11"/>
          <p:cNvSpPr/>
          <p:nvPr/>
        </p:nvSpPr>
        <p:spPr>
          <a:xfrm>
            <a:off x="1170432" y="2176272"/>
            <a:ext cx="9875520" cy="2606040"/>
          </a:xfrm>
          <a:prstGeom prst="rect">
            <a:avLst/>
          </a:prstGeom>
          <a:noFill/>
          <a:ln/>
        </p:spPr>
        <p:txBody>
          <a:bodyPr wrap="square" lIns="508" tIns="508" rIns="508" bIns="508" rtlCol="0" anchor="t">
            <a:normAutofit/>
          </a:bodyPr>
          <a:lstStyle/>
          <a:p>
            <a:pPr indent="0" marL="0">
              <a:buNone/>
            </a:pPr>
            <a:r>
              <a:rPr lang="en-US" sz="1597" dirty="0">
                <a:solidFill>
                  <a:srgbClr val="25231F"/>
                </a:solidFill>
                <a:latin typeface="Noto Sans Thai" pitchFamily="34" charset="0"/>
                <a:ea typeface="Noto Sans Thai" pitchFamily="34" charset="-122"/>
                <a:cs typeface="Noto Sans Thai" pitchFamily="34" charset="-120"/>
              </a:rPr>
              <a:t>เขียนบทความ LaTeX เรื่องการทำกิมจิ</a:t>
            </a:r>
            <a:endParaRPr lang="en-US" sz="1597" dirty="0"/>
          </a:p>
        </p:txBody>
      </p:sp>
      <p:sp>
        <p:nvSpPr>
          <p:cNvPr id="14" name="Text 12"/>
          <p:cNvSpPr/>
          <p:nvPr/>
        </p:nvSpPr>
        <p:spPr>
          <a:xfrm>
            <a:off x="960120" y="5248656"/>
            <a:ext cx="10241280" cy="301752"/>
          </a:xfrm>
          <a:prstGeom prst="rect">
            <a:avLst/>
          </a:prstGeom>
          <a:noFill/>
          <a:ln/>
        </p:spPr>
        <p:txBody>
          <a:bodyPr wrap="square" lIns="0" tIns="0" rIns="0" bIns="0" rtlCol="0" anchor="ctr">
            <a:normAutofit/>
          </a:bodyP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แคปจอส่วนนี้แทนหน้าจอการใส่ prompt แรก</a:t>
            </a:r>
            <a:endParaRPr lang="en-US" sz="1050" dirty="0"/>
          </a:p>
        </p:txBody>
      </p:sp>
      <p:sp>
        <p:nvSpPr>
          <p:cNvPr id="15" name="Text 13"/>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6" name="Text 14"/>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LaTeX Article</a:t>
            </a:r>
            <a:endParaRPr lang="en-US" sz="850" dirty="0"/>
          </a:p>
        </p:txBody>
      </p:sp>
      <p:sp>
        <p:nvSpPr>
          <p:cNvPr id="17" name="Text 15"/>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แรก: LaTeX Article</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ผลลัพธ์เริ่มต้นยังพอใช้งานได้ แต่ยังมีจุดที่ต้องปรับให้ตรงโจทย์</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editor / output</a:t>
            </a:r>
            <a:endParaRPr lang="en-US" sz="680" dirty="0"/>
          </a:p>
        </p:txBody>
      </p:sp>
      <p:sp>
        <p:nvSpPr>
          <p:cNvPr id="12" name="Shape 10"/>
          <p:cNvSpPr/>
          <p:nvPr/>
        </p:nvSpPr>
        <p:spPr>
          <a:xfrm>
            <a:off x="960120" y="1874520"/>
            <a:ext cx="10287000" cy="3611880"/>
          </a:xfrm>
          <a:prstGeom prst="roundRect">
            <a:avLst>
              <a:gd name="adj" fmla="val 1519"/>
            </a:avLst>
          </a:prstGeom>
          <a:solidFill>
            <a:srgbClr val="1F211D"/>
          </a:solidFill>
          <a:ln w="12700">
            <a:solidFill>
              <a:srgbClr val="1F211D"/>
            </a:solidFill>
            <a:prstDash val="solid"/>
          </a:ln>
        </p:spPr>
      </p:sp>
      <p:sp>
        <p:nvSpPr>
          <p:cNvPr id="13" name="Text 11"/>
          <p:cNvSpPr/>
          <p:nvPr/>
        </p:nvSpPr>
        <p:spPr>
          <a:xfrm>
            <a:off x="1143000" y="2057400"/>
            <a:ext cx="9921240" cy="3246120"/>
          </a:xfrm>
          <a:prstGeom prst="rect">
            <a:avLst/>
          </a:prstGeom>
          <a:noFill/>
          <a:ln/>
        </p:spPr>
        <p:txBody>
          <a:bodyPr wrap="square" lIns="254" tIns="254" rIns="254" bIns="254" rtlCol="0" anchor="t">
            <a:normAutofit/>
          </a:bodyPr>
          <a:lstStyle/>
          <a:p>
            <a:pPr indent="0" marL="0">
              <a:buNone/>
            </a:pPr>
            <a:r>
              <a:rPr lang="en-US" sz="1296" dirty="0">
                <a:solidFill>
                  <a:srgbClr val="F6F2E8"/>
                </a:solidFill>
                <a:latin typeface="Noto Sans Thai" pitchFamily="34" charset="0"/>
                <a:ea typeface="Noto Sans Thai" pitchFamily="34" charset="-122"/>
                <a:cs typeface="Noto Sans Thai" pitchFamily="34" charset="-120"/>
              </a:rPr>
              <a:t>\documentclass{article}</a:t>
            </a:r>
            <a:endParaRPr lang="en-US" sz="1296" dirty="0"/>
          </a:p>
          <a:p>
            <a:pPr indent="0" marL="0">
              <a:buNone/>
            </a:pPr>
            <a:r>
              <a:rPr lang="en-US" sz="1296" dirty="0">
                <a:solidFill>
                  <a:srgbClr val="F6F2E8"/>
                </a:solidFill>
                <a:latin typeface="Noto Sans Thai" pitchFamily="34" charset="0"/>
                <a:ea typeface="Noto Sans Thai" pitchFamily="34" charset="-122"/>
                <a:cs typeface="Noto Sans Thai" pitchFamily="34" charset="-120"/>
              </a:rPr>
              <a:t>\usepackage{fontspec}</a:t>
            </a:r>
            <a:endParaRPr lang="en-US" sz="1296" dirty="0"/>
          </a:p>
          <a:p>
            <a:pPr indent="0" marL="0">
              <a:buNone/>
            </a:pPr>
            <a:r>
              <a:rPr lang="en-US" sz="1296" dirty="0">
                <a:solidFill>
                  <a:srgbClr val="F6F2E8"/>
                </a:solidFill>
                <a:latin typeface="Noto Sans Thai" pitchFamily="34" charset="0"/>
                <a:ea typeface="Noto Sans Thai" pitchFamily="34" charset="-122"/>
                <a:cs typeface="Noto Sans Thai" pitchFamily="34" charset="-120"/>
              </a:rPr>
              <a:t>\setmainfont{Noto Sans Thai}</a:t>
            </a:r>
            <a:endParaRPr lang="en-US" sz="1296" dirty="0"/>
          </a:p>
          <a:p>
            <a:pPr indent="0" marL="0">
              <a:buNone/>
            </a:pPr>
            <a:r>
              <a:rPr lang="en-US" sz="1296" dirty="0">
                <a:solidFill>
                  <a:srgbClr val="F6F2E8"/>
                </a:solidFill>
                <a:latin typeface="Noto Sans Thai" pitchFamily="34" charset="0"/>
                <a:ea typeface="Noto Sans Thai" pitchFamily="34" charset="-122"/>
                <a:cs typeface="Noto Sans Thai" pitchFamily="34" charset="-120"/>
              </a:rPr>
              <a:t>\begin{document}</a:t>
            </a:r>
            <a:endParaRPr lang="en-US" sz="1296" dirty="0"/>
          </a:p>
          <a:p>
            <a:pPr indent="0" marL="0">
              <a:buNone/>
            </a:pPr>
            <a:r>
              <a:rPr lang="en-US" sz="1296" dirty="0">
                <a:solidFill>
                  <a:srgbClr val="F6F2E8"/>
                </a:solidFill>
                <a:latin typeface="Noto Sans Thai" pitchFamily="34" charset="0"/>
                <a:ea typeface="Noto Sans Thai" pitchFamily="34" charset="-122"/>
                <a:cs typeface="Noto Sans Thai" pitchFamily="34" charset="-120"/>
              </a:rPr>
              <a:t>\section{การทำกิมจิ}</a:t>
            </a:r>
            <a:endParaRPr lang="en-US" sz="1296" dirty="0"/>
          </a:p>
          <a:p>
            <a:pPr indent="0" marL="0">
              <a:buNone/>
            </a:pPr>
            <a:r>
              <a:rPr lang="en-US" sz="1296" dirty="0">
                <a:solidFill>
                  <a:srgbClr val="F6F2E8"/>
                </a:solidFill>
                <a:latin typeface="Noto Sans Thai" pitchFamily="34" charset="0"/>
                <a:ea typeface="Noto Sans Thai" pitchFamily="34" charset="-122"/>
                <a:cs typeface="Noto Sans Thai" pitchFamily="34" charset="-120"/>
              </a:rPr>
              <a:t>กิมจิเป็นอาหารหมักของเกาหลี...</a:t>
            </a:r>
            <a:endParaRPr lang="en-US" sz="1296" dirty="0"/>
          </a:p>
          <a:p>
            <a:pPr indent="0" marL="0">
              <a:buNone/>
            </a:pPr>
            <a:r>
              <a:rPr lang="en-US" sz="1296" dirty="0">
                <a:solidFill>
                  <a:srgbClr val="F6F2E8"/>
                </a:solidFill>
                <a:latin typeface="Noto Sans Thai" pitchFamily="34" charset="0"/>
                <a:ea typeface="Noto Sans Thai" pitchFamily="34" charset="-122"/>
                <a:cs typeface="Noto Sans Thai" pitchFamily="34" charset="-120"/>
              </a:rPr>
              <a:t>\section{ขั้นตอน}</a:t>
            </a:r>
            <a:endParaRPr lang="en-US" sz="1296" dirty="0"/>
          </a:p>
          <a:p>
            <a:pPr indent="0" marL="0">
              <a:buNone/>
            </a:pPr>
            <a:r>
              <a:rPr lang="en-US" sz="1296" dirty="0">
                <a:solidFill>
                  <a:srgbClr val="F6F2E8"/>
                </a:solidFill>
                <a:latin typeface="Noto Sans Thai" pitchFamily="34" charset="0"/>
                <a:ea typeface="Noto Sans Thai" pitchFamily="34" charset="-122"/>
                <a:cs typeface="Noto Sans Thai" pitchFamily="34" charset="-120"/>
              </a:rPr>
              <a:t>เตรียมผักกาดขาว หมักเกลือ เตรียมซอส คลุกส่วนผสม และหมัก</a:t>
            </a:r>
            <a:endParaRPr lang="en-US" sz="1296" dirty="0"/>
          </a:p>
          <a:p>
            <a:pPr indent="0" marL="0">
              <a:buNone/>
            </a:pPr>
            <a:r>
              <a:rPr lang="en-US" sz="1296" dirty="0">
                <a:solidFill>
                  <a:srgbClr val="F6F2E8"/>
                </a:solidFill>
                <a:latin typeface="Noto Sans Thai" pitchFamily="34" charset="0"/>
                <a:ea typeface="Noto Sans Thai" pitchFamily="34" charset="-122"/>
                <a:cs typeface="Noto Sans Thai" pitchFamily="34" charset="-120"/>
              </a:rPr>
              <a:t>\end{document}</a:t>
            </a:r>
            <a:endParaRPr lang="en-US" sz="1296" dirty="0"/>
          </a:p>
        </p:txBody>
      </p:sp>
      <p:sp>
        <p:nvSpPr>
          <p:cNvPr id="14" name="Text 12"/>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5" name="Text 13"/>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LaTeX Article</a:t>
            </a:r>
            <a:endParaRPr lang="en-US" sz="850" dirty="0"/>
          </a:p>
        </p:txBody>
      </p:sp>
      <p:sp>
        <p:nvSpPr>
          <p:cNvPr id="16" name="Text 14"/>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FEEDBACK + FEW-SHOT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การปรับรายละเอียด: LaTeX Article</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เพิ่มเงื่อนไขให้ชัดเจน เพื่อให้ AI สร้างผลลัพธ์ตรงงานมากขึ้น</a:t>
            </a:r>
            <a:endParaRPr lang="en-US" sz="980" dirty="0"/>
          </a:p>
        </p:txBody>
      </p:sp>
      <p:sp>
        <p:nvSpPr>
          <p:cNvPr id="7" name="Shape 5"/>
          <p:cNvSpPr/>
          <p:nvPr/>
        </p:nvSpPr>
        <p:spPr>
          <a:xfrm>
            <a:off x="777240" y="1783080"/>
            <a:ext cx="3246120" cy="3749040"/>
          </a:xfrm>
          <a:prstGeom prst="roundRect">
            <a:avLst>
              <a:gd name="adj" fmla="val 2254"/>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78408" y="1947672"/>
            <a:ext cx="284378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สิ่งที่ปรับเพิ่ม</a:t>
            </a:r>
            <a:endParaRPr lang="en-US" sz="1300" dirty="0"/>
          </a:p>
        </p:txBody>
      </p:sp>
      <p:sp>
        <p:nvSpPr>
          <p:cNvPr id="9" name="Text 7"/>
          <p:cNvSpPr/>
          <p:nvPr/>
        </p:nvSpPr>
        <p:spPr>
          <a:xfrm>
            <a:off x="978408" y="2286000"/>
            <a:ext cx="2843784" cy="309067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กำหนดชื่อเรื่อง</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ต้องมี Abstract/TOC</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ใส่สมการและตาราง</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มีพื้นที่ใส่ภาพ</a:t>
            </a:r>
            <a:endParaRPr lang="en-US" sz="1080" dirty="0"/>
          </a:p>
        </p:txBody>
      </p:sp>
      <p:sp>
        <p:nvSpPr>
          <p:cNvPr id="10" name="Shape 8"/>
          <p:cNvSpPr/>
          <p:nvPr/>
        </p:nvSpPr>
        <p:spPr>
          <a:xfrm>
            <a:off x="4251960" y="1783080"/>
            <a:ext cx="7086600" cy="3749040"/>
          </a:xfrm>
          <a:prstGeom prst="roundRect">
            <a:avLst>
              <a:gd name="adj" fmla="val 1463"/>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11" name="Shape 9"/>
          <p:cNvSpPr/>
          <p:nvPr/>
        </p:nvSpPr>
        <p:spPr>
          <a:xfrm>
            <a:off x="4251960" y="1783080"/>
            <a:ext cx="7086600" cy="402336"/>
          </a:xfrm>
          <a:prstGeom prst="rect">
            <a:avLst/>
          </a:prstGeom>
          <a:solidFill>
            <a:srgbClr val="F4F1E9"/>
          </a:solidFill>
          <a:ln w="12700">
            <a:solidFill>
              <a:srgbClr val="F4F1E9"/>
            </a:solidFill>
            <a:prstDash val="solid"/>
          </a:ln>
        </p:spPr>
      </p:sp>
      <p:sp>
        <p:nvSpPr>
          <p:cNvPr id="12" name="Text 10"/>
          <p:cNvSpPr/>
          <p:nvPr/>
        </p:nvSpPr>
        <p:spPr>
          <a:xfrm>
            <a:off x="4416552" y="191109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3" name="Shape 11"/>
          <p:cNvSpPr/>
          <p:nvPr/>
        </p:nvSpPr>
        <p:spPr>
          <a:xfrm>
            <a:off x="5212080" y="1883664"/>
            <a:ext cx="5852160" cy="201168"/>
          </a:xfrm>
          <a:prstGeom prst="roundRect">
            <a:avLst>
              <a:gd name="adj" fmla="val 22727"/>
            </a:avLst>
          </a:prstGeom>
          <a:solidFill>
            <a:srgbClr val="FFFFFF"/>
          </a:solidFill>
          <a:ln w="12700">
            <a:solidFill>
              <a:srgbClr val="E5E0D5"/>
            </a:solidFill>
            <a:prstDash val="solid"/>
          </a:ln>
        </p:spPr>
      </p:sp>
      <p:sp>
        <p:nvSpPr>
          <p:cNvPr id="14" name="Text 12"/>
          <p:cNvSpPr/>
          <p:nvPr/>
        </p:nvSpPr>
        <p:spPr>
          <a:xfrm>
            <a:off x="5330952" y="1920240"/>
            <a:ext cx="562356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refined prompt</a:t>
            </a:r>
            <a:endParaRPr lang="en-US" sz="680" dirty="0"/>
          </a:p>
        </p:txBody>
      </p:sp>
      <p:sp>
        <p:nvSpPr>
          <p:cNvPr id="15" name="Shape 13"/>
          <p:cNvSpPr/>
          <p:nvPr/>
        </p:nvSpPr>
        <p:spPr>
          <a:xfrm>
            <a:off x="4480560" y="2267712"/>
            <a:ext cx="6629400" cy="2606040"/>
          </a:xfrm>
          <a:prstGeom prst="roundRect">
            <a:avLst>
              <a:gd name="adj" fmla="val 2105"/>
            </a:avLst>
          </a:prstGeom>
          <a:solidFill>
            <a:srgbClr val="FFFDF7"/>
          </a:solidFill>
          <a:ln w="12700">
            <a:solidFill>
              <a:srgbClr val="E6DBC9"/>
            </a:solidFill>
            <a:prstDash val="solid"/>
          </a:ln>
        </p:spPr>
      </p:sp>
      <p:sp>
        <p:nvSpPr>
          <p:cNvPr id="16" name="Text 14"/>
          <p:cNvSpPr/>
          <p:nvPr/>
        </p:nvSpPr>
        <p:spPr>
          <a:xfrm>
            <a:off x="4663440" y="2423160"/>
            <a:ext cx="6263640" cy="2240280"/>
          </a:xfrm>
          <a:prstGeom prst="rect">
            <a:avLst/>
          </a:prstGeom>
          <a:noFill/>
          <a:ln/>
        </p:spPr>
        <p:txBody>
          <a:bodyPr wrap="square" lIns="254" tIns="254" rIns="254" bIns="254" rtlCol="0" anchor="t">
            <a:normAutofit/>
          </a:bodyPr>
          <a:lstStyle/>
          <a:p>
            <a:pPr indent="0" marL="0">
              <a:buNone/>
            </a:pPr>
            <a:r>
              <a:rPr lang="en-US" sz="1246" dirty="0">
                <a:solidFill>
                  <a:srgbClr val="25231F"/>
                </a:solidFill>
                <a:latin typeface="Noto Sans Thai" pitchFamily="34" charset="0"/>
                <a:ea typeface="Noto Sans Thai" pitchFamily="34" charset="-122"/>
                <a:cs typeface="Noto Sans Thai" pitchFamily="34" charset="-120"/>
              </a:rPr>
              <a:t>เขียนเอกสารภาษาไทยในรูปแบบ LaTeX สำหรับใช้งานใน Overleaf หัวข้อ “การทำกิมจิ: จากกระบวนการหมักสู่การประยุกต์ใช้ AI” ความยาวประมาณ 4-5 หน้า สำหรับนักเรียน ให้มี Title, Abstract, Table of Contents, บทนำ, วัตถุดิบ, ขั้นตอนการทำ, คำอธิบายกระบวนการหมัก, สมการตัวอย่าง p(x)=4.2+1.6e^{-0.32x}, ตารางตัวอย่างค่า pH, พื้นที่สำหรับใส่ภาพ Infographic และ Mermaid Flowchart และบทสรุป ใช้ XeLaTeX และจัดรูปแบบให้อ่านง่าย</a:t>
            </a:r>
            <a:endParaRPr lang="en-US" sz="1246" dirty="0"/>
          </a:p>
        </p:txBody>
      </p:sp>
      <p:sp>
        <p:nvSpPr>
          <p:cNvPr id="17" name="Text 15"/>
          <p:cNvSpPr/>
          <p:nvPr/>
        </p:nvSpPr>
        <p:spPr>
          <a:xfrm>
            <a:off x="4480560" y="5065776"/>
            <a:ext cx="6629400" cy="201168"/>
          </a:xfrm>
          <a:prstGeom prst="rect">
            <a:avLst/>
          </a:prstGeom>
          <a:noFill/>
          <a:ln/>
        </p:spPr>
        <p:txBody>
          <a:bodyPr wrap="square" lIns="0" tIns="0" rIns="0" bIns="0" rtlCol="0" anchor="ctr"/>
          <a:lstStyle/>
          <a:p>
            <a:pPr algn="ctr" indent="0" marL="0">
              <a:buNone/>
            </a:pPr>
            <a:r>
              <a:rPr lang="en-US" sz="930" dirty="0">
                <a:solidFill>
                  <a:srgbClr val="716B61"/>
                </a:solidFill>
                <a:latin typeface="Noto Sans Thai" pitchFamily="34" charset="0"/>
                <a:ea typeface="Noto Sans Thai" pitchFamily="34" charset="-122"/>
                <a:cs typeface="Noto Sans Thai" pitchFamily="34" charset="-120"/>
              </a:rPr>
              <a:t>หลักการ: เพิ่มบริบท + รูปแบบผลลัพธ์ + เงื่อนไขเฉพาะ + กลุ่มเป้าหมาย</a:t>
            </a:r>
            <a:endParaRPr lang="en-US" sz="930" dirty="0"/>
          </a:p>
        </p:txBody>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LaTeX Article</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FEW-SHOT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ใหม่: LaTeX Article</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ผลลัพธ์หลังปรับ prompt มีโครงสร้างตรงโจทย์และนำไปใช้ในงานได้ง่ายขึ้น</a:t>
            </a:r>
            <a:endParaRPr lang="en-US" sz="980" dirty="0"/>
          </a:p>
        </p:txBody>
      </p:sp>
      <p:sp>
        <p:nvSpPr>
          <p:cNvPr id="7" name="Shape 5"/>
          <p:cNvSpPr/>
          <p:nvPr/>
        </p:nvSpPr>
        <p:spPr>
          <a:xfrm>
            <a:off x="685800" y="1371600"/>
            <a:ext cx="10835640" cy="4800600"/>
          </a:xfrm>
          <a:prstGeom prst="roundRect">
            <a:avLst>
              <a:gd name="adj" fmla="val 1143"/>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371600"/>
            <a:ext cx="10835640" cy="402336"/>
          </a:xfrm>
          <a:prstGeom prst="rect">
            <a:avLst/>
          </a:prstGeom>
          <a:solidFill>
            <a:srgbClr val="F4F1E9"/>
          </a:solidFill>
          <a:ln w="12700">
            <a:solidFill>
              <a:srgbClr val="F4F1E9"/>
            </a:solidFill>
            <a:prstDash val="solid"/>
          </a:ln>
        </p:spPr>
      </p:sp>
      <p:sp>
        <p:nvSpPr>
          <p:cNvPr id="9" name="Text 7"/>
          <p:cNvSpPr/>
          <p:nvPr/>
        </p:nvSpPr>
        <p:spPr>
          <a:xfrm>
            <a:off x="850392" y="149961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47218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0876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overleaf.com/project</a:t>
            </a:r>
            <a:endParaRPr lang="en-US" sz="680" dirty="0"/>
          </a:p>
        </p:txBody>
      </p:sp>
      <p:pic>
        <p:nvPicPr>
          <p:cNvPr id="12" name="Image 0" descr="/mnt/data/kimchi-pdf-render/page-1.png">    </p:cNvPr>
          <p:cNvPicPr>
            <a:picLocks noChangeAspect="1"/>
          </p:cNvPicPr>
          <p:nvPr/>
        </p:nvPicPr>
        <p:blipFill>
          <a:blip r:embed="rId1"/>
          <a:stretch>
            <a:fillRect/>
          </a:stretch>
        </p:blipFill>
        <p:spPr>
          <a:xfrm>
            <a:off x="1447266" y="1828800"/>
            <a:ext cx="2683307" cy="3794760"/>
          </a:xfrm>
          <a:prstGeom prst="rect">
            <a:avLst/>
          </a:prstGeom>
        </p:spPr>
      </p:pic>
      <p:sp>
        <p:nvSpPr>
          <p:cNvPr id="13" name="Shape 10"/>
          <p:cNvSpPr/>
          <p:nvPr/>
        </p:nvSpPr>
        <p:spPr>
          <a:xfrm>
            <a:off x="4892040" y="1965960"/>
            <a:ext cx="5943600" cy="3401568"/>
          </a:xfrm>
          <a:prstGeom prst="roundRect">
            <a:avLst>
              <a:gd name="adj" fmla="val 2151"/>
            </a:avLst>
          </a:prstGeom>
          <a:solidFill>
            <a:srgbClr val="FFF9F1"/>
          </a:solidFill>
          <a:ln w="12700">
            <a:solidFill>
              <a:srgbClr val="E8D8C5"/>
            </a:solidFill>
            <a:prstDash val="solid"/>
          </a:ln>
        </p:spPr>
      </p:sp>
      <p:sp>
        <p:nvSpPr>
          <p:cNvPr id="14" name="Text 11"/>
          <p:cNvSpPr/>
          <p:nvPr/>
        </p:nvSpPr>
        <p:spPr>
          <a:xfrm>
            <a:off x="5212080" y="2331720"/>
            <a:ext cx="5303520" cy="310896"/>
          </a:xfrm>
          <a:prstGeom prst="rect">
            <a:avLst/>
          </a:prstGeom>
          <a:noFill/>
          <a:ln/>
        </p:spPr>
        <p:txBody>
          <a:bodyPr wrap="square" lIns="0" tIns="0" rIns="0" bIns="0" rtlCol="0" anchor="ctr"/>
          <a:lstStyle/>
          <a:p>
            <a:pPr indent="0" marL="0">
              <a:buNone/>
            </a:pPr>
            <a:r>
              <a:rPr lang="en-US" sz="1800" b="1" dirty="0">
                <a:solidFill>
                  <a:srgbClr val="7F211F"/>
                </a:solidFill>
                <a:latin typeface="Noto Sans Thai" pitchFamily="34" charset="0"/>
                <a:ea typeface="Noto Sans Thai" pitchFamily="34" charset="-122"/>
                <a:cs typeface="Noto Sans Thai" pitchFamily="34" charset="-120"/>
              </a:rPr>
              <a:t>บทความ LaTeX พร้อมใช้งาน</a:t>
            </a:r>
            <a:endParaRPr lang="en-US" sz="1800" dirty="0"/>
          </a:p>
        </p:txBody>
      </p:sp>
      <p:sp>
        <p:nvSpPr>
          <p:cNvPr id="15" name="Text 12"/>
          <p:cNvSpPr/>
          <p:nvPr/>
        </p:nvSpPr>
        <p:spPr>
          <a:xfrm>
            <a:off x="5230368" y="2788920"/>
            <a:ext cx="5257800" cy="914400"/>
          </a:xfrm>
          <a:prstGeom prst="rect">
            <a:avLst/>
          </a:prstGeom>
          <a:noFill/>
          <a:ln/>
        </p:spPr>
        <p:txBody>
          <a:bodyPr wrap="square" lIns="254" tIns="254" rIns="254" bIns="254" rtlCol="0" anchor="ctr">
            <a:normAutofit/>
          </a:bodyPr>
          <a:lstStyle/>
          <a:p>
            <a:pPr indent="0" marL="0">
              <a:buNone/>
            </a:pPr>
            <a:r>
              <a:rPr lang="en-US" sz="1200" dirty="0">
                <a:solidFill>
                  <a:srgbClr val="25231F"/>
                </a:solidFill>
                <a:latin typeface="Noto Sans Thai" pitchFamily="34" charset="0"/>
                <a:ea typeface="Noto Sans Thai" pitchFamily="34" charset="-122"/>
                <a:cs typeface="Noto Sans Thai" pitchFamily="34" charset="-120"/>
              </a:rPr>
              <a:t>มี Title, Abstract, Table of Contents, สมการ pH, ตารางค่า pH, พื้นที่ใส่ Infographic และ Mermaid Flowchart</a:t>
            </a:r>
            <a:endParaRPr lang="en-US" sz="1200" dirty="0"/>
          </a:p>
        </p:txBody>
      </p:sp>
      <p:sp>
        <p:nvSpPr>
          <p:cNvPr id="16" name="Shape 13"/>
          <p:cNvSpPr/>
          <p:nvPr/>
        </p:nvSpPr>
        <p:spPr>
          <a:xfrm>
            <a:off x="5257800" y="4069080"/>
            <a:ext cx="2057400" cy="502920"/>
          </a:xfrm>
          <a:prstGeom prst="roundRect">
            <a:avLst>
              <a:gd name="adj" fmla="val 12727"/>
            </a:avLst>
          </a:prstGeom>
          <a:solidFill>
            <a:srgbClr val="B7332F"/>
          </a:solidFill>
          <a:ln w="12700">
            <a:solidFill>
              <a:srgbClr val="B7332F"/>
            </a:solidFill>
            <a:prstDash val="solid"/>
          </a:ln>
        </p:spPr>
      </p:sp>
      <p:sp>
        <p:nvSpPr>
          <p:cNvPr id="17" name="Text 14"/>
          <p:cNvSpPr/>
          <p:nvPr/>
        </p:nvSpPr>
        <p:spPr>
          <a:xfrm>
            <a:off x="5257800" y="4224528"/>
            <a:ext cx="2057400" cy="13716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Thai" pitchFamily="34" charset="0"/>
                <a:ea typeface="Noto Sans Thai" pitchFamily="34" charset="-122"/>
                <a:cs typeface="Noto Sans Thai" pitchFamily="34" charset="-120"/>
              </a:rPr>
              <a:t>เปิด PDF</a:t>
            </a:r>
            <a:endParaRPr lang="en-US" sz="1100" dirty="0"/>
          </a:p>
        </p:txBody>
      </p:sp>
      <p:sp>
        <p:nvSpPr>
          <p:cNvPr id="18" name="Shape 15"/>
          <p:cNvSpPr/>
          <p:nvPr/>
        </p:nvSpPr>
        <p:spPr>
          <a:xfrm>
            <a:off x="7543800" y="4069080"/>
            <a:ext cx="2331720" cy="502920"/>
          </a:xfrm>
          <a:prstGeom prst="roundRect">
            <a:avLst>
              <a:gd name="adj" fmla="val 12727"/>
            </a:avLst>
          </a:prstGeom>
          <a:solidFill>
            <a:srgbClr val="426C43"/>
          </a:solidFill>
          <a:ln w="12700">
            <a:solidFill>
              <a:srgbClr val="426C43"/>
            </a:solidFill>
            <a:prstDash val="solid"/>
          </a:ln>
        </p:spPr>
      </p:sp>
      <p:sp>
        <p:nvSpPr>
          <p:cNvPr id="19" name="Text 16"/>
          <p:cNvSpPr/>
          <p:nvPr/>
        </p:nvSpPr>
        <p:spPr>
          <a:xfrm>
            <a:off x="7543800" y="4224528"/>
            <a:ext cx="2331720" cy="13716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Thai" pitchFamily="34" charset="0"/>
                <a:ea typeface="Noto Sans Thai" pitchFamily="34" charset="-122"/>
                <a:cs typeface="Noto Sans Thai" pitchFamily="34" charset="-120"/>
              </a:rPr>
              <a:t>ดาวน์โหลด PDF</a:t>
            </a:r>
            <a:endParaRPr lang="en-US" sz="1100" dirty="0"/>
          </a:p>
        </p:txBody>
      </p:sp>
      <p:sp>
        <p:nvSpPr>
          <p:cNvPr id="20" name="Text 17"/>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21" name="Text 18"/>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LaTeX Article</a:t>
            </a:r>
            <a:endParaRPr lang="en-US" sz="850" dirty="0"/>
          </a:p>
        </p:txBody>
      </p:sp>
      <p:sp>
        <p:nvSpPr>
          <p:cNvPr id="22" name="Text 19"/>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REFLECTION</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สิ่งที่ได้เรียนรู้จาก Zero-shot → Few-shot</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LaTeX Article</a:t>
            </a:r>
            <a:endParaRPr lang="en-US" sz="980" dirty="0"/>
          </a:p>
        </p:txBody>
      </p:sp>
      <p:sp>
        <p:nvSpPr>
          <p:cNvPr id="7" name="Shape 5"/>
          <p:cNvSpPr/>
          <p:nvPr/>
        </p:nvSpPr>
        <p:spPr>
          <a:xfrm>
            <a:off x="73152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32688" y="2084832"/>
            <a:ext cx="3118104" cy="256032"/>
          </a:xfrm>
          <a:prstGeom prst="rect">
            <a:avLst/>
          </a:prstGeom>
          <a:noFill/>
          <a:ln/>
        </p:spPr>
        <p:txBody>
          <a:bodyPr wrap="square" lIns="0" tIns="0" rIns="0" bIns="0" rtlCol="0" anchor="ctr"/>
          <a:lstStyle/>
          <a:p>
            <a:pPr indent="0" marL="0">
              <a:buNone/>
            </a:pPr>
            <a:r>
              <a:rPr lang="en-US" sz="1300" b="1" dirty="0">
                <a:solidFill>
                  <a:srgbClr val="B7332F"/>
                </a:solidFill>
                <a:latin typeface="Noto Sans Thai" pitchFamily="34" charset="0"/>
                <a:ea typeface="Noto Sans Thai" pitchFamily="34" charset="-122"/>
                <a:cs typeface="Noto Sans Thai" pitchFamily="34" charset="-120"/>
              </a:rPr>
              <a:t>ผลลัพธ์จาก Zero-shot</a:t>
            </a:r>
            <a:endParaRPr lang="en-US" sz="1300" dirty="0"/>
          </a:p>
        </p:txBody>
      </p:sp>
      <p:sp>
        <p:nvSpPr>
          <p:cNvPr id="9" name="Text 7"/>
          <p:cNvSpPr/>
          <p:nvPr/>
        </p:nvSpPr>
        <p:spPr>
          <a:xfrm>
            <a:off x="93268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ได้บทความพื้นฐาน แต่ยังไม่ครบองค์ประกอบรายงาน</a:t>
            </a:r>
            <a:endParaRPr lang="en-US" sz="1080" dirty="0"/>
          </a:p>
        </p:txBody>
      </p:sp>
      <p:sp>
        <p:nvSpPr>
          <p:cNvPr id="10" name="Shape 8"/>
          <p:cNvSpPr/>
          <p:nvPr/>
        </p:nvSpPr>
        <p:spPr>
          <a:xfrm>
            <a:off x="434340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1" name="Text 9"/>
          <p:cNvSpPr/>
          <p:nvPr/>
        </p:nvSpPr>
        <p:spPr>
          <a:xfrm>
            <a:off x="4544568" y="2084832"/>
            <a:ext cx="311810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ผลลัพธ์จาก Few-shot</a:t>
            </a:r>
            <a:endParaRPr lang="en-US" sz="1300" dirty="0"/>
          </a:p>
        </p:txBody>
      </p:sp>
      <p:sp>
        <p:nvSpPr>
          <p:cNvPr id="12" name="Text 10"/>
          <p:cNvSpPr/>
          <p:nvPr/>
        </p:nvSpPr>
        <p:spPr>
          <a:xfrm>
            <a:off x="454456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กำหนดโครงสร้างรายงาน ทำให้เอกสารสมบูรณ์และคอมไพล์ได้</a:t>
            </a:r>
            <a:endParaRPr lang="en-US" sz="1080" dirty="0"/>
          </a:p>
        </p:txBody>
      </p:sp>
      <p:sp>
        <p:nvSpPr>
          <p:cNvPr id="13" name="Shape 11"/>
          <p:cNvSpPr/>
          <p:nvPr/>
        </p:nvSpPr>
        <p:spPr>
          <a:xfrm>
            <a:off x="795528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4" name="Text 12"/>
          <p:cNvSpPr/>
          <p:nvPr/>
        </p:nvSpPr>
        <p:spPr>
          <a:xfrm>
            <a:off x="8156448" y="2084832"/>
            <a:ext cx="3118104" cy="256032"/>
          </a:xfrm>
          <a:prstGeom prst="rect">
            <a:avLst/>
          </a:prstGeom>
          <a:noFill/>
          <a:ln/>
        </p:spPr>
        <p:txBody>
          <a:bodyPr wrap="square" lIns="0" tIns="0" rIns="0" bIns="0" rtlCol="0" anchor="ctr"/>
          <a:lstStyle/>
          <a:p>
            <a:pPr indent="0" marL="0">
              <a:buNone/>
            </a:pPr>
            <a:r>
              <a:rPr lang="en-US" sz="1300" b="1" dirty="0">
                <a:solidFill>
                  <a:srgbClr val="7F211F"/>
                </a:solidFill>
                <a:latin typeface="Noto Sans Thai" pitchFamily="34" charset="0"/>
                <a:ea typeface="Noto Sans Thai" pitchFamily="34" charset="-122"/>
                <a:cs typeface="Noto Sans Thai" pitchFamily="34" charset="-120"/>
              </a:rPr>
              <a:t>บทเรียนสำคัญ</a:t>
            </a:r>
            <a:endParaRPr lang="en-US" sz="1300" dirty="0"/>
          </a:p>
        </p:txBody>
      </p:sp>
      <p:sp>
        <p:nvSpPr>
          <p:cNvPr id="15" name="Text 13"/>
          <p:cNvSpPr/>
          <p:nvPr/>
        </p:nvSpPr>
        <p:spPr>
          <a:xfrm>
            <a:off x="815644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เอกสารวิชาการต้องบอกส่วนประกอบที่ต้องการอย่างละเอียดตั้งแต่ต้น</a:t>
            </a:r>
            <a:endParaRPr lang="en-US" sz="1080" dirty="0"/>
          </a:p>
        </p:txBody>
      </p:sp>
      <p:sp>
        <p:nvSpPr>
          <p:cNvPr id="16" name="Shape 14"/>
          <p:cNvSpPr/>
          <p:nvPr/>
        </p:nvSpPr>
        <p:spPr>
          <a:xfrm>
            <a:off x="3977640" y="3337560"/>
            <a:ext cx="594360" cy="0"/>
          </a:xfrm>
          <a:prstGeom prst="line">
            <a:avLst/>
          </a:prstGeom>
          <a:noFill/>
          <a:ln w="25400">
            <a:solidFill>
              <a:srgbClr val="B7332F"/>
            </a:solidFill>
            <a:prstDash val="solid"/>
            <a:tailEnd type="triangle"/>
          </a:ln>
        </p:spPr>
      </p:sp>
      <p:sp>
        <p:nvSpPr>
          <p:cNvPr id="17" name="Shape 15"/>
          <p:cNvSpPr/>
          <p:nvPr/>
        </p:nvSpPr>
        <p:spPr>
          <a:xfrm>
            <a:off x="7589520" y="3337560"/>
            <a:ext cx="594360" cy="0"/>
          </a:xfrm>
          <a:prstGeom prst="line">
            <a:avLst/>
          </a:prstGeom>
          <a:noFill/>
          <a:ln w="25400">
            <a:solidFill>
              <a:srgbClr val="426C43"/>
            </a:solidFill>
            <a:prstDash val="solid"/>
            <a:tailEnd type="triangle"/>
          </a:ln>
        </p:spPr>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LaTeX Article</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94360" y="502920"/>
            <a:ext cx="4114800" cy="228600"/>
          </a:xfrm>
          <a:prstGeom prst="rect">
            <a:avLst/>
          </a:prstGeom>
          <a:noFill/>
          <a:ln/>
        </p:spPr>
        <p:txBody>
          <a:bodyPr wrap="square" lIns="0" tIns="0" rIns="0" bIns="0" rtlCol="0" anchor="ctr"/>
          <a:lstStyle/>
          <a:p>
            <a:pPr indent="0" marL="0">
              <a:buNone/>
            </a:pPr>
            <a:r>
              <a:rPr lang="en-US" sz="1200" b="1" dirty="0">
                <a:solidFill>
                  <a:srgbClr val="B7332F"/>
                </a:solidFill>
                <a:latin typeface="Noto Sans Thai" pitchFamily="34" charset="0"/>
                <a:ea typeface="Noto Sans Thai" pitchFamily="34" charset="-122"/>
                <a:cs typeface="Noto Sans Thai" pitchFamily="34" charset="-120"/>
              </a:rPr>
              <a:t>Kimchi AI Learning Project</a:t>
            </a:r>
            <a:endParaRPr lang="en-US" sz="1200" dirty="0"/>
          </a:p>
        </p:txBody>
      </p:sp>
      <p:sp>
        <p:nvSpPr>
          <p:cNvPr id="5" name="Text 3"/>
          <p:cNvSpPr/>
          <p:nvPr/>
        </p:nvSpPr>
        <p:spPr>
          <a:xfrm>
            <a:off x="594360" y="987552"/>
            <a:ext cx="6858000" cy="1097280"/>
          </a:xfrm>
          <a:prstGeom prst="rect">
            <a:avLst/>
          </a:prstGeom>
          <a:noFill/>
          <a:ln/>
        </p:spPr>
        <p:txBody>
          <a:bodyPr wrap="square" lIns="0" tIns="0" rIns="0" bIns="0" rtlCol="0" anchor="ctr">
            <a:normAutofit/>
          </a:bodyPr>
          <a:lstStyle/>
          <a:p>
            <a:pPr indent="0" marL="0">
              <a:buNone/>
            </a:pPr>
            <a:r>
              <a:rPr lang="en-US" sz="3300" b="1" dirty="0">
                <a:solidFill>
                  <a:srgbClr val="25231F"/>
                </a:solidFill>
                <a:latin typeface="Noto Sans Thai" pitchFamily="34" charset="0"/>
                <a:ea typeface="Noto Sans Thai" pitchFamily="34" charset="-122"/>
                <a:cs typeface="Noto Sans Thai" pitchFamily="34" charset="-120"/>
              </a:rPr>
              <a:t>NotebookLM Presentation</a:t>
            </a:r>
            <a:endParaRPr lang="en-US" sz="3300" dirty="0"/>
          </a:p>
        </p:txBody>
      </p:sp>
      <p:sp>
        <p:nvSpPr>
          <p:cNvPr id="6" name="Text 4"/>
          <p:cNvSpPr/>
          <p:nvPr/>
        </p:nvSpPr>
        <p:spPr>
          <a:xfrm>
            <a:off x="640080" y="2130552"/>
            <a:ext cx="2468880" cy="256032"/>
          </a:xfrm>
          <a:prstGeom prst="rect">
            <a:avLst/>
          </a:prstGeom>
          <a:noFill/>
          <a:ln/>
        </p:spPr>
        <p:txBody>
          <a:bodyPr wrap="square" lIns="0" tIns="0" rIns="0" bIns="0" rtlCol="0" anchor="ct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หัวข้อการเรียนรู้ที่ 5</a:t>
            </a:r>
            <a:endParaRPr lang="en-US" sz="1050" dirty="0"/>
          </a:p>
        </p:txBody>
      </p:sp>
      <p:sp>
        <p:nvSpPr>
          <p:cNvPr id="7" name="Shape 5"/>
          <p:cNvSpPr/>
          <p:nvPr/>
        </p:nvSpPr>
        <p:spPr>
          <a:xfrm>
            <a:off x="621792" y="2514600"/>
            <a:ext cx="2926080" cy="320040"/>
          </a:xfrm>
          <a:prstGeom prst="roundRect">
            <a:avLst>
              <a:gd name="adj" fmla="val 22857"/>
            </a:avLst>
          </a:prstGeom>
          <a:solidFill>
            <a:srgbClr val="426C43"/>
          </a:solidFill>
          <a:ln w="12700">
            <a:solidFill>
              <a:srgbClr val="426C43"/>
            </a:solidFill>
            <a:prstDash val="solid"/>
          </a:ln>
        </p:spPr>
      </p:sp>
      <p:sp>
        <p:nvSpPr>
          <p:cNvPr id="8" name="Text 6"/>
          <p:cNvSpPr/>
          <p:nvPr/>
        </p:nvSpPr>
        <p:spPr>
          <a:xfrm>
            <a:off x="713232" y="2578608"/>
            <a:ext cx="2743200" cy="137160"/>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Thai" pitchFamily="34" charset="0"/>
                <a:ea typeface="Noto Sans Thai" pitchFamily="34" charset="-122"/>
                <a:cs typeface="Noto Sans Thai" pitchFamily="34" charset="-120"/>
              </a:rPr>
              <a:t>สรุปเป็นสไลด์</a:t>
            </a:r>
            <a:endParaRPr lang="en-US" sz="850" dirty="0"/>
          </a:p>
        </p:txBody>
      </p:sp>
      <p:sp>
        <p:nvSpPr>
          <p:cNvPr id="9" name="Text 7"/>
          <p:cNvSpPr/>
          <p:nvPr/>
        </p:nvSpPr>
        <p:spPr>
          <a:xfrm>
            <a:off x="685800" y="3154680"/>
            <a:ext cx="4389120" cy="274320"/>
          </a:xfrm>
          <a:prstGeom prst="rect">
            <a:avLst/>
          </a:prstGeom>
          <a:noFill/>
          <a:ln/>
        </p:spPr>
        <p:txBody>
          <a:bodyPr wrap="square" lIns="0" tIns="0" rIns="0" bIns="0" rtlCol="0" anchor="ctr"/>
          <a:lstStyle/>
          <a:p>
            <a:pPr indent="0" marL="0">
              <a:buNone/>
            </a:pPr>
            <a:r>
              <a:rPr lang="en-US" sz="1500" b="1" dirty="0">
                <a:solidFill>
                  <a:srgbClr val="7F211F"/>
                </a:solidFill>
                <a:latin typeface="Noto Sans Thai" pitchFamily="34" charset="0"/>
                <a:ea typeface="Noto Sans Thai" pitchFamily="34" charset="-122"/>
                <a:cs typeface="Noto Sans Thai" pitchFamily="34" charset="-120"/>
              </a:rPr>
              <a:t>สิ่งที่จะใส่ในสไลด์ 6 หน้า</a:t>
            </a:r>
            <a:endParaRPr lang="en-US" sz="1500" dirty="0"/>
          </a:p>
        </p:txBody>
      </p:sp>
      <p:sp>
        <p:nvSpPr>
          <p:cNvPr id="10" name="Text 8"/>
          <p:cNvSpPr/>
          <p:nvPr/>
        </p:nvSpPr>
        <p:spPr>
          <a:xfrm>
            <a:off x="731520" y="3566160"/>
            <a:ext cx="5486400" cy="2011680"/>
          </a:xfrm>
          <a:prstGeom prst="rect">
            <a:avLst/>
          </a:prstGeom>
          <a:noFill/>
          <a:ln/>
        </p:spPr>
        <p:txBody>
          <a:bodyPr wrap="square" lIns="254" tIns="254" rIns="254" bIns="254" rtlCol="0" anchor="ctr">
            <a:normAutofit/>
          </a:bodyPr>
          <a:lstStyle/>
          <a:p>
            <a:pPr indent="0" marL="0">
              <a:buNone/>
            </a:pPr>
            <a:r>
              <a:rPr lang="en-US" sz="1400" dirty="0">
                <a:solidFill>
                  <a:srgbClr val="25231F"/>
                </a:solidFill>
                <a:latin typeface="Noto Sans Thai" pitchFamily="34" charset="0"/>
                <a:ea typeface="Noto Sans Thai" pitchFamily="34" charset="-122"/>
                <a:cs typeface="Noto Sans Thai" pitchFamily="34" charset="-120"/>
              </a:rPr>
              <a:t>1. นำบทความไปสรุปเป็นสไลด์</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2. เทียบ prompt ที่กว้างกับ prompt ที่ชัด</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3. กำหนดจำนวนสไลด์และกลุ่มเป้าหมาย</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4. สร้างสไลด์ตัวอย่าง</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5. สรุปการใช้ AI ช่วยเล่าเรื่อง</a:t>
            </a:r>
            <a:endParaRPr lang="en-US" sz="1400" dirty="0"/>
          </a:p>
        </p:txBody>
      </p:sp>
      <p:sp>
        <p:nvSpPr>
          <p:cNvPr id="11" name="Shape 9"/>
          <p:cNvSpPr/>
          <p:nvPr/>
        </p:nvSpPr>
        <p:spPr>
          <a:xfrm>
            <a:off x="7452360" y="1051560"/>
            <a:ext cx="3886200" cy="4526280"/>
          </a:xfrm>
          <a:prstGeom prst="roundRect">
            <a:avLst>
              <a:gd name="adj" fmla="val 2353"/>
            </a:avLst>
          </a:prstGeom>
          <a:solidFill>
            <a:srgbClr val="FFF7EC"/>
          </a:solidFill>
          <a:ln w="12700">
            <a:solidFill>
              <a:srgbClr val="E8DFD1"/>
            </a:solidFill>
            <a:prstDash val="solid"/>
          </a:ln>
          <a:effectLst>
            <a:outerShdw sx="100000" sy="100000" kx="0" ky="0" algn="bl" rotWithShape="0" blurRad="38100" dist="12700" dir="2700000">
              <a:srgbClr val="000000">
                <a:alpha val="12000"/>
              </a:srgbClr>
            </a:outerShdw>
          </a:effectLst>
        </p:spPr>
      </p:sp>
      <p:sp>
        <p:nvSpPr>
          <p:cNvPr id="12" name="Text 10"/>
          <p:cNvSpPr/>
          <p:nvPr/>
        </p:nvSpPr>
        <p:spPr>
          <a:xfrm>
            <a:off x="7818120" y="1325880"/>
            <a:ext cx="3200400" cy="1234440"/>
          </a:xfrm>
          <a:prstGeom prst="rect">
            <a:avLst/>
          </a:prstGeom>
          <a:noFill/>
          <a:ln/>
        </p:spPr>
        <p:txBody>
          <a:bodyPr wrap="square" lIns="0" tIns="0" rIns="0" bIns="0" rtlCol="0" anchor="ctr"/>
          <a:lstStyle/>
          <a:p>
            <a:pPr algn="ctr" indent="0" marL="0">
              <a:buNone/>
            </a:pPr>
            <a:r>
              <a:rPr lang="en-US" sz="7000" b="1" dirty="0">
                <a:solidFill>
                  <a:srgbClr val="B7332F"/>
                </a:solidFill>
                <a:latin typeface="Noto Sans Thai" pitchFamily="34" charset="0"/>
                <a:ea typeface="Noto Sans Thai" pitchFamily="34" charset="-122"/>
                <a:cs typeface="Noto Sans Thai" pitchFamily="34" charset="-120"/>
              </a:rPr>
              <a:t>05</a:t>
            </a:r>
            <a:endParaRPr lang="en-US" sz="7000" dirty="0"/>
          </a:p>
        </p:txBody>
      </p:sp>
      <p:sp>
        <p:nvSpPr>
          <p:cNvPr id="13" name="Text 11"/>
          <p:cNvSpPr/>
          <p:nvPr/>
        </p:nvSpPr>
        <p:spPr>
          <a:xfrm>
            <a:off x="8183880" y="2971800"/>
            <a:ext cx="2468880" cy="1463040"/>
          </a:xfrm>
          <a:prstGeom prst="rect">
            <a:avLst/>
          </a:prstGeom>
          <a:noFill/>
          <a:ln/>
        </p:spPr>
        <p:txBody>
          <a:bodyPr wrap="square" lIns="254" tIns="254" rIns="254" bIns="254" rtlCol="0" anchor="ctr"/>
          <a:lstStyle/>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Prompt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Result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Reflection</a:t>
            </a:r>
            <a:endParaRPr lang="en-US" sz="2200" dirty="0"/>
          </a:p>
        </p:txBody>
      </p:sp>
      <p:sp>
        <p:nvSpPr>
          <p:cNvPr id="14" name="Text 12"/>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5" name="Text 13"/>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NotebookLM Presentation</a:t>
            </a:r>
            <a:endParaRPr lang="en-US" sz="850" dirty="0"/>
          </a:p>
        </p:txBody>
      </p:sp>
      <p:sp>
        <p:nvSpPr>
          <p:cNvPr id="16" name="Text 14"/>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Prompt แรก: NotebookLM Presentation</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คำสั่งแรกยังค่อนข้างกว้าง จึงใช้ดูทิศทางเริ่มต้นของผลงาน</a:t>
            </a:r>
            <a:endParaRPr lang="en-US" sz="980" dirty="0"/>
          </a:p>
        </p:txBody>
      </p:sp>
      <p:sp>
        <p:nvSpPr>
          <p:cNvPr id="7" name="Shape 5"/>
          <p:cNvSpPr/>
          <p:nvPr/>
        </p:nvSpPr>
        <p:spPr>
          <a:xfrm>
            <a:off x="685800" y="1508760"/>
            <a:ext cx="10835640" cy="4526280"/>
          </a:xfrm>
          <a:prstGeom prst="roundRect">
            <a:avLst>
              <a:gd name="adj" fmla="val 1212"/>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508760"/>
            <a:ext cx="10835640" cy="402336"/>
          </a:xfrm>
          <a:prstGeom prst="rect">
            <a:avLst/>
          </a:prstGeom>
          <a:solidFill>
            <a:srgbClr val="F4F1E9"/>
          </a:solidFill>
          <a:ln w="12700">
            <a:solidFill>
              <a:srgbClr val="F4F1E9"/>
            </a:solidFill>
            <a:prstDash val="solid"/>
          </a:ln>
        </p:spPr>
      </p:sp>
      <p:sp>
        <p:nvSpPr>
          <p:cNvPr id="9" name="Text 7"/>
          <p:cNvSpPr/>
          <p:nvPr/>
        </p:nvSpPr>
        <p:spPr>
          <a:xfrm>
            <a:off x="850392" y="163677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60934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64592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prompt</a:t>
            </a:r>
            <a:endParaRPr lang="en-US" sz="680" dirty="0"/>
          </a:p>
        </p:txBody>
      </p:sp>
      <p:sp>
        <p:nvSpPr>
          <p:cNvPr id="12" name="Shape 10"/>
          <p:cNvSpPr/>
          <p:nvPr/>
        </p:nvSpPr>
        <p:spPr>
          <a:xfrm>
            <a:off x="960120" y="1993392"/>
            <a:ext cx="10287000" cy="3063240"/>
          </a:xfrm>
          <a:prstGeom prst="roundRect">
            <a:avLst>
              <a:gd name="adj" fmla="val 1791"/>
            </a:avLst>
          </a:prstGeom>
          <a:solidFill>
            <a:srgbClr val="FFF9F1"/>
          </a:solidFill>
          <a:ln w="12700">
            <a:solidFill>
              <a:srgbClr val="E7D8C5"/>
            </a:solidFill>
            <a:prstDash val="solid"/>
          </a:ln>
        </p:spPr>
      </p:sp>
      <p:sp>
        <p:nvSpPr>
          <p:cNvPr id="13" name="Text 11"/>
          <p:cNvSpPr/>
          <p:nvPr/>
        </p:nvSpPr>
        <p:spPr>
          <a:xfrm>
            <a:off x="1170432" y="2176272"/>
            <a:ext cx="9875520" cy="2606040"/>
          </a:xfrm>
          <a:prstGeom prst="rect">
            <a:avLst/>
          </a:prstGeom>
          <a:noFill/>
          <a:ln/>
        </p:spPr>
        <p:txBody>
          <a:bodyPr wrap="square" lIns="508" tIns="508" rIns="508" bIns="508" rtlCol="0" anchor="t">
            <a:normAutofit/>
          </a:bodyPr>
          <a:lstStyle/>
          <a:p>
            <a:pPr indent="0" marL="0">
              <a:buNone/>
            </a:pPr>
            <a:r>
              <a:rPr lang="en-US" sz="1597" dirty="0">
                <a:solidFill>
                  <a:srgbClr val="25231F"/>
                </a:solidFill>
                <a:latin typeface="Noto Sans Thai" pitchFamily="34" charset="0"/>
                <a:ea typeface="Noto Sans Thai" pitchFamily="34" charset="-122"/>
                <a:cs typeface="Noto Sans Thai" pitchFamily="34" charset="-120"/>
              </a:rPr>
              <a:t>ช่วยสรุปเรื่องการทำกิมจิเป็นสไลด์นำเสนอ</a:t>
            </a:r>
            <a:endParaRPr lang="en-US" sz="1597" dirty="0"/>
          </a:p>
        </p:txBody>
      </p:sp>
      <p:sp>
        <p:nvSpPr>
          <p:cNvPr id="14" name="Text 12"/>
          <p:cNvSpPr/>
          <p:nvPr/>
        </p:nvSpPr>
        <p:spPr>
          <a:xfrm>
            <a:off x="960120" y="5248656"/>
            <a:ext cx="10241280" cy="301752"/>
          </a:xfrm>
          <a:prstGeom prst="rect">
            <a:avLst/>
          </a:prstGeom>
          <a:noFill/>
          <a:ln/>
        </p:spPr>
        <p:txBody>
          <a:bodyPr wrap="square" lIns="0" tIns="0" rIns="0" bIns="0" rtlCol="0" anchor="ctr">
            <a:normAutofit/>
          </a:bodyP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แคปจอส่วนนี้แทนหน้าจอการใส่ prompt แรก</a:t>
            </a:r>
            <a:endParaRPr lang="en-US" sz="1050" dirty="0"/>
          </a:p>
        </p:txBody>
      </p:sp>
      <p:sp>
        <p:nvSpPr>
          <p:cNvPr id="15" name="Text 13"/>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6" name="Text 14"/>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NotebookLM Presentation</a:t>
            </a:r>
            <a:endParaRPr lang="en-US" sz="850" dirty="0"/>
          </a:p>
        </p:txBody>
      </p:sp>
      <p:sp>
        <p:nvSpPr>
          <p:cNvPr id="17" name="Text 15"/>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แรก: NotebookLM Presentation</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ผลลัพธ์เริ่มต้นยังพอใช้งานได้ แต่ยังมีจุดที่ต้องปรับให้ตรงโจทย์</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notebooklm.google.com</a:t>
            </a:r>
            <a:endParaRPr lang="en-US" sz="680" dirty="0"/>
          </a:p>
        </p:txBody>
      </p:sp>
      <p:sp>
        <p:nvSpPr>
          <p:cNvPr id="12" name="Shape 10"/>
          <p:cNvSpPr/>
          <p:nvPr/>
        </p:nvSpPr>
        <p:spPr>
          <a:xfrm>
            <a:off x="1005840" y="2011680"/>
            <a:ext cx="3108960" cy="3108960"/>
          </a:xfrm>
          <a:prstGeom prst="roundRect">
            <a:avLst>
              <a:gd name="adj" fmla="val 2353"/>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3" name="Text 11"/>
          <p:cNvSpPr/>
          <p:nvPr/>
        </p:nvSpPr>
        <p:spPr>
          <a:xfrm>
            <a:off x="1207008" y="2176272"/>
            <a:ext cx="2706624" cy="256032"/>
          </a:xfrm>
          <a:prstGeom prst="rect">
            <a:avLst/>
          </a:prstGeom>
          <a:noFill/>
          <a:ln/>
        </p:spPr>
        <p:txBody>
          <a:bodyPr wrap="square" lIns="0" tIns="0" rIns="0" bIns="0" rtlCol="0" anchor="ctr"/>
          <a:lstStyle/>
          <a:p>
            <a:pPr indent="0" marL="0">
              <a:buNone/>
            </a:pPr>
            <a:r>
              <a:rPr lang="en-US" sz="1300" b="1" dirty="0">
                <a:solidFill>
                  <a:srgbClr val="B7332F"/>
                </a:solidFill>
                <a:latin typeface="Noto Sans Thai" pitchFamily="34" charset="0"/>
                <a:ea typeface="Noto Sans Thai" pitchFamily="34" charset="-122"/>
                <a:cs typeface="Noto Sans Thai" pitchFamily="34" charset="-120"/>
              </a:rPr>
              <a:t>สไลด์ที่ได้</a:t>
            </a:r>
            <a:endParaRPr lang="en-US" sz="1300" dirty="0"/>
          </a:p>
        </p:txBody>
      </p:sp>
      <p:sp>
        <p:nvSpPr>
          <p:cNvPr id="14" name="Text 12"/>
          <p:cNvSpPr/>
          <p:nvPr/>
        </p:nvSpPr>
        <p:spPr>
          <a:xfrm>
            <a:off x="1207008" y="2514600"/>
            <a:ext cx="2706624" cy="24505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1. กิมจิคืออะไร</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2. วัตถุดิบ</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3. ขั้นตอนการทำ</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4. กระบวนการหมัก</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5. สรุป</a:t>
            </a:r>
            <a:endParaRPr lang="en-US" sz="1080" dirty="0"/>
          </a:p>
        </p:txBody>
      </p:sp>
      <p:sp>
        <p:nvSpPr>
          <p:cNvPr id="15" name="Shape 13"/>
          <p:cNvSpPr/>
          <p:nvPr/>
        </p:nvSpPr>
        <p:spPr>
          <a:xfrm>
            <a:off x="4526280" y="2011680"/>
            <a:ext cx="3108960" cy="3108960"/>
          </a:xfrm>
          <a:prstGeom prst="roundRect">
            <a:avLst>
              <a:gd name="adj" fmla="val 2353"/>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6" name="Text 14"/>
          <p:cNvSpPr/>
          <p:nvPr/>
        </p:nvSpPr>
        <p:spPr>
          <a:xfrm>
            <a:off x="4727448" y="2176272"/>
            <a:ext cx="2706624" cy="256032"/>
          </a:xfrm>
          <a:prstGeom prst="rect">
            <a:avLst/>
          </a:prstGeom>
          <a:noFill/>
          <a:ln/>
        </p:spPr>
        <p:txBody>
          <a:bodyPr wrap="square" lIns="0" tIns="0" rIns="0" bIns="0" rtlCol="0" anchor="ctr"/>
          <a:lstStyle/>
          <a:p>
            <a:pPr indent="0" marL="0">
              <a:buNone/>
            </a:pPr>
            <a:r>
              <a:rPr lang="en-US" sz="1300" b="1" dirty="0">
                <a:solidFill>
                  <a:srgbClr val="7F211F"/>
                </a:solidFill>
                <a:latin typeface="Noto Sans Thai" pitchFamily="34" charset="0"/>
                <a:ea typeface="Noto Sans Thai" pitchFamily="34" charset="-122"/>
                <a:cs typeface="Noto Sans Thai" pitchFamily="34" charset="-120"/>
              </a:rPr>
              <a:t>ปัญหา</a:t>
            </a:r>
            <a:endParaRPr lang="en-US" sz="1300" dirty="0"/>
          </a:p>
        </p:txBody>
      </p:sp>
      <p:sp>
        <p:nvSpPr>
          <p:cNvPr id="17" name="Text 15"/>
          <p:cNvSpPr/>
          <p:nvPr/>
        </p:nvSpPr>
        <p:spPr>
          <a:xfrm>
            <a:off x="4727448" y="2514600"/>
            <a:ext cx="2706624" cy="24505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หัวข้อยังทั่วไป</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ยังไม่มีภาพประกอบ</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ยังไม่เชื่อมโยง AI</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ยังไม่ชัดสำหรับนักเรียน</a:t>
            </a:r>
            <a:endParaRPr lang="en-US" sz="1080" dirty="0"/>
          </a:p>
        </p:txBody>
      </p:sp>
      <p:sp>
        <p:nvSpPr>
          <p:cNvPr id="18" name="Shape 16"/>
          <p:cNvSpPr/>
          <p:nvPr/>
        </p:nvSpPr>
        <p:spPr>
          <a:xfrm>
            <a:off x="8046720" y="2011680"/>
            <a:ext cx="3108960" cy="3108960"/>
          </a:xfrm>
          <a:prstGeom prst="roundRect">
            <a:avLst>
              <a:gd name="adj" fmla="val 2353"/>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9" name="Text 17"/>
          <p:cNvSpPr/>
          <p:nvPr/>
        </p:nvSpPr>
        <p:spPr>
          <a:xfrm>
            <a:off x="8247888" y="2176272"/>
            <a:ext cx="270662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สิ่งที่ต้องเพิ่ม</a:t>
            </a:r>
            <a:endParaRPr lang="en-US" sz="1300" dirty="0"/>
          </a:p>
        </p:txBody>
      </p:sp>
      <p:sp>
        <p:nvSpPr>
          <p:cNvPr id="20" name="Text 18"/>
          <p:cNvSpPr/>
          <p:nvPr/>
        </p:nvSpPr>
        <p:spPr>
          <a:xfrm>
            <a:off x="8247888" y="2514600"/>
            <a:ext cx="2706624" cy="24505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ให้ระบุจำนวนสไลด์</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ขอภาษาไทย</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ขอภาพและคำอธิบาย</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ขอ Reflection</a:t>
            </a:r>
            <a:endParaRPr lang="en-US" sz="1080" dirty="0"/>
          </a:p>
        </p:txBody>
      </p:sp>
      <p:sp>
        <p:nvSpPr>
          <p:cNvPr id="21" name="Text 19"/>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22" name="Text 20"/>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NotebookLM Presentation</a:t>
            </a:r>
            <a:endParaRPr lang="en-US" sz="850" dirty="0"/>
          </a:p>
        </p:txBody>
      </p:sp>
      <p:sp>
        <p:nvSpPr>
          <p:cNvPr id="23" name="Text 21"/>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FEEDBACK + FEW-SHOT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การปรับรายละเอียด: NotebookLM Presentation</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เพิ่มเงื่อนไขให้ชัดเจน เพื่อให้ AI สร้างผลลัพธ์ตรงงานมากขึ้น</a:t>
            </a:r>
            <a:endParaRPr lang="en-US" sz="980" dirty="0"/>
          </a:p>
        </p:txBody>
      </p:sp>
      <p:sp>
        <p:nvSpPr>
          <p:cNvPr id="7" name="Shape 5"/>
          <p:cNvSpPr/>
          <p:nvPr/>
        </p:nvSpPr>
        <p:spPr>
          <a:xfrm>
            <a:off x="777240" y="1783080"/>
            <a:ext cx="3246120" cy="3749040"/>
          </a:xfrm>
          <a:prstGeom prst="roundRect">
            <a:avLst>
              <a:gd name="adj" fmla="val 2254"/>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78408" y="1947672"/>
            <a:ext cx="284378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สิ่งที่ปรับเพิ่ม</a:t>
            </a:r>
            <a:endParaRPr lang="en-US" sz="1300" dirty="0"/>
          </a:p>
        </p:txBody>
      </p:sp>
      <p:sp>
        <p:nvSpPr>
          <p:cNvPr id="9" name="Text 7"/>
          <p:cNvSpPr/>
          <p:nvPr/>
        </p:nvSpPr>
        <p:spPr>
          <a:xfrm>
            <a:off x="978408" y="2286000"/>
            <a:ext cx="2843784" cy="309067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กำหนดแหล่งข้อมูล</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กำหนดจำนวนสไลด์</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 bullet ต่อหน้า</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ขอคำแนะนำภาพ</a:t>
            </a:r>
            <a:endParaRPr lang="en-US" sz="1080" dirty="0"/>
          </a:p>
        </p:txBody>
      </p:sp>
      <p:sp>
        <p:nvSpPr>
          <p:cNvPr id="10" name="Shape 8"/>
          <p:cNvSpPr/>
          <p:nvPr/>
        </p:nvSpPr>
        <p:spPr>
          <a:xfrm>
            <a:off x="4251960" y="1783080"/>
            <a:ext cx="7086600" cy="3749040"/>
          </a:xfrm>
          <a:prstGeom prst="roundRect">
            <a:avLst>
              <a:gd name="adj" fmla="val 1463"/>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11" name="Shape 9"/>
          <p:cNvSpPr/>
          <p:nvPr/>
        </p:nvSpPr>
        <p:spPr>
          <a:xfrm>
            <a:off x="4251960" y="1783080"/>
            <a:ext cx="7086600" cy="402336"/>
          </a:xfrm>
          <a:prstGeom prst="rect">
            <a:avLst/>
          </a:prstGeom>
          <a:solidFill>
            <a:srgbClr val="F4F1E9"/>
          </a:solidFill>
          <a:ln w="12700">
            <a:solidFill>
              <a:srgbClr val="F4F1E9"/>
            </a:solidFill>
            <a:prstDash val="solid"/>
          </a:ln>
        </p:spPr>
      </p:sp>
      <p:sp>
        <p:nvSpPr>
          <p:cNvPr id="12" name="Text 10"/>
          <p:cNvSpPr/>
          <p:nvPr/>
        </p:nvSpPr>
        <p:spPr>
          <a:xfrm>
            <a:off x="4416552" y="191109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3" name="Shape 11"/>
          <p:cNvSpPr/>
          <p:nvPr/>
        </p:nvSpPr>
        <p:spPr>
          <a:xfrm>
            <a:off x="5212080" y="1883664"/>
            <a:ext cx="5852160" cy="201168"/>
          </a:xfrm>
          <a:prstGeom prst="roundRect">
            <a:avLst>
              <a:gd name="adj" fmla="val 22727"/>
            </a:avLst>
          </a:prstGeom>
          <a:solidFill>
            <a:srgbClr val="FFFFFF"/>
          </a:solidFill>
          <a:ln w="12700">
            <a:solidFill>
              <a:srgbClr val="E5E0D5"/>
            </a:solidFill>
            <a:prstDash val="solid"/>
          </a:ln>
        </p:spPr>
      </p:sp>
      <p:sp>
        <p:nvSpPr>
          <p:cNvPr id="14" name="Text 12"/>
          <p:cNvSpPr/>
          <p:nvPr/>
        </p:nvSpPr>
        <p:spPr>
          <a:xfrm>
            <a:off x="5330952" y="1920240"/>
            <a:ext cx="562356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refined prompt</a:t>
            </a:r>
            <a:endParaRPr lang="en-US" sz="680" dirty="0"/>
          </a:p>
        </p:txBody>
      </p:sp>
      <p:sp>
        <p:nvSpPr>
          <p:cNvPr id="15" name="Shape 13"/>
          <p:cNvSpPr/>
          <p:nvPr/>
        </p:nvSpPr>
        <p:spPr>
          <a:xfrm>
            <a:off x="4480560" y="2267712"/>
            <a:ext cx="6629400" cy="2606040"/>
          </a:xfrm>
          <a:prstGeom prst="roundRect">
            <a:avLst>
              <a:gd name="adj" fmla="val 2105"/>
            </a:avLst>
          </a:prstGeom>
          <a:solidFill>
            <a:srgbClr val="FFFDF7"/>
          </a:solidFill>
          <a:ln w="12700">
            <a:solidFill>
              <a:srgbClr val="E6DBC9"/>
            </a:solidFill>
            <a:prstDash val="solid"/>
          </a:ln>
        </p:spPr>
      </p:sp>
      <p:sp>
        <p:nvSpPr>
          <p:cNvPr id="16" name="Text 14"/>
          <p:cNvSpPr/>
          <p:nvPr/>
        </p:nvSpPr>
        <p:spPr>
          <a:xfrm>
            <a:off x="4663440" y="2423160"/>
            <a:ext cx="6263640" cy="2240280"/>
          </a:xfrm>
          <a:prstGeom prst="rect">
            <a:avLst/>
          </a:prstGeom>
          <a:noFill/>
          <a:ln/>
        </p:spPr>
        <p:txBody>
          <a:bodyPr wrap="square" lIns="254" tIns="254" rIns="254" bIns="254" rtlCol="0" anchor="t">
            <a:normAutofit/>
          </a:bodyPr>
          <a:lstStyle/>
          <a:p>
            <a:pPr indent="0" marL="0">
              <a:buNone/>
            </a:pPr>
            <a:r>
              <a:rPr lang="en-US" sz="1246" dirty="0">
                <a:solidFill>
                  <a:srgbClr val="25231F"/>
                </a:solidFill>
                <a:latin typeface="Noto Sans Thai" pitchFamily="34" charset="0"/>
                <a:ea typeface="Noto Sans Thai" pitchFamily="34" charset="-122"/>
                <a:cs typeface="Noto Sans Thai" pitchFamily="34" charset="-120"/>
              </a:rPr>
              <a:t>ใช้บทความ “การทำกิมจิ: จากกระบวนการหมักสู่การประยุกต์ใช้ AI” เป็นแหล่งข้อมูลหลัก สร้างโครงสไลด์ภาษาไทยสำหรับนักเรียน 8 หน้า โดยเรียงเป็น บทนำ วัตถุดิบ ขั้นตอนทำกิมจิ กระบวนการหมัก แบบจำลอง pH Mermaid Flowchart การประยุกต์ใช้ AI และ Reflection ให้แต่ละสไลด์มีหัวข้อสั้น คำอธิบาย 2-3 bullet และคำแนะนำภาพประกอบ</a:t>
            </a:r>
            <a:endParaRPr lang="en-US" sz="1246" dirty="0"/>
          </a:p>
        </p:txBody>
      </p:sp>
      <p:sp>
        <p:nvSpPr>
          <p:cNvPr id="17" name="Text 15"/>
          <p:cNvSpPr/>
          <p:nvPr/>
        </p:nvSpPr>
        <p:spPr>
          <a:xfrm>
            <a:off x="4480560" y="5065776"/>
            <a:ext cx="6629400" cy="201168"/>
          </a:xfrm>
          <a:prstGeom prst="rect">
            <a:avLst/>
          </a:prstGeom>
          <a:noFill/>
          <a:ln/>
        </p:spPr>
        <p:txBody>
          <a:bodyPr wrap="square" lIns="0" tIns="0" rIns="0" bIns="0" rtlCol="0" anchor="ctr"/>
          <a:lstStyle/>
          <a:p>
            <a:pPr algn="ctr" indent="0" marL="0">
              <a:buNone/>
            </a:pPr>
            <a:r>
              <a:rPr lang="en-US" sz="930" dirty="0">
                <a:solidFill>
                  <a:srgbClr val="716B61"/>
                </a:solidFill>
                <a:latin typeface="Noto Sans Thai" pitchFamily="34" charset="0"/>
                <a:ea typeface="Noto Sans Thai" pitchFamily="34" charset="-122"/>
                <a:cs typeface="Noto Sans Thai" pitchFamily="34" charset="-120"/>
              </a:rPr>
              <a:t>หลักการ: เพิ่มบริบท + รูปแบบผลลัพธ์ + เงื่อนไขเฉพาะ + กลุ่มเป้าหมาย</a:t>
            </a:r>
            <a:endParaRPr lang="en-US" sz="930" dirty="0"/>
          </a:p>
        </p:txBody>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NotebookLM Presentation</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FEW-SHOT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ใหม่: NotebookLM Presentation</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ผลลัพธ์หลังปรับ prompt มีโครงสร้างตรงโจทย์และนำไปใช้ในงานได้ง่ายขึ้น</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notebooklm.google.com</a:t>
            </a:r>
            <a:endParaRPr lang="en-US" sz="680" dirty="0"/>
          </a:p>
        </p:txBody>
      </p:sp>
      <p:sp>
        <p:nvSpPr>
          <p:cNvPr id="12" name="Shape 10"/>
          <p:cNvSpPr/>
          <p:nvPr/>
        </p:nvSpPr>
        <p:spPr>
          <a:xfrm>
            <a:off x="960120" y="1965960"/>
            <a:ext cx="2880360" cy="2011680"/>
          </a:xfrm>
          <a:prstGeom prst="roundRect">
            <a:avLst>
              <a:gd name="adj" fmla="val 2727"/>
            </a:avLst>
          </a:prstGeom>
          <a:solidFill>
            <a:srgbClr val="FFF2F0"/>
          </a:solidFill>
          <a:ln w="12700">
            <a:solidFill>
              <a:srgbClr val="E8DFD1"/>
            </a:solidFill>
            <a:prstDash val="solid"/>
          </a:ln>
          <a:effectLst>
            <a:outerShdw sx="100000" sy="100000" kx="0" ky="0" algn="bl" rotWithShape="0" blurRad="19050" dist="12700" dir="2700000">
              <a:srgbClr val="000000">
                <a:alpha val="8000"/>
              </a:srgbClr>
            </a:outerShdw>
          </a:effectLst>
        </p:spPr>
      </p:sp>
      <p:sp>
        <p:nvSpPr>
          <p:cNvPr id="13" name="Text 11"/>
          <p:cNvSpPr/>
          <p:nvPr/>
        </p:nvSpPr>
        <p:spPr>
          <a:xfrm>
            <a:off x="1143000" y="2212848"/>
            <a:ext cx="2514600" cy="640080"/>
          </a:xfrm>
          <a:prstGeom prst="rect">
            <a:avLst/>
          </a:prstGeom>
          <a:noFill/>
          <a:ln/>
        </p:spPr>
        <p:txBody>
          <a:bodyPr wrap="square" lIns="0" tIns="0" rIns="0" bIns="0" rtlCol="0" anchor="ctr">
            <a:normAutofit/>
          </a:bodyPr>
          <a:lstStyle/>
          <a:p>
            <a:pPr algn="ctr" indent="0" marL="0">
              <a:buNone/>
            </a:pPr>
            <a:r>
              <a:rPr lang="en-US" sz="1700" b="1" dirty="0">
                <a:solidFill>
                  <a:srgbClr val="B7332F"/>
                </a:solidFill>
                <a:latin typeface="Noto Sans Thai" pitchFamily="34" charset="0"/>
                <a:ea typeface="Noto Sans Thai" pitchFamily="34" charset="-122"/>
                <a:cs typeface="Noto Sans Thai" pitchFamily="34" charset="-120"/>
              </a:rPr>
              <a:t>Slide 1</a:t>
            </a:r>
            <a:endParaRPr lang="en-US" sz="1700" dirty="0"/>
          </a:p>
          <a:p>
            <a:pPr algn="ctr" indent="0" marL="0">
              <a:buNone/>
            </a:pPr>
            <a:r>
              <a:rPr lang="en-US" sz="1700" b="1" dirty="0">
                <a:solidFill>
                  <a:srgbClr val="B7332F"/>
                </a:solidFill>
                <a:latin typeface="Noto Sans Thai" pitchFamily="34" charset="0"/>
                <a:ea typeface="Noto Sans Thai" pitchFamily="34" charset="-122"/>
                <a:cs typeface="Noto Sans Thai" pitchFamily="34" charset="-120"/>
              </a:rPr>
              <a:t>Kimchi AI</a:t>
            </a:r>
            <a:endParaRPr lang="en-US" sz="1700" dirty="0"/>
          </a:p>
        </p:txBody>
      </p:sp>
      <p:sp>
        <p:nvSpPr>
          <p:cNvPr id="14" name="Shape 12"/>
          <p:cNvSpPr/>
          <p:nvPr/>
        </p:nvSpPr>
        <p:spPr>
          <a:xfrm>
            <a:off x="1280160" y="3063240"/>
            <a:ext cx="2240280" cy="420624"/>
          </a:xfrm>
          <a:prstGeom prst="roundRect">
            <a:avLst>
              <a:gd name="adj" fmla="val 15217"/>
            </a:avLst>
          </a:prstGeom>
          <a:solidFill>
            <a:srgbClr val="FFFFFF"/>
          </a:solidFill>
          <a:ln w="12700">
            <a:solidFill>
              <a:srgbClr val="E3D9CA"/>
            </a:solidFill>
            <a:prstDash val="solid"/>
          </a:ln>
        </p:spPr>
      </p:sp>
      <p:sp>
        <p:nvSpPr>
          <p:cNvPr id="15" name="Text 13"/>
          <p:cNvSpPr/>
          <p:nvPr/>
        </p:nvSpPr>
        <p:spPr>
          <a:xfrm>
            <a:off x="1371600" y="3200400"/>
            <a:ext cx="2057400" cy="109728"/>
          </a:xfrm>
          <a:prstGeom prst="rect">
            <a:avLst/>
          </a:prstGeom>
          <a:noFill/>
          <a:ln/>
        </p:spPr>
        <p:txBody>
          <a:bodyPr wrap="square" lIns="0" tIns="0" rIns="0" bIns="0" rtlCol="0" anchor="ctr"/>
          <a:lstStyle/>
          <a:p>
            <a:pPr algn="ctr" indent="0" marL="0">
              <a:buNone/>
            </a:pPr>
            <a:r>
              <a:rPr lang="en-US" sz="900" dirty="0">
                <a:solidFill>
                  <a:srgbClr val="25231F"/>
                </a:solidFill>
                <a:latin typeface="Noto Sans Thai" pitchFamily="34" charset="0"/>
                <a:ea typeface="Noto Sans Thai" pitchFamily="34" charset="-122"/>
                <a:cs typeface="Noto Sans Thai" pitchFamily="34" charset="-120"/>
              </a:rPr>
              <a:t>ภาพกิมจิ</a:t>
            </a:r>
            <a:endParaRPr lang="en-US" sz="900" dirty="0"/>
          </a:p>
        </p:txBody>
      </p:sp>
      <p:sp>
        <p:nvSpPr>
          <p:cNvPr id="16" name="Shape 14"/>
          <p:cNvSpPr/>
          <p:nvPr/>
        </p:nvSpPr>
        <p:spPr>
          <a:xfrm>
            <a:off x="4343400" y="1965960"/>
            <a:ext cx="2880360" cy="2011680"/>
          </a:xfrm>
          <a:prstGeom prst="roundRect">
            <a:avLst>
              <a:gd name="adj" fmla="val 2727"/>
            </a:avLst>
          </a:prstGeom>
          <a:solidFill>
            <a:srgbClr val="F1F7EA"/>
          </a:solidFill>
          <a:ln w="12700">
            <a:solidFill>
              <a:srgbClr val="E8DFD1"/>
            </a:solidFill>
            <a:prstDash val="solid"/>
          </a:ln>
          <a:effectLst>
            <a:outerShdw sx="100000" sy="100000" kx="0" ky="0" algn="bl" rotWithShape="0" blurRad="19050" dist="12700" dir="2700000">
              <a:srgbClr val="000000">
                <a:alpha val="8000"/>
              </a:srgbClr>
            </a:outerShdw>
          </a:effectLst>
        </p:spPr>
      </p:sp>
      <p:sp>
        <p:nvSpPr>
          <p:cNvPr id="17" name="Text 15"/>
          <p:cNvSpPr/>
          <p:nvPr/>
        </p:nvSpPr>
        <p:spPr>
          <a:xfrm>
            <a:off x="4526280" y="2212848"/>
            <a:ext cx="2514600" cy="640080"/>
          </a:xfrm>
          <a:prstGeom prst="rect">
            <a:avLst/>
          </a:prstGeom>
          <a:noFill/>
          <a:ln/>
        </p:spPr>
        <p:txBody>
          <a:bodyPr wrap="square" lIns="0" tIns="0" rIns="0" bIns="0" rtlCol="0" anchor="ctr">
            <a:normAutofit/>
          </a:bodyPr>
          <a:lstStyle/>
          <a:p>
            <a:pPr algn="ctr" indent="0" marL="0">
              <a:buNone/>
            </a:pPr>
            <a:r>
              <a:rPr lang="en-US" sz="1700" b="1" dirty="0">
                <a:solidFill>
                  <a:srgbClr val="426C43"/>
                </a:solidFill>
                <a:latin typeface="Noto Sans Thai" pitchFamily="34" charset="0"/>
                <a:ea typeface="Noto Sans Thai" pitchFamily="34" charset="-122"/>
                <a:cs typeface="Noto Sans Thai" pitchFamily="34" charset="-120"/>
              </a:rPr>
              <a:t>Slide 2</a:t>
            </a:r>
            <a:endParaRPr lang="en-US" sz="1700" dirty="0"/>
          </a:p>
          <a:p>
            <a:pPr algn="ctr" indent="0" marL="0">
              <a:buNone/>
            </a:pPr>
            <a:r>
              <a:rPr lang="en-US" sz="1700" b="1" dirty="0">
                <a:solidFill>
                  <a:srgbClr val="426C43"/>
                </a:solidFill>
                <a:latin typeface="Noto Sans Thai" pitchFamily="34" charset="0"/>
                <a:ea typeface="Noto Sans Thai" pitchFamily="34" charset="-122"/>
                <a:cs typeface="Noto Sans Thai" pitchFamily="34" charset="-120"/>
              </a:rPr>
              <a:t>pH Model</a:t>
            </a:r>
            <a:endParaRPr lang="en-US" sz="1700" dirty="0"/>
          </a:p>
        </p:txBody>
      </p:sp>
      <p:sp>
        <p:nvSpPr>
          <p:cNvPr id="18" name="Shape 16"/>
          <p:cNvSpPr/>
          <p:nvPr/>
        </p:nvSpPr>
        <p:spPr>
          <a:xfrm>
            <a:off x="4663440" y="3063240"/>
            <a:ext cx="2240280" cy="420624"/>
          </a:xfrm>
          <a:prstGeom prst="roundRect">
            <a:avLst>
              <a:gd name="adj" fmla="val 15217"/>
            </a:avLst>
          </a:prstGeom>
          <a:solidFill>
            <a:srgbClr val="FFFFFF"/>
          </a:solidFill>
          <a:ln w="12700">
            <a:solidFill>
              <a:srgbClr val="E3D9CA"/>
            </a:solidFill>
            <a:prstDash val="solid"/>
          </a:ln>
        </p:spPr>
      </p:sp>
      <p:sp>
        <p:nvSpPr>
          <p:cNvPr id="19" name="Text 17"/>
          <p:cNvSpPr/>
          <p:nvPr/>
        </p:nvSpPr>
        <p:spPr>
          <a:xfrm>
            <a:off x="4754880" y="3200400"/>
            <a:ext cx="2057400" cy="109728"/>
          </a:xfrm>
          <a:prstGeom prst="rect">
            <a:avLst/>
          </a:prstGeom>
          <a:noFill/>
          <a:ln/>
        </p:spPr>
        <p:txBody>
          <a:bodyPr wrap="square" lIns="0" tIns="0" rIns="0" bIns="0" rtlCol="0" anchor="ctr"/>
          <a:lstStyle/>
          <a:p>
            <a:pPr algn="ctr" indent="0" marL="0">
              <a:buNone/>
            </a:pPr>
            <a:r>
              <a:rPr lang="en-US" sz="900" dirty="0">
                <a:solidFill>
                  <a:srgbClr val="25231F"/>
                </a:solidFill>
                <a:latin typeface="Noto Sans Thai" pitchFamily="34" charset="0"/>
                <a:ea typeface="Noto Sans Thai" pitchFamily="34" charset="-122"/>
                <a:cs typeface="Noto Sans Thai" pitchFamily="34" charset="-120"/>
              </a:rPr>
              <a:t>กราฟ pH</a:t>
            </a:r>
            <a:endParaRPr lang="en-US" sz="900" dirty="0"/>
          </a:p>
        </p:txBody>
      </p:sp>
      <p:sp>
        <p:nvSpPr>
          <p:cNvPr id="20" name="Shape 18"/>
          <p:cNvSpPr/>
          <p:nvPr/>
        </p:nvSpPr>
        <p:spPr>
          <a:xfrm>
            <a:off x="7726680" y="1965960"/>
            <a:ext cx="2880360" cy="2011680"/>
          </a:xfrm>
          <a:prstGeom prst="roundRect">
            <a:avLst>
              <a:gd name="adj" fmla="val 2727"/>
            </a:avLst>
          </a:prstGeom>
          <a:solidFill>
            <a:srgbClr val="FFF7EC"/>
          </a:solidFill>
          <a:ln w="12700">
            <a:solidFill>
              <a:srgbClr val="E8DFD1"/>
            </a:solidFill>
            <a:prstDash val="solid"/>
          </a:ln>
          <a:effectLst>
            <a:outerShdw sx="100000" sy="100000" kx="0" ky="0" algn="bl" rotWithShape="0" blurRad="19050" dist="12700" dir="2700000">
              <a:srgbClr val="000000">
                <a:alpha val="8000"/>
              </a:srgbClr>
            </a:outerShdw>
          </a:effectLst>
        </p:spPr>
      </p:sp>
      <p:sp>
        <p:nvSpPr>
          <p:cNvPr id="21" name="Text 19"/>
          <p:cNvSpPr/>
          <p:nvPr/>
        </p:nvSpPr>
        <p:spPr>
          <a:xfrm>
            <a:off x="7909560" y="2212848"/>
            <a:ext cx="2514600" cy="640080"/>
          </a:xfrm>
          <a:prstGeom prst="rect">
            <a:avLst/>
          </a:prstGeom>
          <a:noFill/>
          <a:ln/>
        </p:spPr>
        <p:txBody>
          <a:bodyPr wrap="square" lIns="0" tIns="0" rIns="0" bIns="0" rtlCol="0" anchor="ctr">
            <a:normAutofit/>
          </a:bodyPr>
          <a:lstStyle/>
          <a:p>
            <a:pPr algn="ctr" indent="0" marL="0">
              <a:buNone/>
            </a:pPr>
            <a:r>
              <a:rPr lang="en-US" sz="1700" b="1" dirty="0">
                <a:solidFill>
                  <a:srgbClr val="B7332F"/>
                </a:solidFill>
                <a:latin typeface="Noto Sans Thai" pitchFamily="34" charset="0"/>
                <a:ea typeface="Noto Sans Thai" pitchFamily="34" charset="-122"/>
                <a:cs typeface="Noto Sans Thai" pitchFamily="34" charset="-120"/>
              </a:rPr>
              <a:t>Slide 3</a:t>
            </a:r>
            <a:endParaRPr lang="en-US" sz="1700" dirty="0"/>
          </a:p>
          <a:p>
            <a:pPr algn="ctr" indent="0" marL="0">
              <a:buNone/>
            </a:pPr>
            <a:r>
              <a:rPr lang="en-US" sz="1700" b="1" dirty="0">
                <a:solidFill>
                  <a:srgbClr val="B7332F"/>
                </a:solidFill>
                <a:latin typeface="Noto Sans Thai" pitchFamily="34" charset="0"/>
                <a:ea typeface="Noto Sans Thai" pitchFamily="34" charset="-122"/>
                <a:cs typeface="Noto Sans Thai" pitchFamily="34" charset="-120"/>
              </a:rPr>
              <a:t>AI Application</a:t>
            </a:r>
            <a:endParaRPr lang="en-US" sz="1700" dirty="0"/>
          </a:p>
        </p:txBody>
      </p:sp>
      <p:sp>
        <p:nvSpPr>
          <p:cNvPr id="22" name="Shape 20"/>
          <p:cNvSpPr/>
          <p:nvPr/>
        </p:nvSpPr>
        <p:spPr>
          <a:xfrm>
            <a:off x="8046720" y="3063240"/>
            <a:ext cx="2240280" cy="420624"/>
          </a:xfrm>
          <a:prstGeom prst="roundRect">
            <a:avLst>
              <a:gd name="adj" fmla="val 15217"/>
            </a:avLst>
          </a:prstGeom>
          <a:solidFill>
            <a:srgbClr val="FFFFFF"/>
          </a:solidFill>
          <a:ln w="12700">
            <a:solidFill>
              <a:srgbClr val="E3D9CA"/>
            </a:solidFill>
            <a:prstDash val="solid"/>
          </a:ln>
        </p:spPr>
      </p:sp>
      <p:sp>
        <p:nvSpPr>
          <p:cNvPr id="23" name="Text 21"/>
          <p:cNvSpPr/>
          <p:nvPr/>
        </p:nvSpPr>
        <p:spPr>
          <a:xfrm>
            <a:off x="8138160" y="3200400"/>
            <a:ext cx="2057400" cy="109728"/>
          </a:xfrm>
          <a:prstGeom prst="rect">
            <a:avLst/>
          </a:prstGeom>
          <a:noFill/>
          <a:ln/>
        </p:spPr>
        <p:txBody>
          <a:bodyPr wrap="square" lIns="0" tIns="0" rIns="0" bIns="0" rtlCol="0" anchor="ctr"/>
          <a:lstStyle/>
          <a:p>
            <a:pPr algn="ctr" indent="0" marL="0">
              <a:buNone/>
            </a:pPr>
            <a:r>
              <a:rPr lang="en-US" sz="900" dirty="0">
                <a:solidFill>
                  <a:srgbClr val="25231F"/>
                </a:solidFill>
                <a:latin typeface="Noto Sans Thai" pitchFamily="34" charset="0"/>
                <a:ea typeface="Noto Sans Thai" pitchFamily="34" charset="-122"/>
                <a:cs typeface="Noto Sans Thai" pitchFamily="34" charset="-120"/>
              </a:rPr>
              <a:t>AI วิเคราะห์</a:t>
            </a:r>
            <a:endParaRPr lang="en-US" sz="900" dirty="0"/>
          </a:p>
        </p:txBody>
      </p:sp>
      <p:sp>
        <p:nvSpPr>
          <p:cNvPr id="24" name="Text 22"/>
          <p:cNvSpPr/>
          <p:nvPr/>
        </p:nvSpPr>
        <p:spPr>
          <a:xfrm>
            <a:off x="960120" y="4480560"/>
            <a:ext cx="10332720" cy="347472"/>
          </a:xfrm>
          <a:prstGeom prst="rect">
            <a:avLst/>
          </a:prstGeom>
          <a:noFill/>
          <a:ln/>
        </p:spPr>
        <p:txBody>
          <a:bodyPr wrap="square" lIns="0" tIns="0" rIns="0" bIns="0" rtlCol="0" anchor="ctr"/>
          <a:lstStyle/>
          <a:p>
            <a:pPr algn="ctr" indent="0" marL="0">
              <a:buNone/>
            </a:pPr>
            <a:r>
              <a:rPr lang="en-US" sz="1400" b="1" dirty="0">
                <a:solidFill>
                  <a:srgbClr val="25231F"/>
                </a:solidFill>
                <a:latin typeface="Noto Sans Thai" pitchFamily="34" charset="0"/>
                <a:ea typeface="Noto Sans Thai" pitchFamily="34" charset="-122"/>
                <a:cs typeface="Noto Sans Thai" pitchFamily="34" charset="-120"/>
              </a:rPr>
              <a:t>ผลลัพธ์ใหม่มีโครงสร้างชัดเจน มีภาพประกอบ และเชื่อมโยงเนื้อหาไปสู่ AI</a:t>
            </a:r>
            <a:endParaRPr lang="en-US" sz="1400" dirty="0"/>
          </a:p>
        </p:txBody>
      </p:sp>
      <p:sp>
        <p:nvSpPr>
          <p:cNvPr id="25" name="Text 23"/>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26" name="Text 24"/>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NotebookLM Presentation</a:t>
            </a:r>
            <a:endParaRPr lang="en-US" sz="850" dirty="0"/>
          </a:p>
        </p:txBody>
      </p:sp>
      <p:sp>
        <p:nvSpPr>
          <p:cNvPr id="27" name="Text 25"/>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REFLECTION</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สิ่งที่ได้เรียนรู้จาก Zero-shot → Few-shot</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NotebookLM Presentation</a:t>
            </a:r>
            <a:endParaRPr lang="en-US" sz="980" dirty="0"/>
          </a:p>
        </p:txBody>
      </p:sp>
      <p:sp>
        <p:nvSpPr>
          <p:cNvPr id="7" name="Shape 5"/>
          <p:cNvSpPr/>
          <p:nvPr/>
        </p:nvSpPr>
        <p:spPr>
          <a:xfrm>
            <a:off x="73152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32688" y="2084832"/>
            <a:ext cx="3118104" cy="256032"/>
          </a:xfrm>
          <a:prstGeom prst="rect">
            <a:avLst/>
          </a:prstGeom>
          <a:noFill/>
          <a:ln/>
        </p:spPr>
        <p:txBody>
          <a:bodyPr wrap="square" lIns="0" tIns="0" rIns="0" bIns="0" rtlCol="0" anchor="ctr"/>
          <a:lstStyle/>
          <a:p>
            <a:pPr indent="0" marL="0">
              <a:buNone/>
            </a:pPr>
            <a:r>
              <a:rPr lang="en-US" sz="1300" b="1" dirty="0">
                <a:solidFill>
                  <a:srgbClr val="B7332F"/>
                </a:solidFill>
                <a:latin typeface="Noto Sans Thai" pitchFamily="34" charset="0"/>
                <a:ea typeface="Noto Sans Thai" pitchFamily="34" charset="-122"/>
                <a:cs typeface="Noto Sans Thai" pitchFamily="34" charset="-120"/>
              </a:rPr>
              <a:t>ผลลัพธ์จาก Zero-shot</a:t>
            </a:r>
            <a:endParaRPr lang="en-US" sz="1300" dirty="0"/>
          </a:p>
        </p:txBody>
      </p:sp>
      <p:sp>
        <p:nvSpPr>
          <p:cNvPr id="9" name="Text 7"/>
          <p:cNvSpPr/>
          <p:nvPr/>
        </p:nvSpPr>
        <p:spPr>
          <a:xfrm>
            <a:off x="93268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ได้สรุปทั่วไป แต่ยังไม่เหมาะกับสไลด์ที่ต้องส่งครู</a:t>
            </a:r>
            <a:endParaRPr lang="en-US" sz="1080" dirty="0"/>
          </a:p>
        </p:txBody>
      </p:sp>
      <p:sp>
        <p:nvSpPr>
          <p:cNvPr id="10" name="Shape 8"/>
          <p:cNvSpPr/>
          <p:nvPr/>
        </p:nvSpPr>
        <p:spPr>
          <a:xfrm>
            <a:off x="434340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1" name="Text 9"/>
          <p:cNvSpPr/>
          <p:nvPr/>
        </p:nvSpPr>
        <p:spPr>
          <a:xfrm>
            <a:off x="4544568" y="2084832"/>
            <a:ext cx="311810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ผลลัพธ์จาก Few-shot</a:t>
            </a:r>
            <a:endParaRPr lang="en-US" sz="1300" dirty="0"/>
          </a:p>
        </p:txBody>
      </p:sp>
      <p:sp>
        <p:nvSpPr>
          <p:cNvPr id="12" name="Text 10"/>
          <p:cNvSpPr/>
          <p:nvPr/>
        </p:nvSpPr>
        <p:spPr>
          <a:xfrm>
            <a:off x="454456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ระบุแหล่งข้อมูลและจำนวนสไลด์ ทำให้เนื้อหาเล่าเรื่องเป็นระบบ</a:t>
            </a:r>
            <a:endParaRPr lang="en-US" sz="1080" dirty="0"/>
          </a:p>
        </p:txBody>
      </p:sp>
      <p:sp>
        <p:nvSpPr>
          <p:cNvPr id="13" name="Shape 11"/>
          <p:cNvSpPr/>
          <p:nvPr/>
        </p:nvSpPr>
        <p:spPr>
          <a:xfrm>
            <a:off x="795528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4" name="Text 12"/>
          <p:cNvSpPr/>
          <p:nvPr/>
        </p:nvSpPr>
        <p:spPr>
          <a:xfrm>
            <a:off x="8156448" y="2084832"/>
            <a:ext cx="3118104" cy="256032"/>
          </a:xfrm>
          <a:prstGeom prst="rect">
            <a:avLst/>
          </a:prstGeom>
          <a:noFill/>
          <a:ln/>
        </p:spPr>
        <p:txBody>
          <a:bodyPr wrap="square" lIns="0" tIns="0" rIns="0" bIns="0" rtlCol="0" anchor="ctr"/>
          <a:lstStyle/>
          <a:p>
            <a:pPr indent="0" marL="0">
              <a:buNone/>
            </a:pPr>
            <a:r>
              <a:rPr lang="en-US" sz="1300" b="1" dirty="0">
                <a:solidFill>
                  <a:srgbClr val="7F211F"/>
                </a:solidFill>
                <a:latin typeface="Noto Sans Thai" pitchFamily="34" charset="0"/>
                <a:ea typeface="Noto Sans Thai" pitchFamily="34" charset="-122"/>
                <a:cs typeface="Noto Sans Thai" pitchFamily="34" charset="-120"/>
              </a:rPr>
              <a:t>บทเรียนสำคัญ</a:t>
            </a:r>
            <a:endParaRPr lang="en-US" sz="1300" dirty="0"/>
          </a:p>
        </p:txBody>
      </p:sp>
      <p:sp>
        <p:nvSpPr>
          <p:cNvPr id="15" name="Text 13"/>
          <p:cNvSpPr/>
          <p:nvPr/>
        </p:nvSpPr>
        <p:spPr>
          <a:xfrm>
            <a:off x="815644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การสรุปด้วย AI ต้องกำหนดผู้เรียน จำนวนหน้า และรูปแบบเนื้อหาให้ชัด</a:t>
            </a:r>
            <a:endParaRPr lang="en-US" sz="1080" dirty="0"/>
          </a:p>
        </p:txBody>
      </p:sp>
      <p:sp>
        <p:nvSpPr>
          <p:cNvPr id="16" name="Shape 14"/>
          <p:cNvSpPr/>
          <p:nvPr/>
        </p:nvSpPr>
        <p:spPr>
          <a:xfrm>
            <a:off x="3977640" y="3337560"/>
            <a:ext cx="594360" cy="0"/>
          </a:xfrm>
          <a:prstGeom prst="line">
            <a:avLst/>
          </a:prstGeom>
          <a:noFill/>
          <a:ln w="25400">
            <a:solidFill>
              <a:srgbClr val="B7332F"/>
            </a:solidFill>
            <a:prstDash val="solid"/>
            <a:tailEnd type="triangle"/>
          </a:ln>
        </p:spPr>
      </p:sp>
      <p:sp>
        <p:nvSpPr>
          <p:cNvPr id="17" name="Shape 15"/>
          <p:cNvSpPr/>
          <p:nvPr/>
        </p:nvSpPr>
        <p:spPr>
          <a:xfrm>
            <a:off x="7589520" y="3337560"/>
            <a:ext cx="594360" cy="0"/>
          </a:xfrm>
          <a:prstGeom prst="line">
            <a:avLst/>
          </a:prstGeom>
          <a:noFill/>
          <a:ln w="25400">
            <a:solidFill>
              <a:srgbClr val="426C43"/>
            </a:solidFill>
            <a:prstDash val="solid"/>
            <a:tailEnd type="triangle"/>
          </a:ln>
        </p:spPr>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NotebookLM Presentation</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94360" y="502920"/>
            <a:ext cx="4114800" cy="228600"/>
          </a:xfrm>
          <a:prstGeom prst="rect">
            <a:avLst/>
          </a:prstGeom>
          <a:noFill/>
          <a:ln/>
        </p:spPr>
        <p:txBody>
          <a:bodyPr wrap="square" lIns="0" tIns="0" rIns="0" bIns="0" rtlCol="0" anchor="ctr"/>
          <a:lstStyle/>
          <a:p>
            <a:pPr indent="0" marL="0">
              <a:buNone/>
            </a:pPr>
            <a:r>
              <a:rPr lang="en-US" sz="1200" b="1" dirty="0">
                <a:solidFill>
                  <a:srgbClr val="B7332F"/>
                </a:solidFill>
                <a:latin typeface="Noto Sans Thai" pitchFamily="34" charset="0"/>
                <a:ea typeface="Noto Sans Thai" pitchFamily="34" charset="-122"/>
                <a:cs typeface="Noto Sans Thai" pitchFamily="34" charset="-120"/>
              </a:rPr>
              <a:t>Kimchi AI Learning Project</a:t>
            </a:r>
            <a:endParaRPr lang="en-US" sz="1200" dirty="0"/>
          </a:p>
        </p:txBody>
      </p:sp>
      <p:sp>
        <p:nvSpPr>
          <p:cNvPr id="5" name="Text 3"/>
          <p:cNvSpPr/>
          <p:nvPr/>
        </p:nvSpPr>
        <p:spPr>
          <a:xfrm>
            <a:off x="594360" y="987552"/>
            <a:ext cx="6858000" cy="1097280"/>
          </a:xfrm>
          <a:prstGeom prst="rect">
            <a:avLst/>
          </a:prstGeom>
          <a:noFill/>
          <a:ln/>
        </p:spPr>
        <p:txBody>
          <a:bodyPr wrap="square" lIns="0" tIns="0" rIns="0" bIns="0" rtlCol="0" anchor="ctr">
            <a:normAutofit/>
          </a:bodyPr>
          <a:lstStyle/>
          <a:p>
            <a:pPr indent="0" marL="0">
              <a:buNone/>
            </a:pPr>
            <a:r>
              <a:rPr lang="en-US" sz="3300" b="1" dirty="0">
                <a:solidFill>
                  <a:srgbClr val="25231F"/>
                </a:solidFill>
                <a:latin typeface="Noto Sans Thai" pitchFamily="34" charset="0"/>
                <a:ea typeface="Noto Sans Thai" pitchFamily="34" charset="-122"/>
                <a:cs typeface="Noto Sans Thai" pitchFamily="34" charset="-120"/>
              </a:rPr>
              <a:t>Website on GitHub Pages</a:t>
            </a:r>
            <a:endParaRPr lang="en-US" sz="3300" dirty="0"/>
          </a:p>
        </p:txBody>
      </p:sp>
      <p:sp>
        <p:nvSpPr>
          <p:cNvPr id="6" name="Text 4"/>
          <p:cNvSpPr/>
          <p:nvPr/>
        </p:nvSpPr>
        <p:spPr>
          <a:xfrm>
            <a:off x="640080" y="2130552"/>
            <a:ext cx="2468880" cy="256032"/>
          </a:xfrm>
          <a:prstGeom prst="rect">
            <a:avLst/>
          </a:prstGeom>
          <a:noFill/>
          <a:ln/>
        </p:spPr>
        <p:txBody>
          <a:bodyPr wrap="square" lIns="0" tIns="0" rIns="0" bIns="0" rtlCol="0" anchor="ct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หัวข้อการเรียนรู้ที่ 6</a:t>
            </a:r>
            <a:endParaRPr lang="en-US" sz="1050" dirty="0"/>
          </a:p>
        </p:txBody>
      </p:sp>
      <p:sp>
        <p:nvSpPr>
          <p:cNvPr id="7" name="Shape 5"/>
          <p:cNvSpPr/>
          <p:nvPr/>
        </p:nvSpPr>
        <p:spPr>
          <a:xfrm>
            <a:off x="621792" y="2514600"/>
            <a:ext cx="2926080" cy="320040"/>
          </a:xfrm>
          <a:prstGeom prst="roundRect">
            <a:avLst>
              <a:gd name="adj" fmla="val 22857"/>
            </a:avLst>
          </a:prstGeom>
          <a:solidFill>
            <a:srgbClr val="B7332F"/>
          </a:solidFill>
          <a:ln w="12700">
            <a:solidFill>
              <a:srgbClr val="B7332F"/>
            </a:solidFill>
            <a:prstDash val="solid"/>
          </a:ln>
        </p:spPr>
      </p:sp>
      <p:sp>
        <p:nvSpPr>
          <p:cNvPr id="8" name="Text 6"/>
          <p:cNvSpPr/>
          <p:nvPr/>
        </p:nvSpPr>
        <p:spPr>
          <a:xfrm>
            <a:off x="713232" y="2578608"/>
            <a:ext cx="2743200" cy="137160"/>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Thai" pitchFamily="34" charset="0"/>
                <a:ea typeface="Noto Sans Thai" pitchFamily="34" charset="-122"/>
                <a:cs typeface="Noto Sans Thai" pitchFamily="34" charset="-120"/>
              </a:rPr>
              <a:t>Static Website</a:t>
            </a:r>
            <a:endParaRPr lang="en-US" sz="850" dirty="0"/>
          </a:p>
        </p:txBody>
      </p:sp>
      <p:sp>
        <p:nvSpPr>
          <p:cNvPr id="9" name="Text 7"/>
          <p:cNvSpPr/>
          <p:nvPr/>
        </p:nvSpPr>
        <p:spPr>
          <a:xfrm>
            <a:off x="685800" y="3154680"/>
            <a:ext cx="4389120" cy="274320"/>
          </a:xfrm>
          <a:prstGeom prst="rect">
            <a:avLst/>
          </a:prstGeom>
          <a:noFill/>
          <a:ln/>
        </p:spPr>
        <p:txBody>
          <a:bodyPr wrap="square" lIns="0" tIns="0" rIns="0" bIns="0" rtlCol="0" anchor="ctr"/>
          <a:lstStyle/>
          <a:p>
            <a:pPr indent="0" marL="0">
              <a:buNone/>
            </a:pPr>
            <a:r>
              <a:rPr lang="en-US" sz="1500" b="1" dirty="0">
                <a:solidFill>
                  <a:srgbClr val="7F211F"/>
                </a:solidFill>
                <a:latin typeface="Noto Sans Thai" pitchFamily="34" charset="0"/>
                <a:ea typeface="Noto Sans Thai" pitchFamily="34" charset="-122"/>
                <a:cs typeface="Noto Sans Thai" pitchFamily="34" charset="-120"/>
              </a:rPr>
              <a:t>สิ่งที่จะใส่ในสไลด์ 6 หน้า</a:t>
            </a:r>
            <a:endParaRPr lang="en-US" sz="1500" dirty="0"/>
          </a:p>
        </p:txBody>
      </p:sp>
      <p:sp>
        <p:nvSpPr>
          <p:cNvPr id="10" name="Text 8"/>
          <p:cNvSpPr/>
          <p:nvPr/>
        </p:nvSpPr>
        <p:spPr>
          <a:xfrm>
            <a:off x="731520" y="3566160"/>
            <a:ext cx="5486400" cy="2011680"/>
          </a:xfrm>
          <a:prstGeom prst="rect">
            <a:avLst/>
          </a:prstGeom>
          <a:noFill/>
          <a:ln/>
        </p:spPr>
        <p:txBody>
          <a:bodyPr wrap="square" lIns="254" tIns="254" rIns="254" bIns="254" rtlCol="0" anchor="ctr">
            <a:normAutofit/>
          </a:bodyPr>
          <a:lstStyle/>
          <a:p>
            <a:pPr indent="0" marL="0">
              <a:buNone/>
            </a:pPr>
            <a:r>
              <a:rPr lang="en-US" sz="1400" dirty="0">
                <a:solidFill>
                  <a:srgbClr val="25231F"/>
                </a:solidFill>
                <a:latin typeface="Noto Sans Thai" pitchFamily="34" charset="0"/>
                <a:ea typeface="Noto Sans Thai" pitchFamily="34" charset="-122"/>
                <a:cs typeface="Noto Sans Thai" pitchFamily="34" charset="-120"/>
              </a:rPr>
              <a:t>1. เขียนเว็บ HTML/CSS/JS</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2. ปรับให้ Responsive</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3. แบ่งเนื้อหาเป็น 5 ส่วนสำคัญ</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4. ใส่ปุ่ม PDF และ Slide Preview</a:t>
            </a:r>
            <a:endParaRPr lang="en-US" sz="1400" dirty="0"/>
          </a:p>
          <a:p>
            <a:pPr indent="0" marL="0">
              <a:buNone/>
            </a:pPr>
            <a:r>
              <a:rPr lang="en-US" sz="1400" dirty="0">
                <a:solidFill>
                  <a:srgbClr val="25231F"/>
                </a:solidFill>
                <a:latin typeface="Noto Sans Thai" pitchFamily="34" charset="0"/>
                <a:ea typeface="Noto Sans Thai" pitchFamily="34" charset="-122"/>
                <a:cs typeface="Noto Sans Thai" pitchFamily="34" charset="-120"/>
              </a:rPr>
              <a:t>5. พร้อมเผยแพร่บน GitHub Pages</a:t>
            </a:r>
            <a:endParaRPr lang="en-US" sz="1400" dirty="0"/>
          </a:p>
        </p:txBody>
      </p:sp>
      <p:sp>
        <p:nvSpPr>
          <p:cNvPr id="11" name="Shape 9"/>
          <p:cNvSpPr/>
          <p:nvPr/>
        </p:nvSpPr>
        <p:spPr>
          <a:xfrm>
            <a:off x="7452360" y="1051560"/>
            <a:ext cx="3886200" cy="4526280"/>
          </a:xfrm>
          <a:prstGeom prst="roundRect">
            <a:avLst>
              <a:gd name="adj" fmla="val 2353"/>
            </a:avLst>
          </a:prstGeom>
          <a:solidFill>
            <a:srgbClr val="FFF7EC"/>
          </a:solidFill>
          <a:ln w="12700">
            <a:solidFill>
              <a:srgbClr val="E8DFD1"/>
            </a:solidFill>
            <a:prstDash val="solid"/>
          </a:ln>
          <a:effectLst>
            <a:outerShdw sx="100000" sy="100000" kx="0" ky="0" algn="bl" rotWithShape="0" blurRad="38100" dist="12700" dir="2700000">
              <a:srgbClr val="000000">
                <a:alpha val="12000"/>
              </a:srgbClr>
            </a:outerShdw>
          </a:effectLst>
        </p:spPr>
      </p:sp>
      <p:sp>
        <p:nvSpPr>
          <p:cNvPr id="12" name="Text 10"/>
          <p:cNvSpPr/>
          <p:nvPr/>
        </p:nvSpPr>
        <p:spPr>
          <a:xfrm>
            <a:off x="7818120" y="1325880"/>
            <a:ext cx="3200400" cy="1234440"/>
          </a:xfrm>
          <a:prstGeom prst="rect">
            <a:avLst/>
          </a:prstGeom>
          <a:noFill/>
          <a:ln/>
        </p:spPr>
        <p:txBody>
          <a:bodyPr wrap="square" lIns="0" tIns="0" rIns="0" bIns="0" rtlCol="0" anchor="ctr"/>
          <a:lstStyle/>
          <a:p>
            <a:pPr algn="ctr" indent="0" marL="0">
              <a:buNone/>
            </a:pPr>
            <a:r>
              <a:rPr lang="en-US" sz="7000" b="1" dirty="0">
                <a:solidFill>
                  <a:srgbClr val="426C43"/>
                </a:solidFill>
                <a:latin typeface="Noto Sans Thai" pitchFamily="34" charset="0"/>
                <a:ea typeface="Noto Sans Thai" pitchFamily="34" charset="-122"/>
                <a:cs typeface="Noto Sans Thai" pitchFamily="34" charset="-120"/>
              </a:rPr>
              <a:t>06</a:t>
            </a:r>
            <a:endParaRPr lang="en-US" sz="7000" dirty="0"/>
          </a:p>
        </p:txBody>
      </p:sp>
      <p:sp>
        <p:nvSpPr>
          <p:cNvPr id="13" name="Text 11"/>
          <p:cNvSpPr/>
          <p:nvPr/>
        </p:nvSpPr>
        <p:spPr>
          <a:xfrm>
            <a:off x="8183880" y="2971800"/>
            <a:ext cx="2468880" cy="1463040"/>
          </a:xfrm>
          <a:prstGeom prst="rect">
            <a:avLst/>
          </a:prstGeom>
          <a:noFill/>
          <a:ln/>
        </p:spPr>
        <p:txBody>
          <a:bodyPr wrap="square" lIns="254" tIns="254" rIns="254" bIns="254" rtlCol="0" anchor="ctr"/>
          <a:lstStyle/>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Prompt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Result</a:t>
            </a:r>
            <a:endParaRPr lang="en-US" sz="2200" dirty="0"/>
          </a:p>
          <a:p>
            <a:pPr algn="ctr" indent="0" marL="0">
              <a:buNone/>
            </a:pPr>
            <a:r>
              <a:rPr lang="en-US" sz="2200" b="1" dirty="0">
                <a:solidFill>
                  <a:srgbClr val="25231F"/>
                </a:solidFill>
                <a:latin typeface="Noto Sans Thai" pitchFamily="34" charset="0"/>
                <a:ea typeface="Noto Sans Thai" pitchFamily="34" charset="-122"/>
                <a:cs typeface="Noto Sans Thai" pitchFamily="34" charset="-120"/>
              </a:rPr>
              <a:t>Reflection</a:t>
            </a:r>
            <a:endParaRPr lang="en-US" sz="2200" dirty="0"/>
          </a:p>
        </p:txBody>
      </p:sp>
      <p:sp>
        <p:nvSpPr>
          <p:cNvPr id="14" name="Text 12"/>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5" name="Text 13"/>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Website on GitHub Pages</a:t>
            </a:r>
            <a:endParaRPr lang="en-US" sz="850" dirty="0"/>
          </a:p>
        </p:txBody>
      </p:sp>
      <p:sp>
        <p:nvSpPr>
          <p:cNvPr id="16" name="Text 14"/>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Prompt แรก: Website on GitHub Pages</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คำสั่งแรกยังค่อนข้างกว้าง จึงใช้ดูทิศทางเริ่มต้นของผลงาน</a:t>
            </a:r>
            <a:endParaRPr lang="en-US" sz="980" dirty="0"/>
          </a:p>
        </p:txBody>
      </p:sp>
      <p:sp>
        <p:nvSpPr>
          <p:cNvPr id="7" name="Shape 5"/>
          <p:cNvSpPr/>
          <p:nvPr/>
        </p:nvSpPr>
        <p:spPr>
          <a:xfrm>
            <a:off x="685800" y="1508760"/>
            <a:ext cx="10835640" cy="4526280"/>
          </a:xfrm>
          <a:prstGeom prst="roundRect">
            <a:avLst>
              <a:gd name="adj" fmla="val 1212"/>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508760"/>
            <a:ext cx="10835640" cy="402336"/>
          </a:xfrm>
          <a:prstGeom prst="rect">
            <a:avLst/>
          </a:prstGeom>
          <a:solidFill>
            <a:srgbClr val="F4F1E9"/>
          </a:solidFill>
          <a:ln w="12700">
            <a:solidFill>
              <a:srgbClr val="F4F1E9"/>
            </a:solidFill>
            <a:prstDash val="solid"/>
          </a:ln>
        </p:spPr>
      </p:sp>
      <p:sp>
        <p:nvSpPr>
          <p:cNvPr id="9" name="Text 7"/>
          <p:cNvSpPr/>
          <p:nvPr/>
        </p:nvSpPr>
        <p:spPr>
          <a:xfrm>
            <a:off x="850392" y="163677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60934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64592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prompt</a:t>
            </a:r>
            <a:endParaRPr lang="en-US" sz="680" dirty="0"/>
          </a:p>
        </p:txBody>
      </p:sp>
      <p:sp>
        <p:nvSpPr>
          <p:cNvPr id="12" name="Shape 10"/>
          <p:cNvSpPr/>
          <p:nvPr/>
        </p:nvSpPr>
        <p:spPr>
          <a:xfrm>
            <a:off x="960120" y="1993392"/>
            <a:ext cx="10287000" cy="3063240"/>
          </a:xfrm>
          <a:prstGeom prst="roundRect">
            <a:avLst>
              <a:gd name="adj" fmla="val 1791"/>
            </a:avLst>
          </a:prstGeom>
          <a:solidFill>
            <a:srgbClr val="FFF9F1"/>
          </a:solidFill>
          <a:ln w="12700">
            <a:solidFill>
              <a:srgbClr val="E7D8C5"/>
            </a:solidFill>
            <a:prstDash val="solid"/>
          </a:ln>
        </p:spPr>
      </p:sp>
      <p:sp>
        <p:nvSpPr>
          <p:cNvPr id="13" name="Text 11"/>
          <p:cNvSpPr/>
          <p:nvPr/>
        </p:nvSpPr>
        <p:spPr>
          <a:xfrm>
            <a:off x="1170432" y="2176272"/>
            <a:ext cx="9875520" cy="2606040"/>
          </a:xfrm>
          <a:prstGeom prst="rect">
            <a:avLst/>
          </a:prstGeom>
          <a:noFill/>
          <a:ln/>
        </p:spPr>
        <p:txBody>
          <a:bodyPr wrap="square" lIns="508" tIns="508" rIns="508" bIns="508" rtlCol="0" anchor="t">
            <a:normAutofit/>
          </a:bodyPr>
          <a:lstStyle/>
          <a:p>
            <a:pPr indent="0" marL="0">
              <a:buNone/>
            </a:pPr>
            <a:r>
              <a:rPr lang="en-US" sz="1597" dirty="0">
                <a:solidFill>
                  <a:srgbClr val="25231F"/>
                </a:solidFill>
                <a:latin typeface="Noto Sans Thai" pitchFamily="34" charset="0"/>
                <a:ea typeface="Noto Sans Thai" pitchFamily="34" charset="-122"/>
                <a:cs typeface="Noto Sans Thai" pitchFamily="34" charset="-120"/>
              </a:rPr>
              <a:t>เขียนเว็บไซต์เกี่ยวกับการทำกิมจิ ให้ออนบนgithub ได้</a:t>
            </a:r>
            <a:endParaRPr lang="en-US" sz="1597" dirty="0"/>
          </a:p>
        </p:txBody>
      </p:sp>
      <p:sp>
        <p:nvSpPr>
          <p:cNvPr id="14" name="Text 12"/>
          <p:cNvSpPr/>
          <p:nvPr/>
        </p:nvSpPr>
        <p:spPr>
          <a:xfrm>
            <a:off x="960120" y="5248656"/>
            <a:ext cx="10241280" cy="301752"/>
          </a:xfrm>
          <a:prstGeom prst="rect">
            <a:avLst/>
          </a:prstGeom>
          <a:noFill/>
          <a:ln/>
        </p:spPr>
        <p:txBody>
          <a:bodyPr wrap="square" lIns="0" tIns="0" rIns="0" bIns="0" rtlCol="0" anchor="ctr">
            <a:normAutofit/>
          </a:bodyPr>
          <a:lstStyle/>
          <a:p>
            <a:pPr indent="0" marL="0">
              <a:buNone/>
            </a:pPr>
            <a:r>
              <a:rPr lang="en-US" sz="1050" dirty="0">
                <a:solidFill>
                  <a:srgbClr val="716B61"/>
                </a:solidFill>
                <a:latin typeface="Noto Sans Thai" pitchFamily="34" charset="0"/>
                <a:ea typeface="Noto Sans Thai" pitchFamily="34" charset="-122"/>
                <a:cs typeface="Noto Sans Thai" pitchFamily="34" charset="-120"/>
              </a:rPr>
              <a:t>แคปจอส่วนนี้แทนหน้าจอการใส่ prompt แรก</a:t>
            </a:r>
            <a:endParaRPr lang="en-US" sz="1050" dirty="0"/>
          </a:p>
        </p:txBody>
      </p:sp>
      <p:sp>
        <p:nvSpPr>
          <p:cNvPr id="15" name="Text 13"/>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6" name="Text 14"/>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Website on GitHub Pages</a:t>
            </a:r>
            <a:endParaRPr lang="en-US" sz="850" dirty="0"/>
          </a:p>
        </p:txBody>
      </p:sp>
      <p:sp>
        <p:nvSpPr>
          <p:cNvPr id="17" name="Text 15"/>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ZERO-SHOT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แรก: Website on GitHub Pages</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ผลลัพธ์เริ่มต้นยังพอใช้งานได้ แต่ยังมีจุดที่ต้องปรับให้ตรงโจทย์</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github.io / kimchi-github-pages</a:t>
            </a:r>
            <a:endParaRPr lang="en-US" sz="680" dirty="0"/>
          </a:p>
        </p:txBody>
      </p:sp>
      <p:sp>
        <p:nvSpPr>
          <p:cNvPr id="12" name="Shape 10"/>
          <p:cNvSpPr/>
          <p:nvPr/>
        </p:nvSpPr>
        <p:spPr>
          <a:xfrm>
            <a:off x="1005840" y="1901952"/>
            <a:ext cx="10012680" cy="3474720"/>
          </a:xfrm>
          <a:prstGeom prst="roundRect">
            <a:avLst>
              <a:gd name="adj" fmla="val 1842"/>
            </a:avLst>
          </a:prstGeom>
          <a:solidFill>
            <a:srgbClr val="FFF7EC"/>
          </a:solidFill>
          <a:ln w="12700">
            <a:solidFill>
              <a:srgbClr val="E8DFD1"/>
            </a:solidFill>
            <a:prstDash val="solid"/>
          </a:ln>
          <a:effectLst>
            <a:outerShdw sx="100000" sy="100000" kx="0" ky="0" algn="bl" rotWithShape="0" blurRad="19050" dist="12700" dir="2700000">
              <a:srgbClr val="000000">
                <a:alpha val="8000"/>
              </a:srgbClr>
            </a:outerShdw>
          </a:effectLst>
        </p:spPr>
      </p:sp>
      <p:sp>
        <p:nvSpPr>
          <p:cNvPr id="13" name="Shape 11"/>
          <p:cNvSpPr/>
          <p:nvPr/>
        </p:nvSpPr>
        <p:spPr>
          <a:xfrm>
            <a:off x="1005840" y="1901952"/>
            <a:ext cx="10012680" cy="438912"/>
          </a:xfrm>
          <a:prstGeom prst="rect">
            <a:avLst/>
          </a:prstGeom>
          <a:solidFill>
            <a:srgbClr val="426C43"/>
          </a:solidFill>
          <a:ln w="12700">
            <a:solidFill>
              <a:srgbClr val="426C43"/>
            </a:solidFill>
            <a:prstDash val="solid"/>
          </a:ln>
        </p:spPr>
      </p:sp>
      <p:sp>
        <p:nvSpPr>
          <p:cNvPr id="14" name="Text 12"/>
          <p:cNvSpPr/>
          <p:nvPr/>
        </p:nvSpPr>
        <p:spPr>
          <a:xfrm>
            <a:off x="1234440" y="2048256"/>
            <a:ext cx="3200400" cy="109728"/>
          </a:xfrm>
          <a:prstGeom prst="rect">
            <a:avLst/>
          </a:prstGeom>
          <a:noFill/>
          <a:ln/>
        </p:spPr>
        <p:txBody>
          <a:bodyPr wrap="square" lIns="0" tIns="0" rIns="0" bIns="0" rtlCol="0" anchor="ctr"/>
          <a:lstStyle/>
          <a:p>
            <a:pPr indent="0" marL="0">
              <a:buNone/>
            </a:pPr>
            <a:r>
              <a:rPr lang="en-US" sz="1100" b="1" dirty="0">
                <a:solidFill>
                  <a:srgbClr val="FFFFFF"/>
                </a:solidFill>
                <a:latin typeface="Noto Sans Thai" pitchFamily="34" charset="0"/>
                <a:ea typeface="Noto Sans Thai" pitchFamily="34" charset="-122"/>
                <a:cs typeface="Noto Sans Thai" pitchFamily="34" charset="-120"/>
              </a:rPr>
              <a:t>Kimchi Lab</a:t>
            </a:r>
            <a:endParaRPr lang="en-US" sz="1100" dirty="0"/>
          </a:p>
        </p:txBody>
      </p:sp>
      <p:sp>
        <p:nvSpPr>
          <p:cNvPr id="15" name="Text 13"/>
          <p:cNvSpPr/>
          <p:nvPr/>
        </p:nvSpPr>
        <p:spPr>
          <a:xfrm>
            <a:off x="4617720" y="2048256"/>
            <a:ext cx="6126480" cy="109728"/>
          </a:xfrm>
          <a:prstGeom prst="rect">
            <a:avLst/>
          </a:prstGeom>
          <a:noFill/>
          <a:ln/>
        </p:spPr>
        <p:txBody>
          <a:bodyPr wrap="square" lIns="0" tIns="0" rIns="0" bIns="0" rtlCol="0" anchor="ctr"/>
          <a:lstStyle/>
          <a:p>
            <a:pPr algn="r" indent="0" marL="0">
              <a:buNone/>
            </a:pPr>
            <a:r>
              <a:rPr lang="en-US" sz="850" dirty="0">
                <a:solidFill>
                  <a:srgbClr val="FFFFFF"/>
                </a:solidFill>
                <a:latin typeface="Noto Sans Thai" pitchFamily="34" charset="0"/>
                <a:ea typeface="Noto Sans Thai" pitchFamily="34" charset="-122"/>
                <a:cs typeface="Noto Sans Thai" pitchFamily="34" charset="-120"/>
              </a:rPr>
              <a:t>About | Ingredients | Steps | pH | AI</a:t>
            </a:r>
            <a:endParaRPr lang="en-US" sz="850" dirty="0"/>
          </a:p>
        </p:txBody>
      </p:sp>
      <p:sp>
        <p:nvSpPr>
          <p:cNvPr id="16" name="Text 14"/>
          <p:cNvSpPr/>
          <p:nvPr/>
        </p:nvSpPr>
        <p:spPr>
          <a:xfrm>
            <a:off x="1353312" y="2651760"/>
            <a:ext cx="4572000" cy="594360"/>
          </a:xfrm>
          <a:prstGeom prst="rect">
            <a:avLst/>
          </a:prstGeom>
          <a:noFill/>
          <a:ln/>
        </p:spPr>
        <p:txBody>
          <a:bodyPr wrap="square" lIns="0" tIns="0" rIns="0" bIns="0" rtlCol="0" anchor="ctr">
            <a:normAutofit/>
          </a:bodyPr>
          <a:lstStyle/>
          <a:p>
            <a:pPr indent="0" marL="0">
              <a:buNone/>
            </a:pPr>
            <a:r>
              <a:rPr lang="en-US" sz="2300" b="1" dirty="0">
                <a:solidFill>
                  <a:srgbClr val="25231F"/>
                </a:solidFill>
                <a:latin typeface="Noto Sans Thai" pitchFamily="34" charset="0"/>
                <a:ea typeface="Noto Sans Thai" pitchFamily="34" charset="-122"/>
                <a:cs typeface="Noto Sans Thai" pitchFamily="34" charset="-120"/>
              </a:rPr>
              <a:t>เว็บการทำกิมจิและกระบวนการหมัก</a:t>
            </a:r>
            <a:endParaRPr lang="en-US" sz="2300" dirty="0"/>
          </a:p>
        </p:txBody>
      </p:sp>
      <p:sp>
        <p:nvSpPr>
          <p:cNvPr id="17" name="Text 15"/>
          <p:cNvSpPr/>
          <p:nvPr/>
        </p:nvSpPr>
        <p:spPr>
          <a:xfrm>
            <a:off x="1389888" y="3364992"/>
            <a:ext cx="4892040" cy="685800"/>
          </a:xfrm>
          <a:prstGeom prst="rect">
            <a:avLst/>
          </a:prstGeom>
          <a:noFill/>
          <a:ln/>
        </p:spPr>
        <p:txBody>
          <a:bodyPr wrap="square" lIns="254" tIns="254" rIns="254" bIns="254" rtlCol="0" anchor="ctr">
            <a:normAutofit/>
          </a:bodyPr>
          <a:lstStyle/>
          <a:p>
            <a:pPr indent="0" marL="0">
              <a:buNone/>
            </a:pPr>
            <a:r>
              <a:rPr lang="en-US" sz="1200" dirty="0">
                <a:solidFill>
                  <a:srgbClr val="716B61"/>
                </a:solidFill>
                <a:latin typeface="Noto Sans Thai" pitchFamily="34" charset="0"/>
                <a:ea typeface="Noto Sans Thai" pitchFamily="34" charset="-122"/>
                <a:cs typeface="Noto Sans Thai" pitchFamily="34" charset="-120"/>
              </a:rPr>
              <a:t>เนื้อหาเกี่ยวกับวัตถุดิบ ขั้นตอน การหมัก และ AI</a:t>
            </a:r>
            <a:endParaRPr lang="en-US" sz="1200" dirty="0"/>
          </a:p>
        </p:txBody>
      </p:sp>
      <p:sp>
        <p:nvSpPr>
          <p:cNvPr id="18" name="Shape 16"/>
          <p:cNvSpPr/>
          <p:nvPr/>
        </p:nvSpPr>
        <p:spPr>
          <a:xfrm>
            <a:off x="6492240" y="2697480"/>
            <a:ext cx="1828800" cy="502920"/>
          </a:xfrm>
          <a:prstGeom prst="roundRect">
            <a:avLst>
              <a:gd name="adj" fmla="val 12727"/>
            </a:avLst>
          </a:prstGeom>
          <a:solidFill>
            <a:srgbClr val="FFF1EF"/>
          </a:solidFill>
          <a:ln w="12700">
            <a:solidFill>
              <a:srgbClr val="E4D9C9"/>
            </a:solidFill>
            <a:prstDash val="solid"/>
          </a:ln>
        </p:spPr>
      </p:sp>
      <p:sp>
        <p:nvSpPr>
          <p:cNvPr id="19" name="Text 17"/>
          <p:cNvSpPr/>
          <p:nvPr/>
        </p:nvSpPr>
        <p:spPr>
          <a:xfrm>
            <a:off x="6583680" y="2862072"/>
            <a:ext cx="1645920" cy="109728"/>
          </a:xfrm>
          <a:prstGeom prst="rect">
            <a:avLst/>
          </a:prstGeom>
          <a:noFill/>
          <a:ln/>
        </p:spPr>
        <p:txBody>
          <a:bodyPr wrap="square" lIns="0" tIns="0" rIns="0" bIns="0" rtlCol="0" anchor="ctr"/>
          <a:lstStyle/>
          <a:p>
            <a:pPr algn="ctr" indent="0" marL="0">
              <a:buNone/>
            </a:pPr>
            <a:r>
              <a:rPr lang="en-US" sz="850" b="1" dirty="0">
                <a:solidFill>
                  <a:srgbClr val="B7332F"/>
                </a:solidFill>
                <a:latin typeface="Noto Sans Thai" pitchFamily="34" charset="0"/>
                <a:ea typeface="Noto Sans Thai" pitchFamily="34" charset="-122"/>
                <a:cs typeface="Noto Sans Thai" pitchFamily="34" charset="-120"/>
              </a:rPr>
              <a:t>วัตถุดิบ</a:t>
            </a:r>
            <a:endParaRPr lang="en-US" sz="850" dirty="0"/>
          </a:p>
        </p:txBody>
      </p:sp>
      <p:sp>
        <p:nvSpPr>
          <p:cNvPr id="20" name="Shape 18"/>
          <p:cNvSpPr/>
          <p:nvPr/>
        </p:nvSpPr>
        <p:spPr>
          <a:xfrm>
            <a:off x="8549640" y="2697480"/>
            <a:ext cx="1828800" cy="502920"/>
          </a:xfrm>
          <a:prstGeom prst="roundRect">
            <a:avLst>
              <a:gd name="adj" fmla="val 12727"/>
            </a:avLst>
          </a:prstGeom>
          <a:solidFill>
            <a:srgbClr val="F0F6EA"/>
          </a:solidFill>
          <a:ln w="12700">
            <a:solidFill>
              <a:srgbClr val="E4D9C9"/>
            </a:solidFill>
            <a:prstDash val="solid"/>
          </a:ln>
        </p:spPr>
      </p:sp>
      <p:sp>
        <p:nvSpPr>
          <p:cNvPr id="21" name="Text 19"/>
          <p:cNvSpPr/>
          <p:nvPr/>
        </p:nvSpPr>
        <p:spPr>
          <a:xfrm>
            <a:off x="8641080" y="2862072"/>
            <a:ext cx="1645920" cy="109728"/>
          </a:xfrm>
          <a:prstGeom prst="rect">
            <a:avLst/>
          </a:prstGeom>
          <a:noFill/>
          <a:ln/>
        </p:spPr>
        <p:txBody>
          <a:bodyPr wrap="square" lIns="0" tIns="0" rIns="0" bIns="0" rtlCol="0" anchor="ctr"/>
          <a:lstStyle/>
          <a:p>
            <a:pPr algn="ctr" indent="0" marL="0">
              <a:buNone/>
            </a:pPr>
            <a:r>
              <a:rPr lang="en-US" sz="850" b="1" dirty="0">
                <a:solidFill>
                  <a:srgbClr val="426C43"/>
                </a:solidFill>
                <a:latin typeface="Noto Sans Thai" pitchFamily="34" charset="0"/>
                <a:ea typeface="Noto Sans Thai" pitchFamily="34" charset="-122"/>
                <a:cs typeface="Noto Sans Thai" pitchFamily="34" charset="-120"/>
              </a:rPr>
              <a:t>ขั้นตอน</a:t>
            </a:r>
            <a:endParaRPr lang="en-US" sz="850" dirty="0"/>
          </a:p>
        </p:txBody>
      </p:sp>
      <p:sp>
        <p:nvSpPr>
          <p:cNvPr id="22" name="Shape 20"/>
          <p:cNvSpPr/>
          <p:nvPr/>
        </p:nvSpPr>
        <p:spPr>
          <a:xfrm>
            <a:off x="6492240" y="3447288"/>
            <a:ext cx="1828800" cy="502920"/>
          </a:xfrm>
          <a:prstGeom prst="roundRect">
            <a:avLst>
              <a:gd name="adj" fmla="val 12727"/>
            </a:avLst>
          </a:prstGeom>
          <a:solidFill>
            <a:srgbClr val="FFF1EF"/>
          </a:solidFill>
          <a:ln w="12700">
            <a:solidFill>
              <a:srgbClr val="E4D9C9"/>
            </a:solidFill>
            <a:prstDash val="solid"/>
          </a:ln>
        </p:spPr>
      </p:sp>
      <p:sp>
        <p:nvSpPr>
          <p:cNvPr id="23" name="Text 21"/>
          <p:cNvSpPr/>
          <p:nvPr/>
        </p:nvSpPr>
        <p:spPr>
          <a:xfrm>
            <a:off x="6583680" y="3611880"/>
            <a:ext cx="1645920" cy="109728"/>
          </a:xfrm>
          <a:prstGeom prst="rect">
            <a:avLst/>
          </a:prstGeom>
          <a:noFill/>
          <a:ln/>
        </p:spPr>
        <p:txBody>
          <a:bodyPr wrap="square" lIns="0" tIns="0" rIns="0" bIns="0" rtlCol="0" anchor="ctr"/>
          <a:lstStyle/>
          <a:p>
            <a:pPr algn="ctr" indent="0" marL="0">
              <a:buNone/>
            </a:pPr>
            <a:r>
              <a:rPr lang="en-US" sz="850" b="1" dirty="0">
                <a:solidFill>
                  <a:srgbClr val="B7332F"/>
                </a:solidFill>
                <a:latin typeface="Noto Sans Thai" pitchFamily="34" charset="0"/>
                <a:ea typeface="Noto Sans Thai" pitchFamily="34" charset="-122"/>
                <a:cs typeface="Noto Sans Thai" pitchFamily="34" charset="-120"/>
              </a:rPr>
              <a:t>การหมัก</a:t>
            </a:r>
            <a:endParaRPr lang="en-US" sz="850" dirty="0"/>
          </a:p>
        </p:txBody>
      </p:sp>
      <p:sp>
        <p:nvSpPr>
          <p:cNvPr id="24" name="Shape 22"/>
          <p:cNvSpPr/>
          <p:nvPr/>
        </p:nvSpPr>
        <p:spPr>
          <a:xfrm>
            <a:off x="8549640" y="3447288"/>
            <a:ext cx="1828800" cy="502920"/>
          </a:xfrm>
          <a:prstGeom prst="roundRect">
            <a:avLst>
              <a:gd name="adj" fmla="val 12727"/>
            </a:avLst>
          </a:prstGeom>
          <a:solidFill>
            <a:srgbClr val="F0F6EA"/>
          </a:solidFill>
          <a:ln w="12700">
            <a:solidFill>
              <a:srgbClr val="E4D9C9"/>
            </a:solidFill>
            <a:prstDash val="solid"/>
          </a:ln>
        </p:spPr>
      </p:sp>
      <p:sp>
        <p:nvSpPr>
          <p:cNvPr id="25" name="Text 23"/>
          <p:cNvSpPr/>
          <p:nvPr/>
        </p:nvSpPr>
        <p:spPr>
          <a:xfrm>
            <a:off x="8641080" y="3611880"/>
            <a:ext cx="1645920" cy="109728"/>
          </a:xfrm>
          <a:prstGeom prst="rect">
            <a:avLst/>
          </a:prstGeom>
          <a:noFill/>
          <a:ln/>
        </p:spPr>
        <p:txBody>
          <a:bodyPr wrap="square" lIns="0" tIns="0" rIns="0" bIns="0" rtlCol="0" anchor="ctr"/>
          <a:lstStyle/>
          <a:p>
            <a:pPr algn="ctr" indent="0" marL="0">
              <a:buNone/>
            </a:pPr>
            <a:r>
              <a:rPr lang="en-US" sz="850" b="1" dirty="0">
                <a:solidFill>
                  <a:srgbClr val="426C43"/>
                </a:solidFill>
                <a:latin typeface="Noto Sans Thai" pitchFamily="34" charset="0"/>
                <a:ea typeface="Noto Sans Thai" pitchFamily="34" charset="-122"/>
                <a:cs typeface="Noto Sans Thai" pitchFamily="34" charset="-120"/>
              </a:rPr>
              <a:t>AI</a:t>
            </a:r>
            <a:endParaRPr lang="en-US" sz="850" dirty="0"/>
          </a:p>
        </p:txBody>
      </p:sp>
      <p:sp>
        <p:nvSpPr>
          <p:cNvPr id="26" name="Shape 24"/>
          <p:cNvSpPr/>
          <p:nvPr/>
        </p:nvSpPr>
        <p:spPr>
          <a:xfrm>
            <a:off x="1371600" y="4389120"/>
            <a:ext cx="2011680" cy="438912"/>
          </a:xfrm>
          <a:prstGeom prst="roundRect">
            <a:avLst>
              <a:gd name="adj" fmla="val 14583"/>
            </a:avLst>
          </a:prstGeom>
          <a:solidFill>
            <a:srgbClr val="426C43"/>
          </a:solidFill>
          <a:ln w="12700">
            <a:solidFill>
              <a:srgbClr val="426C43"/>
            </a:solidFill>
            <a:prstDash val="solid"/>
          </a:ln>
        </p:spPr>
      </p:sp>
      <p:sp>
        <p:nvSpPr>
          <p:cNvPr id="27" name="Text 25"/>
          <p:cNvSpPr/>
          <p:nvPr/>
        </p:nvSpPr>
        <p:spPr>
          <a:xfrm>
            <a:off x="1371600" y="4535424"/>
            <a:ext cx="2011680"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Thai" pitchFamily="34" charset="0"/>
                <a:ea typeface="Noto Sans Thai" pitchFamily="34" charset="-122"/>
                <a:cs typeface="Noto Sans Thai" pitchFamily="34" charset="-120"/>
              </a:rPr>
              <a:t>ดูขั้นตอน</a:t>
            </a:r>
            <a:endParaRPr lang="en-US" sz="900" dirty="0"/>
          </a:p>
        </p:txBody>
      </p:sp>
      <p:sp>
        <p:nvSpPr>
          <p:cNvPr id="28" name="Text 2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29" name="Text 2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Website on GitHub Pages</a:t>
            </a:r>
            <a:endParaRPr lang="en-US" sz="850" dirty="0"/>
          </a:p>
        </p:txBody>
      </p:sp>
      <p:sp>
        <p:nvSpPr>
          <p:cNvPr id="30" name="Text 2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FEEDBACK + FEW-SHOT PROMPT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การปรับรายละเอียด: Website on GitHub Pages</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เพิ่มเงื่อนไขให้ชัดเจน เพื่อให้ AI สร้างผลลัพธ์ตรงงานมากขึ้น</a:t>
            </a:r>
            <a:endParaRPr lang="en-US" sz="980" dirty="0"/>
          </a:p>
        </p:txBody>
      </p:sp>
      <p:sp>
        <p:nvSpPr>
          <p:cNvPr id="7" name="Shape 5"/>
          <p:cNvSpPr/>
          <p:nvPr/>
        </p:nvSpPr>
        <p:spPr>
          <a:xfrm>
            <a:off x="777240" y="1783080"/>
            <a:ext cx="3246120" cy="3749040"/>
          </a:xfrm>
          <a:prstGeom prst="roundRect">
            <a:avLst>
              <a:gd name="adj" fmla="val 2254"/>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78408" y="1947672"/>
            <a:ext cx="284378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สิ่งที่ปรับเพิ่ม</a:t>
            </a:r>
            <a:endParaRPr lang="en-US" sz="1300" dirty="0"/>
          </a:p>
        </p:txBody>
      </p:sp>
      <p:sp>
        <p:nvSpPr>
          <p:cNvPr id="9" name="Text 7"/>
          <p:cNvSpPr/>
          <p:nvPr/>
        </p:nvSpPr>
        <p:spPr>
          <a:xfrm>
            <a:off x="978408" y="2286000"/>
            <a:ext cx="2843784" cy="309067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กำหนดหัวข้อเว็บ</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 5 sections</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 Responsive</a:t>
            </a:r>
            <a:endParaRPr lang="en-US" sz="1080" dirty="0"/>
          </a:p>
          <a:p>
            <a:pPr indent="0" marL="0">
              <a:buNone/>
            </a:pPr>
            <a:r>
              <a:rPr lang="en-US" sz="1080" dirty="0">
                <a:solidFill>
                  <a:srgbClr val="25231F"/>
                </a:solidFill>
                <a:latin typeface="Noto Sans Thai" pitchFamily="34" charset="0"/>
                <a:ea typeface="Noto Sans Thai" pitchFamily="34" charset="-122"/>
                <a:cs typeface="Noto Sans Thai" pitchFamily="34" charset="-120"/>
              </a:rPr>
              <a:t>กำหนด GitHub Pages</a:t>
            </a:r>
            <a:endParaRPr lang="en-US" sz="1080" dirty="0"/>
          </a:p>
        </p:txBody>
      </p:sp>
      <p:sp>
        <p:nvSpPr>
          <p:cNvPr id="10" name="Shape 8"/>
          <p:cNvSpPr/>
          <p:nvPr/>
        </p:nvSpPr>
        <p:spPr>
          <a:xfrm>
            <a:off x="4251960" y="1783080"/>
            <a:ext cx="7086600" cy="3749040"/>
          </a:xfrm>
          <a:prstGeom prst="roundRect">
            <a:avLst>
              <a:gd name="adj" fmla="val 1463"/>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11" name="Shape 9"/>
          <p:cNvSpPr/>
          <p:nvPr/>
        </p:nvSpPr>
        <p:spPr>
          <a:xfrm>
            <a:off x="4251960" y="1783080"/>
            <a:ext cx="7086600" cy="402336"/>
          </a:xfrm>
          <a:prstGeom prst="rect">
            <a:avLst/>
          </a:prstGeom>
          <a:solidFill>
            <a:srgbClr val="F4F1E9"/>
          </a:solidFill>
          <a:ln w="12700">
            <a:solidFill>
              <a:srgbClr val="F4F1E9"/>
            </a:solidFill>
            <a:prstDash val="solid"/>
          </a:ln>
        </p:spPr>
      </p:sp>
      <p:sp>
        <p:nvSpPr>
          <p:cNvPr id="12" name="Text 10"/>
          <p:cNvSpPr/>
          <p:nvPr/>
        </p:nvSpPr>
        <p:spPr>
          <a:xfrm>
            <a:off x="4416552" y="191109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3" name="Shape 11"/>
          <p:cNvSpPr/>
          <p:nvPr/>
        </p:nvSpPr>
        <p:spPr>
          <a:xfrm>
            <a:off x="5212080" y="1883664"/>
            <a:ext cx="5852160" cy="201168"/>
          </a:xfrm>
          <a:prstGeom prst="roundRect">
            <a:avLst>
              <a:gd name="adj" fmla="val 22727"/>
            </a:avLst>
          </a:prstGeom>
          <a:solidFill>
            <a:srgbClr val="FFFFFF"/>
          </a:solidFill>
          <a:ln w="12700">
            <a:solidFill>
              <a:srgbClr val="E5E0D5"/>
            </a:solidFill>
            <a:prstDash val="solid"/>
          </a:ln>
        </p:spPr>
      </p:sp>
      <p:sp>
        <p:nvSpPr>
          <p:cNvPr id="14" name="Text 12"/>
          <p:cNvSpPr/>
          <p:nvPr/>
        </p:nvSpPr>
        <p:spPr>
          <a:xfrm>
            <a:off x="5330952" y="1920240"/>
            <a:ext cx="562356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chat.openai.com / refined prompt</a:t>
            </a:r>
            <a:endParaRPr lang="en-US" sz="680" dirty="0"/>
          </a:p>
        </p:txBody>
      </p:sp>
      <p:sp>
        <p:nvSpPr>
          <p:cNvPr id="15" name="Shape 13"/>
          <p:cNvSpPr/>
          <p:nvPr/>
        </p:nvSpPr>
        <p:spPr>
          <a:xfrm>
            <a:off x="4480560" y="2267712"/>
            <a:ext cx="6629400" cy="2606040"/>
          </a:xfrm>
          <a:prstGeom prst="roundRect">
            <a:avLst>
              <a:gd name="adj" fmla="val 2105"/>
            </a:avLst>
          </a:prstGeom>
          <a:solidFill>
            <a:srgbClr val="FFFDF7"/>
          </a:solidFill>
          <a:ln w="12700">
            <a:solidFill>
              <a:srgbClr val="E6DBC9"/>
            </a:solidFill>
            <a:prstDash val="solid"/>
          </a:ln>
        </p:spPr>
      </p:sp>
      <p:sp>
        <p:nvSpPr>
          <p:cNvPr id="16" name="Text 14"/>
          <p:cNvSpPr/>
          <p:nvPr/>
        </p:nvSpPr>
        <p:spPr>
          <a:xfrm>
            <a:off x="4663440" y="2423160"/>
            <a:ext cx="6263640" cy="2240280"/>
          </a:xfrm>
          <a:prstGeom prst="rect">
            <a:avLst/>
          </a:prstGeom>
          <a:noFill/>
          <a:ln/>
        </p:spPr>
        <p:txBody>
          <a:bodyPr wrap="square" lIns="254" tIns="254" rIns="254" bIns="254" rtlCol="0" anchor="t">
            <a:normAutofit/>
          </a:bodyPr>
          <a:lstStyle/>
          <a:p>
            <a:pPr indent="0" marL="0">
              <a:buNone/>
            </a:pPr>
            <a:r>
              <a:rPr lang="en-US" sz="1246" dirty="0">
                <a:solidFill>
                  <a:srgbClr val="25231F"/>
                </a:solidFill>
                <a:latin typeface="Noto Sans Thai" pitchFamily="34" charset="0"/>
                <a:ea typeface="Noto Sans Thai" pitchFamily="34" charset="-122"/>
                <a:cs typeface="Noto Sans Thai" pitchFamily="34" charset="-120"/>
              </a:rPr>
              <a:t>สร้างเว็บไซต์ Responsive ด้วย HTML, CSS และ JavaScript หัวข้อ “Kimchi AI Learning Project” สำหรับเผยแพร่บน GitHub Pages ใช้สไตล์ Modern Korean Food สีแดง ขาว เขียว มี Hero Section และ Navigation Bar ภายในเว็บไซต์ให้แบ่งเป็น 5 ส่วน ได้แก่ 1) AI Image Generation พร้อมภาพ Infographic การทำกิมจิ 2) Mathematical Modeling พร้อมสมการและ Screenshot จาก Desmos 3) Process Diagram พร้อม Mermaid Diagram 4) LaTeX Article พร้อมปุ่มเปิดหรือดาวน์โหลด PDF และ 5) NotebookLM Presentation พร้อมภาพตัวอย่าง Slide ปิดท้ายด้วย Reflection อธิบายการเปลี่ยนจาก Zero-shot Prompt เป็น Few-shot Prompt เว็บไซต์ต้อง Responsive ใช้งานได้ทั้งคอมพิวเตอร์และมือถือ และสามารถเปิดบน GitHub Pages ได้โดยไม่ต้องใช้ Backend</a:t>
            </a:r>
            <a:endParaRPr lang="en-US" sz="1246" dirty="0"/>
          </a:p>
        </p:txBody>
      </p:sp>
      <p:sp>
        <p:nvSpPr>
          <p:cNvPr id="17" name="Text 15"/>
          <p:cNvSpPr/>
          <p:nvPr/>
        </p:nvSpPr>
        <p:spPr>
          <a:xfrm>
            <a:off x="4480560" y="5065776"/>
            <a:ext cx="6629400" cy="201168"/>
          </a:xfrm>
          <a:prstGeom prst="rect">
            <a:avLst/>
          </a:prstGeom>
          <a:noFill/>
          <a:ln/>
        </p:spPr>
        <p:txBody>
          <a:bodyPr wrap="square" lIns="0" tIns="0" rIns="0" bIns="0" rtlCol="0" anchor="ctr"/>
          <a:lstStyle/>
          <a:p>
            <a:pPr algn="ctr" indent="0" marL="0">
              <a:buNone/>
            </a:pPr>
            <a:r>
              <a:rPr lang="en-US" sz="930" dirty="0">
                <a:solidFill>
                  <a:srgbClr val="716B61"/>
                </a:solidFill>
                <a:latin typeface="Noto Sans Thai" pitchFamily="34" charset="0"/>
                <a:ea typeface="Noto Sans Thai" pitchFamily="34" charset="-122"/>
                <a:cs typeface="Noto Sans Thai" pitchFamily="34" charset="-120"/>
              </a:rPr>
              <a:t>หลักการ: เพิ่มบริบท + รูปแบบผลลัพธ์ + เงื่อนไขเฉพาะ + กลุ่มเป้าหมาย</a:t>
            </a:r>
            <a:endParaRPr lang="en-US" sz="930" dirty="0"/>
          </a:p>
        </p:txBody>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Website on GitHub Pages</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26C43"/>
          </a:solidFill>
          <a:ln w="12700">
            <a:solidFill>
              <a:srgbClr val="426C43"/>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FEW-SHOT RESULT</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ผลลัพธ์จาก Prompt ใหม่: Website on GitHub Pages</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ผลลัพธ์หลังปรับ prompt มีโครงสร้างตรงโจทย์และนำไปใช้ในงานได้ง่ายขึ้น</a:t>
            </a:r>
            <a:endParaRPr lang="en-US" sz="980" dirty="0"/>
          </a:p>
        </p:txBody>
      </p:sp>
      <p:sp>
        <p:nvSpPr>
          <p:cNvPr id="7" name="Shape 5"/>
          <p:cNvSpPr/>
          <p:nvPr/>
        </p:nvSpPr>
        <p:spPr>
          <a:xfrm>
            <a:off x="685800" y="1417320"/>
            <a:ext cx="10835640" cy="4617720"/>
          </a:xfrm>
          <a:prstGeom prst="roundRect">
            <a:avLst>
              <a:gd name="adj" fmla="val 1188"/>
            </a:avLst>
          </a:prstGeom>
          <a:solidFill>
            <a:srgbClr val="FFFFFF"/>
          </a:solidFill>
          <a:ln w="13970">
            <a:solidFill>
              <a:srgbClr val="E8DFD1"/>
            </a:solidFill>
            <a:prstDash val="solid"/>
          </a:ln>
          <a:effectLst>
            <a:outerShdw sx="100000" sy="100000" kx="0" ky="0" algn="bl" rotWithShape="0" blurRad="25400" dist="12700" dir="2700000">
              <a:srgbClr val="000000">
                <a:alpha val="10000"/>
              </a:srgbClr>
            </a:outerShdw>
          </a:effectLst>
        </p:spPr>
      </p:sp>
      <p:sp>
        <p:nvSpPr>
          <p:cNvPr id="8" name="Shape 6"/>
          <p:cNvSpPr/>
          <p:nvPr/>
        </p:nvSpPr>
        <p:spPr>
          <a:xfrm>
            <a:off x="685800" y="1417320"/>
            <a:ext cx="10835640" cy="402336"/>
          </a:xfrm>
          <a:prstGeom prst="rect">
            <a:avLst/>
          </a:prstGeom>
          <a:solidFill>
            <a:srgbClr val="F4F1E9"/>
          </a:solidFill>
          <a:ln w="12700">
            <a:solidFill>
              <a:srgbClr val="F4F1E9"/>
            </a:solidFill>
            <a:prstDash val="solid"/>
          </a:ln>
        </p:spPr>
      </p:sp>
      <p:sp>
        <p:nvSpPr>
          <p:cNvPr id="9" name="Text 7"/>
          <p:cNvSpPr/>
          <p:nvPr/>
        </p:nvSpPr>
        <p:spPr>
          <a:xfrm>
            <a:off x="850392" y="1545336"/>
            <a:ext cx="685800" cy="91440"/>
          </a:xfrm>
          <a:prstGeom prst="rect">
            <a:avLst/>
          </a:prstGeom>
          <a:noFill/>
          <a:ln/>
        </p:spPr>
        <p:txBody>
          <a:bodyPr wrap="square" lIns="0" tIns="0" rIns="0" bIns="0" rtlCol="0" anchor="ctr"/>
          <a:lstStyle/>
          <a:p>
            <a:pPr indent="0" marL="0">
              <a:buNone/>
            </a:pPr>
            <a:r>
              <a:rPr lang="en-US" sz="1000" dirty="0">
                <a:solidFill>
                  <a:srgbClr val="B7332F"/>
                </a:solidFill>
                <a:latin typeface="Noto Sans Thai" pitchFamily="34" charset="0"/>
                <a:ea typeface="Noto Sans Thai" pitchFamily="34" charset="-122"/>
                <a:cs typeface="Noto Sans Thai" pitchFamily="34" charset="-120"/>
              </a:rPr>
              <a:t>●  ●  ●</a:t>
            </a:r>
            <a:endParaRPr lang="en-US" sz="1000" dirty="0"/>
          </a:p>
        </p:txBody>
      </p:sp>
      <p:sp>
        <p:nvSpPr>
          <p:cNvPr id="10" name="Shape 8"/>
          <p:cNvSpPr/>
          <p:nvPr/>
        </p:nvSpPr>
        <p:spPr>
          <a:xfrm>
            <a:off x="1645920" y="1517904"/>
            <a:ext cx="9601200" cy="201168"/>
          </a:xfrm>
          <a:prstGeom prst="roundRect">
            <a:avLst>
              <a:gd name="adj" fmla="val 22727"/>
            </a:avLst>
          </a:prstGeom>
          <a:solidFill>
            <a:srgbClr val="FFFFFF"/>
          </a:solidFill>
          <a:ln w="12700">
            <a:solidFill>
              <a:srgbClr val="E5E0D5"/>
            </a:solidFill>
            <a:prstDash val="solid"/>
          </a:ln>
        </p:spPr>
      </p:sp>
      <p:sp>
        <p:nvSpPr>
          <p:cNvPr id="11" name="Text 9"/>
          <p:cNvSpPr/>
          <p:nvPr/>
        </p:nvSpPr>
        <p:spPr>
          <a:xfrm>
            <a:off x="1764792" y="1554480"/>
            <a:ext cx="9372600" cy="73152"/>
          </a:xfrm>
          <a:prstGeom prst="rect">
            <a:avLst/>
          </a:prstGeom>
          <a:noFill/>
          <a:ln/>
        </p:spPr>
        <p:txBody>
          <a:bodyPr wrap="square" lIns="0" tIns="0" rIns="0" bIns="0" rtlCol="0" anchor="ctr"/>
          <a:lstStyle/>
          <a:p>
            <a:pPr indent="0" marL="0">
              <a:buNone/>
            </a:pPr>
            <a:r>
              <a:rPr lang="en-US" sz="680" dirty="0">
                <a:solidFill>
                  <a:srgbClr val="716B61"/>
                </a:solidFill>
                <a:latin typeface="Noto Sans Thai" pitchFamily="34" charset="0"/>
                <a:ea typeface="Noto Sans Thai" pitchFamily="34" charset="-122"/>
                <a:cs typeface="Noto Sans Thai" pitchFamily="34" charset="-120"/>
              </a:rPr>
              <a:t>github.io / kimchi-ai-learning-project</a:t>
            </a:r>
            <a:endParaRPr lang="en-US" sz="680" dirty="0"/>
          </a:p>
        </p:txBody>
      </p:sp>
      <p:sp>
        <p:nvSpPr>
          <p:cNvPr id="12" name="Shape 10"/>
          <p:cNvSpPr/>
          <p:nvPr/>
        </p:nvSpPr>
        <p:spPr>
          <a:xfrm>
            <a:off x="1005840" y="1901952"/>
            <a:ext cx="10012680" cy="3474720"/>
          </a:xfrm>
          <a:prstGeom prst="roundRect">
            <a:avLst>
              <a:gd name="adj" fmla="val 1842"/>
            </a:avLst>
          </a:prstGeom>
          <a:solidFill>
            <a:srgbClr val="FFFDF8"/>
          </a:solidFill>
          <a:ln w="12700">
            <a:solidFill>
              <a:srgbClr val="E8DFD1"/>
            </a:solidFill>
            <a:prstDash val="solid"/>
          </a:ln>
          <a:effectLst>
            <a:outerShdw sx="100000" sy="100000" kx="0" ky="0" algn="bl" rotWithShape="0" blurRad="19050" dist="12700" dir="2700000">
              <a:srgbClr val="000000">
                <a:alpha val="8000"/>
              </a:srgbClr>
            </a:outerShdw>
          </a:effectLst>
        </p:spPr>
      </p:sp>
      <p:sp>
        <p:nvSpPr>
          <p:cNvPr id="13" name="Shape 11"/>
          <p:cNvSpPr/>
          <p:nvPr/>
        </p:nvSpPr>
        <p:spPr>
          <a:xfrm>
            <a:off x="1005840" y="1901952"/>
            <a:ext cx="10012680" cy="438912"/>
          </a:xfrm>
          <a:prstGeom prst="rect">
            <a:avLst/>
          </a:prstGeom>
          <a:solidFill>
            <a:srgbClr val="B7332F"/>
          </a:solidFill>
          <a:ln w="12700">
            <a:solidFill>
              <a:srgbClr val="B7332F"/>
            </a:solidFill>
            <a:prstDash val="solid"/>
          </a:ln>
        </p:spPr>
      </p:sp>
      <p:sp>
        <p:nvSpPr>
          <p:cNvPr id="14" name="Text 12"/>
          <p:cNvSpPr/>
          <p:nvPr/>
        </p:nvSpPr>
        <p:spPr>
          <a:xfrm>
            <a:off x="1234440" y="2048256"/>
            <a:ext cx="3200400" cy="109728"/>
          </a:xfrm>
          <a:prstGeom prst="rect">
            <a:avLst/>
          </a:prstGeom>
          <a:noFill/>
          <a:ln/>
        </p:spPr>
        <p:txBody>
          <a:bodyPr wrap="square" lIns="0" tIns="0" rIns="0" bIns="0" rtlCol="0" anchor="ctr"/>
          <a:lstStyle/>
          <a:p>
            <a:pPr indent="0" marL="0">
              <a:buNone/>
            </a:pPr>
            <a:r>
              <a:rPr lang="en-US" sz="1100" b="1" dirty="0">
                <a:solidFill>
                  <a:srgbClr val="FFFFFF"/>
                </a:solidFill>
                <a:latin typeface="Noto Sans Thai" pitchFamily="34" charset="0"/>
                <a:ea typeface="Noto Sans Thai" pitchFamily="34" charset="-122"/>
                <a:cs typeface="Noto Sans Thai" pitchFamily="34" charset="-120"/>
              </a:rPr>
              <a:t>Kimchi AI Learning Project</a:t>
            </a:r>
            <a:endParaRPr lang="en-US" sz="1100" dirty="0"/>
          </a:p>
        </p:txBody>
      </p:sp>
      <p:sp>
        <p:nvSpPr>
          <p:cNvPr id="15" name="Text 13"/>
          <p:cNvSpPr/>
          <p:nvPr/>
        </p:nvSpPr>
        <p:spPr>
          <a:xfrm>
            <a:off x="4617720" y="2048256"/>
            <a:ext cx="6126480" cy="109728"/>
          </a:xfrm>
          <a:prstGeom prst="rect">
            <a:avLst/>
          </a:prstGeom>
          <a:noFill/>
          <a:ln/>
        </p:spPr>
        <p:txBody>
          <a:bodyPr wrap="square" lIns="0" tIns="0" rIns="0" bIns="0" rtlCol="0" anchor="ctr"/>
          <a:lstStyle/>
          <a:p>
            <a:pPr algn="r" indent="0" marL="0">
              <a:buNone/>
            </a:pPr>
            <a:r>
              <a:rPr lang="en-US" sz="850" dirty="0">
                <a:solidFill>
                  <a:srgbClr val="FFFFFF"/>
                </a:solidFill>
                <a:latin typeface="Noto Sans Thai" pitchFamily="34" charset="0"/>
                <a:ea typeface="Noto Sans Thai" pitchFamily="34" charset="-122"/>
                <a:cs typeface="Noto Sans Thai" pitchFamily="34" charset="-120"/>
              </a:rPr>
              <a:t>AI Image | Math | Mermaid | LaTeX | NotebookLM | Reflection</a:t>
            </a:r>
            <a:endParaRPr lang="en-US" sz="850" dirty="0"/>
          </a:p>
        </p:txBody>
      </p:sp>
      <p:sp>
        <p:nvSpPr>
          <p:cNvPr id="16" name="Text 14"/>
          <p:cNvSpPr/>
          <p:nvPr/>
        </p:nvSpPr>
        <p:spPr>
          <a:xfrm>
            <a:off x="1353312" y="2651760"/>
            <a:ext cx="4572000" cy="594360"/>
          </a:xfrm>
          <a:prstGeom prst="rect">
            <a:avLst/>
          </a:prstGeom>
          <a:noFill/>
          <a:ln/>
        </p:spPr>
        <p:txBody>
          <a:bodyPr wrap="square" lIns="0" tIns="0" rIns="0" bIns="0" rtlCol="0" anchor="ctr">
            <a:normAutofit/>
          </a:bodyPr>
          <a:lstStyle/>
          <a:p>
            <a:pPr indent="0" marL="0">
              <a:buNone/>
            </a:pPr>
            <a:r>
              <a:rPr lang="en-US" sz="2300" b="1" dirty="0">
                <a:solidFill>
                  <a:srgbClr val="25231F"/>
                </a:solidFill>
                <a:latin typeface="Noto Sans Thai" pitchFamily="34" charset="0"/>
                <a:ea typeface="Noto Sans Thai" pitchFamily="34" charset="-122"/>
                <a:cs typeface="Noto Sans Thai" pitchFamily="34" charset="-120"/>
              </a:rPr>
              <a:t>Hero Section + 5 Learning Modules</a:t>
            </a:r>
            <a:endParaRPr lang="en-US" sz="2300" dirty="0"/>
          </a:p>
        </p:txBody>
      </p:sp>
      <p:sp>
        <p:nvSpPr>
          <p:cNvPr id="17" name="Text 15"/>
          <p:cNvSpPr/>
          <p:nvPr/>
        </p:nvSpPr>
        <p:spPr>
          <a:xfrm>
            <a:off x="1389888" y="3364992"/>
            <a:ext cx="4892040" cy="685800"/>
          </a:xfrm>
          <a:prstGeom prst="rect">
            <a:avLst/>
          </a:prstGeom>
          <a:noFill/>
          <a:ln/>
        </p:spPr>
        <p:txBody>
          <a:bodyPr wrap="square" lIns="254" tIns="254" rIns="254" bIns="254" rtlCol="0" anchor="ctr">
            <a:normAutofit/>
          </a:bodyPr>
          <a:lstStyle/>
          <a:p>
            <a:pPr indent="0" marL="0">
              <a:buNone/>
            </a:pPr>
            <a:r>
              <a:rPr lang="en-US" sz="1200" dirty="0">
                <a:solidFill>
                  <a:srgbClr val="716B61"/>
                </a:solidFill>
                <a:latin typeface="Noto Sans Thai" pitchFamily="34" charset="0"/>
                <a:ea typeface="Noto Sans Thai" pitchFamily="34" charset="-122"/>
                <a:cs typeface="Noto Sans Thai" pitchFamily="34" charset="-120"/>
              </a:rPr>
              <a:t>พร้อมภาพ Infographic, กราฟ pH, Mermaid Diagram, PDF Article, Slide Preview และ Reflection</a:t>
            </a:r>
            <a:endParaRPr lang="en-US" sz="1200" dirty="0"/>
          </a:p>
        </p:txBody>
      </p:sp>
      <p:sp>
        <p:nvSpPr>
          <p:cNvPr id="18" name="Shape 16"/>
          <p:cNvSpPr/>
          <p:nvPr/>
        </p:nvSpPr>
        <p:spPr>
          <a:xfrm>
            <a:off x="6492240" y="2697480"/>
            <a:ext cx="1828800" cy="502920"/>
          </a:xfrm>
          <a:prstGeom prst="roundRect">
            <a:avLst>
              <a:gd name="adj" fmla="val 12727"/>
            </a:avLst>
          </a:prstGeom>
          <a:solidFill>
            <a:srgbClr val="FFF1EF"/>
          </a:solidFill>
          <a:ln w="12700">
            <a:solidFill>
              <a:srgbClr val="E4D9C9"/>
            </a:solidFill>
            <a:prstDash val="solid"/>
          </a:ln>
        </p:spPr>
      </p:sp>
      <p:sp>
        <p:nvSpPr>
          <p:cNvPr id="19" name="Text 17"/>
          <p:cNvSpPr/>
          <p:nvPr/>
        </p:nvSpPr>
        <p:spPr>
          <a:xfrm>
            <a:off x="6583680" y="2862072"/>
            <a:ext cx="1645920" cy="109728"/>
          </a:xfrm>
          <a:prstGeom prst="rect">
            <a:avLst/>
          </a:prstGeom>
          <a:noFill/>
          <a:ln/>
        </p:spPr>
        <p:txBody>
          <a:bodyPr wrap="square" lIns="0" tIns="0" rIns="0" bIns="0" rtlCol="0" anchor="ctr"/>
          <a:lstStyle/>
          <a:p>
            <a:pPr algn="ctr" indent="0" marL="0">
              <a:buNone/>
            </a:pPr>
            <a:r>
              <a:rPr lang="en-US" sz="850" b="1" dirty="0">
                <a:solidFill>
                  <a:srgbClr val="B7332F"/>
                </a:solidFill>
                <a:latin typeface="Noto Sans Thai" pitchFamily="34" charset="0"/>
                <a:ea typeface="Noto Sans Thai" pitchFamily="34" charset="-122"/>
                <a:cs typeface="Noto Sans Thai" pitchFamily="34" charset="-120"/>
              </a:rPr>
              <a:t>AI Image</a:t>
            </a:r>
            <a:endParaRPr lang="en-US" sz="850" dirty="0"/>
          </a:p>
        </p:txBody>
      </p:sp>
      <p:sp>
        <p:nvSpPr>
          <p:cNvPr id="20" name="Shape 18"/>
          <p:cNvSpPr/>
          <p:nvPr/>
        </p:nvSpPr>
        <p:spPr>
          <a:xfrm>
            <a:off x="8549640" y="2697480"/>
            <a:ext cx="1828800" cy="502920"/>
          </a:xfrm>
          <a:prstGeom prst="roundRect">
            <a:avLst>
              <a:gd name="adj" fmla="val 12727"/>
            </a:avLst>
          </a:prstGeom>
          <a:solidFill>
            <a:srgbClr val="F0F6EA"/>
          </a:solidFill>
          <a:ln w="12700">
            <a:solidFill>
              <a:srgbClr val="E4D9C9"/>
            </a:solidFill>
            <a:prstDash val="solid"/>
          </a:ln>
        </p:spPr>
      </p:sp>
      <p:sp>
        <p:nvSpPr>
          <p:cNvPr id="21" name="Text 19"/>
          <p:cNvSpPr/>
          <p:nvPr/>
        </p:nvSpPr>
        <p:spPr>
          <a:xfrm>
            <a:off x="8641080" y="2862072"/>
            <a:ext cx="1645920" cy="109728"/>
          </a:xfrm>
          <a:prstGeom prst="rect">
            <a:avLst/>
          </a:prstGeom>
          <a:noFill/>
          <a:ln/>
        </p:spPr>
        <p:txBody>
          <a:bodyPr wrap="square" lIns="0" tIns="0" rIns="0" bIns="0" rtlCol="0" anchor="ctr"/>
          <a:lstStyle/>
          <a:p>
            <a:pPr algn="ctr" indent="0" marL="0">
              <a:buNone/>
            </a:pPr>
            <a:r>
              <a:rPr lang="en-US" sz="850" b="1" dirty="0">
                <a:solidFill>
                  <a:srgbClr val="426C43"/>
                </a:solidFill>
                <a:latin typeface="Noto Sans Thai" pitchFamily="34" charset="0"/>
                <a:ea typeface="Noto Sans Thai" pitchFamily="34" charset="-122"/>
                <a:cs typeface="Noto Sans Thai" pitchFamily="34" charset="-120"/>
              </a:rPr>
              <a:t>pH Model</a:t>
            </a:r>
            <a:endParaRPr lang="en-US" sz="850" dirty="0"/>
          </a:p>
        </p:txBody>
      </p:sp>
      <p:sp>
        <p:nvSpPr>
          <p:cNvPr id="22" name="Shape 20"/>
          <p:cNvSpPr/>
          <p:nvPr/>
        </p:nvSpPr>
        <p:spPr>
          <a:xfrm>
            <a:off x="6492240" y="3447288"/>
            <a:ext cx="1828800" cy="502920"/>
          </a:xfrm>
          <a:prstGeom prst="roundRect">
            <a:avLst>
              <a:gd name="adj" fmla="val 12727"/>
            </a:avLst>
          </a:prstGeom>
          <a:solidFill>
            <a:srgbClr val="FFF1EF"/>
          </a:solidFill>
          <a:ln w="12700">
            <a:solidFill>
              <a:srgbClr val="E4D9C9"/>
            </a:solidFill>
            <a:prstDash val="solid"/>
          </a:ln>
        </p:spPr>
      </p:sp>
      <p:sp>
        <p:nvSpPr>
          <p:cNvPr id="23" name="Text 21"/>
          <p:cNvSpPr/>
          <p:nvPr/>
        </p:nvSpPr>
        <p:spPr>
          <a:xfrm>
            <a:off x="6583680" y="3611880"/>
            <a:ext cx="1645920" cy="109728"/>
          </a:xfrm>
          <a:prstGeom prst="rect">
            <a:avLst/>
          </a:prstGeom>
          <a:noFill/>
          <a:ln/>
        </p:spPr>
        <p:txBody>
          <a:bodyPr wrap="square" lIns="0" tIns="0" rIns="0" bIns="0" rtlCol="0" anchor="ctr"/>
          <a:lstStyle/>
          <a:p>
            <a:pPr algn="ctr" indent="0" marL="0">
              <a:buNone/>
            </a:pPr>
            <a:r>
              <a:rPr lang="en-US" sz="850" b="1" dirty="0">
                <a:solidFill>
                  <a:srgbClr val="B7332F"/>
                </a:solidFill>
                <a:latin typeface="Noto Sans Thai" pitchFamily="34" charset="0"/>
                <a:ea typeface="Noto Sans Thai" pitchFamily="34" charset="-122"/>
                <a:cs typeface="Noto Sans Thai" pitchFamily="34" charset="-120"/>
              </a:rPr>
              <a:t>Mermaid</a:t>
            </a:r>
            <a:endParaRPr lang="en-US" sz="850" dirty="0"/>
          </a:p>
        </p:txBody>
      </p:sp>
      <p:sp>
        <p:nvSpPr>
          <p:cNvPr id="24" name="Shape 22"/>
          <p:cNvSpPr/>
          <p:nvPr/>
        </p:nvSpPr>
        <p:spPr>
          <a:xfrm>
            <a:off x="8549640" y="3447288"/>
            <a:ext cx="1828800" cy="502920"/>
          </a:xfrm>
          <a:prstGeom prst="roundRect">
            <a:avLst>
              <a:gd name="adj" fmla="val 12727"/>
            </a:avLst>
          </a:prstGeom>
          <a:solidFill>
            <a:srgbClr val="F0F6EA"/>
          </a:solidFill>
          <a:ln w="12700">
            <a:solidFill>
              <a:srgbClr val="E4D9C9"/>
            </a:solidFill>
            <a:prstDash val="solid"/>
          </a:ln>
        </p:spPr>
      </p:sp>
      <p:sp>
        <p:nvSpPr>
          <p:cNvPr id="25" name="Text 23"/>
          <p:cNvSpPr/>
          <p:nvPr/>
        </p:nvSpPr>
        <p:spPr>
          <a:xfrm>
            <a:off x="8641080" y="3611880"/>
            <a:ext cx="1645920" cy="109728"/>
          </a:xfrm>
          <a:prstGeom prst="rect">
            <a:avLst/>
          </a:prstGeom>
          <a:noFill/>
          <a:ln/>
        </p:spPr>
        <p:txBody>
          <a:bodyPr wrap="square" lIns="0" tIns="0" rIns="0" bIns="0" rtlCol="0" anchor="ctr"/>
          <a:lstStyle/>
          <a:p>
            <a:pPr algn="ctr" indent="0" marL="0">
              <a:buNone/>
            </a:pPr>
            <a:r>
              <a:rPr lang="en-US" sz="850" b="1" dirty="0">
                <a:solidFill>
                  <a:srgbClr val="426C43"/>
                </a:solidFill>
                <a:latin typeface="Noto Sans Thai" pitchFamily="34" charset="0"/>
                <a:ea typeface="Noto Sans Thai" pitchFamily="34" charset="-122"/>
                <a:cs typeface="Noto Sans Thai" pitchFamily="34" charset="-120"/>
              </a:rPr>
              <a:t>LaTeX</a:t>
            </a:r>
            <a:endParaRPr lang="en-US" sz="850" dirty="0"/>
          </a:p>
        </p:txBody>
      </p:sp>
      <p:sp>
        <p:nvSpPr>
          <p:cNvPr id="26" name="Shape 24"/>
          <p:cNvSpPr/>
          <p:nvPr/>
        </p:nvSpPr>
        <p:spPr>
          <a:xfrm>
            <a:off x="6492240" y="4197096"/>
            <a:ext cx="3977640" cy="502920"/>
          </a:xfrm>
          <a:prstGeom prst="roundRect">
            <a:avLst>
              <a:gd name="adj" fmla="val 12727"/>
            </a:avLst>
          </a:prstGeom>
          <a:solidFill>
            <a:srgbClr val="FFF1EF"/>
          </a:solidFill>
          <a:ln w="12700">
            <a:solidFill>
              <a:srgbClr val="E4D9C9"/>
            </a:solidFill>
            <a:prstDash val="solid"/>
          </a:ln>
        </p:spPr>
      </p:sp>
      <p:sp>
        <p:nvSpPr>
          <p:cNvPr id="27" name="Text 25"/>
          <p:cNvSpPr/>
          <p:nvPr/>
        </p:nvSpPr>
        <p:spPr>
          <a:xfrm>
            <a:off x="6583680" y="4361688"/>
            <a:ext cx="3794760" cy="109728"/>
          </a:xfrm>
          <a:prstGeom prst="rect">
            <a:avLst/>
          </a:prstGeom>
          <a:noFill/>
          <a:ln/>
        </p:spPr>
        <p:txBody>
          <a:bodyPr wrap="square" lIns="0" tIns="0" rIns="0" bIns="0" rtlCol="0" anchor="ctr"/>
          <a:lstStyle/>
          <a:p>
            <a:pPr algn="ctr" indent="0" marL="0">
              <a:buNone/>
            </a:pPr>
            <a:r>
              <a:rPr lang="en-US" sz="850" b="1" dirty="0">
                <a:solidFill>
                  <a:srgbClr val="B7332F"/>
                </a:solidFill>
                <a:latin typeface="Noto Sans Thai" pitchFamily="34" charset="0"/>
                <a:ea typeface="Noto Sans Thai" pitchFamily="34" charset="-122"/>
                <a:cs typeface="Noto Sans Thai" pitchFamily="34" charset="-120"/>
              </a:rPr>
              <a:t>NotebookLM</a:t>
            </a:r>
            <a:endParaRPr lang="en-US" sz="850" dirty="0"/>
          </a:p>
        </p:txBody>
      </p:sp>
      <p:sp>
        <p:nvSpPr>
          <p:cNvPr id="28" name="Shape 26"/>
          <p:cNvSpPr/>
          <p:nvPr/>
        </p:nvSpPr>
        <p:spPr>
          <a:xfrm>
            <a:off x="1371600" y="4389120"/>
            <a:ext cx="2011680" cy="438912"/>
          </a:xfrm>
          <a:prstGeom prst="roundRect">
            <a:avLst>
              <a:gd name="adj" fmla="val 14583"/>
            </a:avLst>
          </a:prstGeom>
          <a:solidFill>
            <a:srgbClr val="B7332F"/>
          </a:solidFill>
          <a:ln w="12700">
            <a:solidFill>
              <a:srgbClr val="B7332F"/>
            </a:solidFill>
            <a:prstDash val="solid"/>
          </a:ln>
        </p:spPr>
      </p:sp>
      <p:sp>
        <p:nvSpPr>
          <p:cNvPr id="29" name="Text 27"/>
          <p:cNvSpPr/>
          <p:nvPr/>
        </p:nvSpPr>
        <p:spPr>
          <a:xfrm>
            <a:off x="1371600" y="4535424"/>
            <a:ext cx="2011680"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Thai" pitchFamily="34" charset="0"/>
                <a:ea typeface="Noto Sans Thai" pitchFamily="34" charset="-122"/>
                <a:cs typeface="Noto Sans Thai" pitchFamily="34" charset="-120"/>
              </a:rPr>
              <a:t>Open GitHub Pages</a:t>
            </a:r>
            <a:endParaRPr lang="en-US" sz="900" dirty="0"/>
          </a:p>
        </p:txBody>
      </p:sp>
      <p:sp>
        <p:nvSpPr>
          <p:cNvPr id="30" name="Text 28"/>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31" name="Text 29"/>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Website on GitHub Pages</a:t>
            </a:r>
            <a:endParaRPr lang="en-US" sz="850" dirty="0"/>
          </a:p>
        </p:txBody>
      </p:sp>
      <p:sp>
        <p:nvSpPr>
          <p:cNvPr id="32" name="Text 30"/>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7332F"/>
          </a:solidFill>
          <a:ln w="12700">
            <a:solidFill>
              <a:srgbClr val="B7332F"/>
            </a:solidFill>
            <a:prstDash val="solid"/>
          </a:ln>
        </p:spPr>
      </p:sp>
      <p:sp>
        <p:nvSpPr>
          <p:cNvPr id="3" name="Shape 1"/>
          <p:cNvSpPr/>
          <p:nvPr/>
        </p:nvSpPr>
        <p:spPr>
          <a:xfrm>
            <a:off x="0" y="6748272"/>
            <a:ext cx="12191695" cy="109728"/>
          </a:xfrm>
          <a:prstGeom prst="rect">
            <a:avLst/>
          </a:prstGeom>
          <a:solidFill>
            <a:srgbClr val="426C43"/>
          </a:solidFill>
          <a:ln w="12700">
            <a:solidFill>
              <a:srgbClr val="426C43"/>
            </a:solidFill>
            <a:prstDash val="solid"/>
          </a:ln>
        </p:spPr>
      </p:sp>
      <p:sp>
        <p:nvSpPr>
          <p:cNvPr id="4" name="Text 2"/>
          <p:cNvSpPr/>
          <p:nvPr/>
        </p:nvSpPr>
        <p:spPr>
          <a:xfrm>
            <a:off x="548640" y="411480"/>
            <a:ext cx="3474720" cy="256032"/>
          </a:xfrm>
          <a:prstGeom prst="rect">
            <a:avLst/>
          </a:prstGeom>
          <a:noFill/>
          <a:ln/>
        </p:spPr>
        <p:txBody>
          <a:bodyPr wrap="square" lIns="0" tIns="0" rIns="0" bIns="0" rtlCol="0" anchor="ctr"/>
          <a:lstStyle/>
          <a:p>
            <a:pPr indent="0" marL="0">
              <a:buNone/>
            </a:pPr>
            <a:r>
              <a:rPr lang="en-US" sz="950" b="1" dirty="0">
                <a:solidFill>
                  <a:srgbClr val="B7332F"/>
                </a:solidFill>
                <a:latin typeface="Noto Sans Thai" pitchFamily="34" charset="0"/>
                <a:ea typeface="Noto Sans Thai" pitchFamily="34" charset="-122"/>
                <a:cs typeface="Noto Sans Thai" pitchFamily="34" charset="-120"/>
              </a:rPr>
              <a:t>REFLECTION</a:t>
            </a:r>
            <a:endParaRPr lang="en-US" sz="950" dirty="0"/>
          </a:p>
        </p:txBody>
      </p:sp>
      <p:sp>
        <p:nvSpPr>
          <p:cNvPr id="5" name="Text 3"/>
          <p:cNvSpPr/>
          <p:nvPr/>
        </p:nvSpPr>
        <p:spPr>
          <a:xfrm>
            <a:off x="548640" y="694944"/>
            <a:ext cx="6766560" cy="420624"/>
          </a:xfrm>
          <a:prstGeom prst="rect">
            <a:avLst/>
          </a:prstGeom>
          <a:noFill/>
          <a:ln/>
        </p:spPr>
        <p:txBody>
          <a:bodyPr wrap="square" lIns="127" tIns="127" rIns="127" bIns="127" rtlCol="0" anchor="ctr">
            <a:normAutofit/>
          </a:bodyPr>
          <a:lstStyle/>
          <a:p>
            <a:pPr indent="0" marL="0">
              <a:buNone/>
            </a:pPr>
            <a:r>
              <a:rPr lang="en-US" sz="2200" b="1" dirty="0">
                <a:solidFill>
                  <a:srgbClr val="25231F"/>
                </a:solidFill>
                <a:latin typeface="Noto Sans Thai" pitchFamily="34" charset="0"/>
                <a:ea typeface="Noto Sans Thai" pitchFamily="34" charset="-122"/>
                <a:cs typeface="Noto Sans Thai" pitchFamily="34" charset="-120"/>
              </a:rPr>
              <a:t>สิ่งที่ได้เรียนรู้จาก Zero-shot → Few-shot</a:t>
            </a:r>
            <a:endParaRPr lang="en-US" sz="2200" dirty="0"/>
          </a:p>
        </p:txBody>
      </p:sp>
      <p:sp>
        <p:nvSpPr>
          <p:cNvPr id="6" name="Text 4"/>
          <p:cNvSpPr/>
          <p:nvPr/>
        </p:nvSpPr>
        <p:spPr>
          <a:xfrm>
            <a:off x="566928" y="1161288"/>
            <a:ext cx="7863840" cy="182880"/>
          </a:xfrm>
          <a:prstGeom prst="rect">
            <a:avLst/>
          </a:prstGeom>
          <a:noFill/>
          <a:ln/>
        </p:spPr>
        <p:txBody>
          <a:bodyPr wrap="square" lIns="0" tIns="0" rIns="0" bIns="0" rtlCol="0" anchor="ctr">
            <a:normAutofit/>
          </a:bodyPr>
          <a:lstStyle/>
          <a:p>
            <a:pPr indent="0" marL="0">
              <a:buNone/>
            </a:pPr>
            <a:r>
              <a:rPr lang="en-US" sz="980" dirty="0">
                <a:solidFill>
                  <a:srgbClr val="716B61"/>
                </a:solidFill>
                <a:latin typeface="Noto Sans Thai" pitchFamily="34" charset="0"/>
                <a:ea typeface="Noto Sans Thai" pitchFamily="34" charset="-122"/>
                <a:cs typeface="Noto Sans Thai" pitchFamily="34" charset="-120"/>
              </a:rPr>
              <a:t>Website on GitHub Pages</a:t>
            </a:r>
            <a:endParaRPr lang="en-US" sz="980" dirty="0"/>
          </a:p>
        </p:txBody>
      </p:sp>
      <p:sp>
        <p:nvSpPr>
          <p:cNvPr id="7" name="Shape 5"/>
          <p:cNvSpPr/>
          <p:nvPr/>
        </p:nvSpPr>
        <p:spPr>
          <a:xfrm>
            <a:off x="73152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8" name="Text 6"/>
          <p:cNvSpPr/>
          <p:nvPr/>
        </p:nvSpPr>
        <p:spPr>
          <a:xfrm>
            <a:off x="932688" y="2084832"/>
            <a:ext cx="3118104" cy="256032"/>
          </a:xfrm>
          <a:prstGeom prst="rect">
            <a:avLst/>
          </a:prstGeom>
          <a:noFill/>
          <a:ln/>
        </p:spPr>
        <p:txBody>
          <a:bodyPr wrap="square" lIns="0" tIns="0" rIns="0" bIns="0" rtlCol="0" anchor="ctr"/>
          <a:lstStyle/>
          <a:p>
            <a:pPr indent="0" marL="0">
              <a:buNone/>
            </a:pPr>
            <a:r>
              <a:rPr lang="en-US" sz="1300" b="1" dirty="0">
                <a:solidFill>
                  <a:srgbClr val="B7332F"/>
                </a:solidFill>
                <a:latin typeface="Noto Sans Thai" pitchFamily="34" charset="0"/>
                <a:ea typeface="Noto Sans Thai" pitchFamily="34" charset="-122"/>
                <a:cs typeface="Noto Sans Thai" pitchFamily="34" charset="-120"/>
              </a:rPr>
              <a:t>ผลลัพธ์จาก Zero-shot</a:t>
            </a:r>
            <a:endParaRPr lang="en-US" sz="1300" dirty="0"/>
          </a:p>
        </p:txBody>
      </p:sp>
      <p:sp>
        <p:nvSpPr>
          <p:cNvPr id="9" name="Text 7"/>
          <p:cNvSpPr/>
          <p:nvPr/>
        </p:nvSpPr>
        <p:spPr>
          <a:xfrm>
            <a:off x="93268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ได้เว็บเบื้องต้น แต่ยังไม่ครบ 5 ส่วนและยังไม่ชัดเรื่อง GitHub Pages</a:t>
            </a:r>
            <a:endParaRPr lang="en-US" sz="1080" dirty="0"/>
          </a:p>
        </p:txBody>
      </p:sp>
      <p:sp>
        <p:nvSpPr>
          <p:cNvPr id="10" name="Shape 8"/>
          <p:cNvSpPr/>
          <p:nvPr/>
        </p:nvSpPr>
        <p:spPr>
          <a:xfrm>
            <a:off x="434340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1" name="Text 9"/>
          <p:cNvSpPr/>
          <p:nvPr/>
        </p:nvSpPr>
        <p:spPr>
          <a:xfrm>
            <a:off x="4544568" y="2084832"/>
            <a:ext cx="3118104" cy="256032"/>
          </a:xfrm>
          <a:prstGeom prst="rect">
            <a:avLst/>
          </a:prstGeom>
          <a:noFill/>
          <a:ln/>
        </p:spPr>
        <p:txBody>
          <a:bodyPr wrap="square" lIns="0" tIns="0" rIns="0" bIns="0" rtlCol="0" anchor="ctr"/>
          <a:lstStyle/>
          <a:p>
            <a:pPr indent="0" marL="0">
              <a:buNone/>
            </a:pPr>
            <a:r>
              <a:rPr lang="en-US" sz="1300" b="1" dirty="0">
                <a:solidFill>
                  <a:srgbClr val="426C43"/>
                </a:solidFill>
                <a:latin typeface="Noto Sans Thai" pitchFamily="34" charset="0"/>
                <a:ea typeface="Noto Sans Thai" pitchFamily="34" charset="-122"/>
                <a:cs typeface="Noto Sans Thai" pitchFamily="34" charset="-120"/>
              </a:rPr>
              <a:t>ผลลัพธ์จาก Few-shot</a:t>
            </a:r>
            <a:endParaRPr lang="en-US" sz="1300" dirty="0"/>
          </a:p>
        </p:txBody>
      </p:sp>
      <p:sp>
        <p:nvSpPr>
          <p:cNvPr id="12" name="Text 10"/>
          <p:cNvSpPr/>
          <p:nvPr/>
        </p:nvSpPr>
        <p:spPr>
          <a:xfrm>
            <a:off x="454456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ระบุ Sections และเงื่อนไข Static Web ทำให้เว็บพร้อมอัป GitHub</a:t>
            </a:r>
            <a:endParaRPr lang="en-US" sz="1080" dirty="0"/>
          </a:p>
        </p:txBody>
      </p:sp>
      <p:sp>
        <p:nvSpPr>
          <p:cNvPr id="13" name="Shape 11"/>
          <p:cNvSpPr/>
          <p:nvPr/>
        </p:nvSpPr>
        <p:spPr>
          <a:xfrm>
            <a:off x="7955280" y="1920240"/>
            <a:ext cx="3520440" cy="2880360"/>
          </a:xfrm>
          <a:prstGeom prst="roundRect">
            <a:avLst>
              <a:gd name="adj" fmla="val 2540"/>
            </a:avLst>
          </a:prstGeom>
          <a:solidFill>
            <a:srgbClr val="FFFFFF"/>
          </a:solidFill>
          <a:ln w="12700">
            <a:solidFill>
              <a:srgbClr val="E8DFD1"/>
            </a:solidFill>
            <a:prstDash val="solid"/>
          </a:ln>
          <a:effectLst>
            <a:outerShdw sx="100000" sy="100000" kx="0" ky="0" algn="bl" rotWithShape="0" blurRad="25400" dist="12700" dir="2700000">
              <a:srgbClr val="000000">
                <a:alpha val="12000"/>
              </a:srgbClr>
            </a:outerShdw>
          </a:effectLst>
        </p:spPr>
      </p:sp>
      <p:sp>
        <p:nvSpPr>
          <p:cNvPr id="14" name="Text 12"/>
          <p:cNvSpPr/>
          <p:nvPr/>
        </p:nvSpPr>
        <p:spPr>
          <a:xfrm>
            <a:off x="8156448" y="2084832"/>
            <a:ext cx="3118104" cy="256032"/>
          </a:xfrm>
          <a:prstGeom prst="rect">
            <a:avLst/>
          </a:prstGeom>
          <a:noFill/>
          <a:ln/>
        </p:spPr>
        <p:txBody>
          <a:bodyPr wrap="square" lIns="0" tIns="0" rIns="0" bIns="0" rtlCol="0" anchor="ctr"/>
          <a:lstStyle/>
          <a:p>
            <a:pPr indent="0" marL="0">
              <a:buNone/>
            </a:pPr>
            <a:r>
              <a:rPr lang="en-US" sz="1300" b="1" dirty="0">
                <a:solidFill>
                  <a:srgbClr val="7F211F"/>
                </a:solidFill>
                <a:latin typeface="Noto Sans Thai" pitchFamily="34" charset="0"/>
                <a:ea typeface="Noto Sans Thai" pitchFamily="34" charset="-122"/>
                <a:cs typeface="Noto Sans Thai" pitchFamily="34" charset="-120"/>
              </a:rPr>
              <a:t>บทเรียนสำคัญ</a:t>
            </a:r>
            <a:endParaRPr lang="en-US" sz="1300" dirty="0"/>
          </a:p>
        </p:txBody>
      </p:sp>
      <p:sp>
        <p:nvSpPr>
          <p:cNvPr id="15" name="Text 13"/>
          <p:cNvSpPr/>
          <p:nvPr/>
        </p:nvSpPr>
        <p:spPr>
          <a:xfrm>
            <a:off x="8156448" y="2423160"/>
            <a:ext cx="3118104" cy="2221992"/>
          </a:xfrm>
          <a:prstGeom prst="rect">
            <a:avLst/>
          </a:prstGeom>
          <a:noFill/>
          <a:ln/>
        </p:spPr>
        <p:txBody>
          <a:bodyPr wrap="square" lIns="254" tIns="254" rIns="254" bIns="254" rtlCol="0" anchor="t">
            <a:normAutofit/>
          </a:bodyPr>
          <a:lstStyle/>
          <a:p>
            <a:pPr indent="0" marL="0">
              <a:buNone/>
            </a:pPr>
            <a:r>
              <a:rPr lang="en-US" sz="1080" dirty="0">
                <a:solidFill>
                  <a:srgbClr val="25231F"/>
                </a:solidFill>
                <a:latin typeface="Noto Sans Thai" pitchFamily="34" charset="0"/>
                <a:ea typeface="Noto Sans Thai" pitchFamily="34" charset="-122"/>
                <a:cs typeface="Noto Sans Thai" pitchFamily="34" charset="-120"/>
              </a:rPr>
              <a:t>งานเว็บต้องระบุโครงสร้างหน้าเว็บ เทคโนโลยี และข้อจำกัดการ Deploy</a:t>
            </a:r>
            <a:endParaRPr lang="en-US" sz="1080" dirty="0"/>
          </a:p>
        </p:txBody>
      </p:sp>
      <p:sp>
        <p:nvSpPr>
          <p:cNvPr id="16" name="Shape 14"/>
          <p:cNvSpPr/>
          <p:nvPr/>
        </p:nvSpPr>
        <p:spPr>
          <a:xfrm>
            <a:off x="3977640" y="3337560"/>
            <a:ext cx="594360" cy="0"/>
          </a:xfrm>
          <a:prstGeom prst="line">
            <a:avLst/>
          </a:prstGeom>
          <a:noFill/>
          <a:ln w="25400">
            <a:solidFill>
              <a:srgbClr val="B7332F"/>
            </a:solidFill>
            <a:prstDash val="solid"/>
            <a:tailEnd type="triangle"/>
          </a:ln>
        </p:spPr>
      </p:sp>
      <p:sp>
        <p:nvSpPr>
          <p:cNvPr id="17" name="Shape 15"/>
          <p:cNvSpPr/>
          <p:nvPr/>
        </p:nvSpPr>
        <p:spPr>
          <a:xfrm>
            <a:off x="7589520" y="3337560"/>
            <a:ext cx="594360" cy="0"/>
          </a:xfrm>
          <a:prstGeom prst="line">
            <a:avLst/>
          </a:prstGeom>
          <a:noFill/>
          <a:ln w="25400">
            <a:solidFill>
              <a:srgbClr val="426C43"/>
            </a:solidFill>
            <a:prstDash val="solid"/>
            <a:tailEnd type="triangle"/>
          </a:ln>
        </p:spPr>
      </p:sp>
      <p:sp>
        <p:nvSpPr>
          <p:cNvPr id="18" name="Text 16"/>
          <p:cNvSpPr/>
          <p:nvPr/>
        </p:nvSpPr>
        <p:spPr>
          <a:xfrm>
            <a:off x="502920" y="6510528"/>
            <a:ext cx="4206240" cy="164592"/>
          </a:xfrm>
          <a:prstGeom prst="rect">
            <a:avLst/>
          </a:prstGeom>
          <a:noFill/>
          <a:ln/>
        </p:spPr>
        <p:txBody>
          <a:bodyPr wrap="square" lIns="0" tIns="0" rIns="0" bIns="0" rtlCol="0" anchor="ctr"/>
          <a:lstStyle/>
          <a:p>
            <a:pPr indent="0" marL="0">
              <a:buNone/>
            </a:pPr>
            <a:r>
              <a:rPr lang="en-US" sz="850" dirty="0">
                <a:solidFill>
                  <a:srgbClr val="716B61"/>
                </a:solidFill>
                <a:latin typeface="Noto Sans Thai" pitchFamily="34" charset="0"/>
                <a:ea typeface="Noto Sans Thai" pitchFamily="34" charset="-122"/>
                <a:cs typeface="Noto Sans Thai" pitchFamily="34" charset="-120"/>
              </a:rPr>
              <a:t>Kimchi AI Learning Project</a:t>
            </a:r>
            <a:endParaRPr lang="en-US" sz="850" dirty="0"/>
          </a:p>
        </p:txBody>
      </p:sp>
      <p:sp>
        <p:nvSpPr>
          <p:cNvPr id="19" name="Text 17"/>
          <p:cNvSpPr/>
          <p:nvPr/>
        </p:nvSpPr>
        <p:spPr>
          <a:xfrm>
            <a:off x="4754880" y="6510528"/>
            <a:ext cx="5120640" cy="164592"/>
          </a:xfrm>
          <a:prstGeom prst="rect">
            <a:avLst/>
          </a:prstGeom>
          <a:noFill/>
          <a:ln/>
        </p:spPr>
        <p:txBody>
          <a:bodyPr wrap="square" lIns="0" tIns="0" rIns="0" bIns="0" rtlCol="0" anchor="ctr"/>
          <a:lstStyle/>
          <a:p>
            <a:pPr algn="ctr" indent="0" marL="0">
              <a:buNone/>
            </a:pPr>
            <a:r>
              <a:rPr lang="en-US" sz="850" dirty="0">
                <a:solidFill>
                  <a:srgbClr val="716B61"/>
                </a:solidFill>
                <a:latin typeface="Noto Sans Thai" pitchFamily="34" charset="0"/>
                <a:ea typeface="Noto Sans Thai" pitchFamily="34" charset="-122"/>
                <a:cs typeface="Noto Sans Thai" pitchFamily="34" charset="-120"/>
              </a:rPr>
              <a:t>Website on GitHub Pages</a:t>
            </a:r>
            <a:endParaRPr lang="en-US" sz="850" dirty="0"/>
          </a:p>
        </p:txBody>
      </p:sp>
      <p:sp>
        <p:nvSpPr>
          <p:cNvPr id="20" name="Text 18"/>
          <p:cNvSpPr/>
          <p:nvPr/>
        </p:nvSpPr>
        <p:spPr>
          <a:xfrm>
            <a:off x="11155680" y="6446520"/>
            <a:ext cx="502920" cy="256032"/>
          </a:xfrm>
          <a:prstGeom prst="rect">
            <a:avLst/>
          </a:prstGeom>
          <a:noFill/>
          <a:ln/>
        </p:spPr>
        <p:txBody>
          <a:bodyPr wrap="square" lIns="0" tIns="0" rIns="0" bIns="0" rtlCol="0" anchor="ctr"/>
          <a:lstStyle/>
          <a:p>
            <a:pPr algn="r" indent="0" marL="0">
              <a:buNone/>
            </a:pPr>
            <a:r>
              <a:rPr lang="en-US" sz="1000" b="1" dirty="0">
                <a:solidFill>
                  <a:srgbClr val="B7332F"/>
                </a:solidFill>
                <a:latin typeface="Noto Sans Thai" pitchFamily="34" charset="0"/>
                <a:ea typeface="Noto Sans Thai" pitchFamily="34" charset="-122"/>
                <a:cs typeface="Noto Sans Thai" pitchFamily="34" charset="-120"/>
              </a:rPr>
              <a:t>36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Tha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Tha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Kimchi AI Learning Project</dc:title>
  <dc:subject>Kimchi AI Learning Project homework slides</dc:subject>
  <dc:creator>OpenAI</dc:creator>
  <cp:lastModifiedBy>OpenAI</cp:lastModifiedBy>
  <cp:revision>1</cp:revision>
  <dcterms:created xsi:type="dcterms:W3CDTF">2026-09-06T08:55:49Z</dcterms:created>
  <dcterms:modified xsi:type="dcterms:W3CDTF">2026-09-06T08:55:49Z</dcterms:modified>
</cp:coreProperties>
</file>